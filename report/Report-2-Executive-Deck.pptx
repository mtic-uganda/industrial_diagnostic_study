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MINISTRY OF TRADE, INDUSTRY AND COOPERATIVES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8F7"/>
                </a:solidFill>
              </a:rPr>
              <a:t>Uganda-UNIDO Programme for Country Partnership (PCP)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Industrial Diagnostic Study — Report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8F7"/>
                </a:solidFill>
              </a:rPr>
              <a:t>Textiles · Pharma · Petrochemicals &amp; Fertilizers · Sugar · Plastics · 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1.  Textiles &amp; Garments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2.  Pharmaceuticals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3.  Petrochemicals &amp; Fertilizers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828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4.  Sugar &amp; Confectionery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30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5.  Plastics &amp; Packaging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6.  Cement &amp; Building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Solomon Ariho  |  27 May 2026  |  Draft — for TWG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•  The core finding across the six value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Prioritized products for each of the six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Cross-cutting priority actions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Investment portfolio and roadmap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core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Uganda under-processes raw inputs and imports the finished product.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•  Textiles: ~90% of cotton lint exported raw; only two integrated mills.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Pharma: ~90% of medicines imported (USD 263.4m) — but a proven GMP base.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Fertilizer: Sukulu plant stalled; ~1m t needed, ~50,000 t imported.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Sugar: structural surplus — the value is downstream (industrial sugar, ethanol).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Plastics &amp; cement: net importer of packaging and clinker (USD 162m).  (ITC TradeMap)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Textiles &amp; Garments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Garments &amp; apparel (incl. institutional uniforms)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Yarn &amp; fabric (spinning/weaving)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(lint)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Cottonseed oil &amp; cake (by-products)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Organic/traceable cotton (premium export)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Commodity textile export to global market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Pharmaceuticals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Essential generics (ARVs, antimalarials, anti-TB, NCD)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(QCIL base)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Medium–High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Medical consumables &amp; basic formulations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Local API / excipient (selective)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(supply security)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(strategic, longer-term)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Biologics / vaccines (fill-finish)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Full API synthesis at scale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 (for now)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Petrochemicals &amp; Fertilizers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Fertilizer (blending + phosphate revival)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 (unmet demand)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 (phosphate rock)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Sulphuric acid &amp; industrial chemicals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(paired with fertilizer)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Petrochemicals / polymers (Kabalega park)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(post-2029)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(future feedstock)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 now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(medium-term, sequenced)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Large-scale refined-product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 (post-refinery)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Greenfield API/specialty chemicals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Sugar &amp; Confectionery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Industrial / refined sugar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38m imports)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(surplus cane)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Ethanol (fuel &amp; potable/industrial)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(blending, regional)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(molasses)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Co-generation (bagasse to grid)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Medium–High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(bagasse)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Energy benefit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Confectionery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Raw brown-sugar capacity expansion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 (surplus)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Plastics &amp; Packaging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Industrial &amp; food/beverage packaging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37m+)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Plastics recycling (flake/pellet)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(circularity)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(feedstock)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Agricultural &amp; cement packaging (sacks, films)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Single-use carrier bags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Declining (ban)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Domestic virgin-resin production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 now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 (sequence to refinery, Ch.6)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Cement &amp; Building Materials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Clinker production (close the import gap)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162m imports)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(limestone)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Finished cement (defend &amp; grow regional export)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86m export)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Higher-value building materials (fibre-cement, tiles, precast)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Medium–High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Specialty/white 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Cross-cutting priority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1.  Favour domestic value addition over raw export / finished import.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2.  Enforce UNBS &amp; NDA standards (highest-leverage quick win).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3.  Anchor demand via public procurement (medicines, uniforms, cement, fertilizer).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4.  Parks, utilities, effluent &amp; circular-economy infrastructure.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5.  Long-term industrial-finance facility.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6.  Cross-sector skills compact.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7.  Sequence the petrochemical park and its downstream linkages.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Investment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Indicative portfolio (figures indicative, pending feasibility):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•  ~USD 0.6–1.3bn over five years (excl. the ~USD 4bn investor-led refinery).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Highest-certainty: sugar downstream, plastics recycling, cement clinker, GMP generics.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Refinery + Kabalega petrochemical park = medium-term feedstock anchor (~2029–30).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Majority private-led; public/PPP support in standards, skills, finance, procurement.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8F7"/>
                </a:solidFill>
              </a:rPr>
              <a:t>Endorse the prioritized products, approve the seven cross-cutting actions, and mandate the investment roadmap for partner mobilization.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