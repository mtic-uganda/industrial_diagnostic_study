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257" r:id="rId4"/>
    <p:sldId id="258" r:id="rId5"/>
    <p:sldId id="259" r:id="rId6"/>
    <p:sldId id="260" r:id="rId7"/>
    <p:sldId id="268" r:id="rId8"/>
    <p:sldId id="261" r:id="rId9"/>
    <p:sldId id="263" r:id="rId10"/>
    <p:sldId id="264" r:id="rId11"/>
    <p:sldId id="272" r:id="rId12"/>
    <p:sldId id="265" r:id="rId13"/>
    <p:sldId id="266"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FFF27BD-24AD-4439-D0E8-9867855D8F7A}" name="Antoinette Tesha" initials="AT" userId="S::Antoinette.Tesha@gatsbyafrica.org.uk::af3a28a1-b575-444d-8392-8a815a5ad1ec" providerId="AD"/>
  <p188:author id="{873C48D5-06F8-8CB1-9EAD-DF45AFC3D25C}" name="Antoinette Tesha" initials="AT" userId="Antoinette Tesha"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973FA6-540C-4A28-915C-928729C9132A}" type="doc">
      <dgm:prSet loTypeId="urn:microsoft.com/office/officeart/2005/8/layout/vList2" loCatId="list" qsTypeId="urn:microsoft.com/office/officeart/2005/8/quickstyle/simple5" qsCatId="simple" csTypeId="urn:microsoft.com/office/officeart/2005/8/colors/accent2_2" csCatId="accent2" phldr="1"/>
      <dgm:spPr/>
      <dgm:t>
        <a:bodyPr/>
        <a:lstStyle/>
        <a:p>
          <a:endParaRPr lang="en-US"/>
        </a:p>
      </dgm:t>
    </dgm:pt>
    <dgm:pt modelId="{AEEF4A39-A992-4953-9833-9F6173D35989}">
      <dgm:prSet custT="1"/>
      <dgm:spPr/>
      <dgm:t>
        <a:bodyPr/>
        <a:lstStyle/>
        <a:p>
          <a:r>
            <a:rPr lang="en-US" sz="1600" b="1" dirty="0"/>
            <a:t>The initial thought was to re-establish a minimum of 25k spindles to produce greige yarn. Having had the site remeasured, we can plan for 36480 spindles to fit in the existing space. To feed this quantity of spindles would require approximately 61000 bales of cotton/year</a:t>
          </a:r>
          <a:r>
            <a:rPr lang="en-US" sz="1600" dirty="0"/>
            <a:t>.</a:t>
          </a:r>
        </a:p>
      </dgm:t>
    </dgm:pt>
    <dgm:pt modelId="{9018B8C5-FA28-48E0-850E-87F04057A549}" type="parTrans" cxnId="{0A5A31DE-B692-4ED4-9E80-238DB8AFAF73}">
      <dgm:prSet/>
      <dgm:spPr/>
      <dgm:t>
        <a:bodyPr/>
        <a:lstStyle/>
        <a:p>
          <a:endParaRPr lang="en-US"/>
        </a:p>
      </dgm:t>
    </dgm:pt>
    <dgm:pt modelId="{AAA77C7B-4253-4647-9D43-3B48A3775A43}" type="sibTrans" cxnId="{0A5A31DE-B692-4ED4-9E80-238DB8AFAF73}">
      <dgm:prSet/>
      <dgm:spPr/>
      <dgm:t>
        <a:bodyPr/>
        <a:lstStyle/>
        <a:p>
          <a:endParaRPr lang="en-US"/>
        </a:p>
      </dgm:t>
    </dgm:pt>
    <dgm:pt modelId="{9DCC427D-6734-43F6-8D64-B42C75C3073F}">
      <dgm:prSet custT="1"/>
      <dgm:spPr/>
      <dgm:t>
        <a:bodyPr/>
        <a:lstStyle/>
        <a:p>
          <a:r>
            <a:rPr lang="en-US" sz="1600" b="1" dirty="0"/>
            <a:t>61000 bales @185kg/bale = 11.285k tonnes/year</a:t>
          </a:r>
          <a:r>
            <a:rPr lang="en-US" sz="1600" dirty="0"/>
            <a:t>.</a:t>
          </a:r>
        </a:p>
      </dgm:t>
    </dgm:pt>
    <dgm:pt modelId="{EEB2665B-FEA2-48F1-806A-A77217BA7FA2}" type="parTrans" cxnId="{3A48052C-5235-478D-81DF-19F11282D533}">
      <dgm:prSet/>
      <dgm:spPr/>
      <dgm:t>
        <a:bodyPr/>
        <a:lstStyle/>
        <a:p>
          <a:endParaRPr lang="en-US"/>
        </a:p>
      </dgm:t>
    </dgm:pt>
    <dgm:pt modelId="{01BC941B-9B57-4FBC-8BC6-4CE8E52F66FC}" type="sibTrans" cxnId="{3A48052C-5235-478D-81DF-19F11282D533}">
      <dgm:prSet/>
      <dgm:spPr/>
      <dgm:t>
        <a:bodyPr/>
        <a:lstStyle/>
        <a:p>
          <a:endParaRPr lang="en-US"/>
        </a:p>
      </dgm:t>
    </dgm:pt>
    <dgm:pt modelId="{04C5D9EA-2835-48EE-B46D-C2EA396D608E}">
      <dgm:prSet custT="1"/>
      <dgm:spPr/>
      <dgm:t>
        <a:bodyPr/>
        <a:lstStyle/>
        <a:p>
          <a:r>
            <a:rPr lang="en-US" sz="1600" b="1" dirty="0"/>
            <a:t>11.285k tonnes cotton = 8.125k tonnes of yarn/year (28% wastage)  </a:t>
          </a:r>
        </a:p>
      </dgm:t>
    </dgm:pt>
    <dgm:pt modelId="{FEA90E94-37B5-497D-9195-D4307674B1DB}" type="parTrans" cxnId="{E6143769-A73C-4E9E-B28F-7349FDEFC9DF}">
      <dgm:prSet/>
      <dgm:spPr/>
      <dgm:t>
        <a:bodyPr/>
        <a:lstStyle/>
        <a:p>
          <a:endParaRPr lang="en-US"/>
        </a:p>
      </dgm:t>
    </dgm:pt>
    <dgm:pt modelId="{757F1BD3-9B51-4E15-B494-27D4FCE51D83}" type="sibTrans" cxnId="{E6143769-A73C-4E9E-B28F-7349FDEFC9DF}">
      <dgm:prSet/>
      <dgm:spPr/>
      <dgm:t>
        <a:bodyPr/>
        <a:lstStyle/>
        <a:p>
          <a:endParaRPr lang="en-US"/>
        </a:p>
      </dgm:t>
    </dgm:pt>
    <dgm:pt modelId="{1B949D74-103A-470D-B1DF-57C51EC9C23E}" type="pres">
      <dgm:prSet presAssocID="{6A973FA6-540C-4A28-915C-928729C9132A}" presName="linear" presStyleCnt="0">
        <dgm:presLayoutVars>
          <dgm:animLvl val="lvl"/>
          <dgm:resizeHandles val="exact"/>
        </dgm:presLayoutVars>
      </dgm:prSet>
      <dgm:spPr/>
    </dgm:pt>
    <dgm:pt modelId="{604F9FEC-40A1-484A-B141-C0735B2942D3}" type="pres">
      <dgm:prSet presAssocID="{AEEF4A39-A992-4953-9833-9F6173D35989}" presName="parentText" presStyleLbl="node1" presStyleIdx="0" presStyleCnt="3" custScaleY="183310">
        <dgm:presLayoutVars>
          <dgm:chMax val="0"/>
          <dgm:bulletEnabled val="1"/>
        </dgm:presLayoutVars>
      </dgm:prSet>
      <dgm:spPr/>
    </dgm:pt>
    <dgm:pt modelId="{6CA13EE2-2E08-420D-B43A-026FA9539236}" type="pres">
      <dgm:prSet presAssocID="{AAA77C7B-4253-4647-9D43-3B48A3775A43}" presName="spacer" presStyleCnt="0"/>
      <dgm:spPr/>
    </dgm:pt>
    <dgm:pt modelId="{E18FEBF8-22C5-4BF0-9CAE-62A5864A51ED}" type="pres">
      <dgm:prSet presAssocID="{9DCC427D-6734-43F6-8D64-B42C75C3073F}" presName="parentText" presStyleLbl="node1" presStyleIdx="1" presStyleCnt="3">
        <dgm:presLayoutVars>
          <dgm:chMax val="0"/>
          <dgm:bulletEnabled val="1"/>
        </dgm:presLayoutVars>
      </dgm:prSet>
      <dgm:spPr/>
    </dgm:pt>
    <dgm:pt modelId="{AE5F3012-36CB-4A09-858F-842631E12E66}" type="pres">
      <dgm:prSet presAssocID="{01BC941B-9B57-4FBC-8BC6-4CE8E52F66FC}" presName="spacer" presStyleCnt="0"/>
      <dgm:spPr/>
    </dgm:pt>
    <dgm:pt modelId="{989057DC-6D08-4CAB-8AD5-E23BCCCCE945}" type="pres">
      <dgm:prSet presAssocID="{04C5D9EA-2835-48EE-B46D-C2EA396D608E}" presName="parentText" presStyleLbl="node1" presStyleIdx="2" presStyleCnt="3">
        <dgm:presLayoutVars>
          <dgm:chMax val="0"/>
          <dgm:bulletEnabled val="1"/>
        </dgm:presLayoutVars>
      </dgm:prSet>
      <dgm:spPr/>
    </dgm:pt>
  </dgm:ptLst>
  <dgm:cxnLst>
    <dgm:cxn modelId="{3A48052C-5235-478D-81DF-19F11282D533}" srcId="{6A973FA6-540C-4A28-915C-928729C9132A}" destId="{9DCC427D-6734-43F6-8D64-B42C75C3073F}" srcOrd="1" destOrd="0" parTransId="{EEB2665B-FEA2-48F1-806A-A77217BA7FA2}" sibTransId="{01BC941B-9B57-4FBC-8BC6-4CE8E52F66FC}"/>
    <dgm:cxn modelId="{E6143769-A73C-4E9E-B28F-7349FDEFC9DF}" srcId="{6A973FA6-540C-4A28-915C-928729C9132A}" destId="{04C5D9EA-2835-48EE-B46D-C2EA396D608E}" srcOrd="2" destOrd="0" parTransId="{FEA90E94-37B5-497D-9195-D4307674B1DB}" sibTransId="{757F1BD3-9B51-4E15-B494-27D4FCE51D83}"/>
    <dgm:cxn modelId="{31EF1278-B0D9-4C9E-92B9-D84781520DED}" type="presOf" srcId="{9DCC427D-6734-43F6-8D64-B42C75C3073F}" destId="{E18FEBF8-22C5-4BF0-9CAE-62A5864A51ED}" srcOrd="0" destOrd="0" presId="urn:microsoft.com/office/officeart/2005/8/layout/vList2"/>
    <dgm:cxn modelId="{2187EB79-9BAA-413E-AD5E-28F238464378}" type="presOf" srcId="{04C5D9EA-2835-48EE-B46D-C2EA396D608E}" destId="{989057DC-6D08-4CAB-8AD5-E23BCCCCE945}" srcOrd="0" destOrd="0" presId="urn:microsoft.com/office/officeart/2005/8/layout/vList2"/>
    <dgm:cxn modelId="{EE2C79D5-4D76-421B-8F29-16E050509E02}" type="presOf" srcId="{6A973FA6-540C-4A28-915C-928729C9132A}" destId="{1B949D74-103A-470D-B1DF-57C51EC9C23E}" srcOrd="0" destOrd="0" presId="urn:microsoft.com/office/officeart/2005/8/layout/vList2"/>
    <dgm:cxn modelId="{0A5A31DE-B692-4ED4-9E80-238DB8AFAF73}" srcId="{6A973FA6-540C-4A28-915C-928729C9132A}" destId="{AEEF4A39-A992-4953-9833-9F6173D35989}" srcOrd="0" destOrd="0" parTransId="{9018B8C5-FA28-48E0-850E-87F04057A549}" sibTransId="{AAA77C7B-4253-4647-9D43-3B48A3775A43}"/>
    <dgm:cxn modelId="{86F57CEF-3ED2-49E8-99E0-9363DED2D43C}" type="presOf" srcId="{AEEF4A39-A992-4953-9833-9F6173D35989}" destId="{604F9FEC-40A1-484A-B141-C0735B2942D3}" srcOrd="0" destOrd="0" presId="urn:microsoft.com/office/officeart/2005/8/layout/vList2"/>
    <dgm:cxn modelId="{1D3EA873-EB2E-49DD-8585-F1D0A865E1A8}" type="presParOf" srcId="{1B949D74-103A-470D-B1DF-57C51EC9C23E}" destId="{604F9FEC-40A1-484A-B141-C0735B2942D3}" srcOrd="0" destOrd="0" presId="urn:microsoft.com/office/officeart/2005/8/layout/vList2"/>
    <dgm:cxn modelId="{F92A6A98-F91D-4388-AA3D-56D0E9EA714F}" type="presParOf" srcId="{1B949D74-103A-470D-B1DF-57C51EC9C23E}" destId="{6CA13EE2-2E08-420D-B43A-026FA9539236}" srcOrd="1" destOrd="0" presId="urn:microsoft.com/office/officeart/2005/8/layout/vList2"/>
    <dgm:cxn modelId="{201C92D7-0306-4637-B940-B7C5BA59FD8F}" type="presParOf" srcId="{1B949D74-103A-470D-B1DF-57C51EC9C23E}" destId="{E18FEBF8-22C5-4BF0-9CAE-62A5864A51ED}" srcOrd="2" destOrd="0" presId="urn:microsoft.com/office/officeart/2005/8/layout/vList2"/>
    <dgm:cxn modelId="{3BE61A0E-2ADE-42E9-B604-6D49C929746F}" type="presParOf" srcId="{1B949D74-103A-470D-B1DF-57C51EC9C23E}" destId="{AE5F3012-36CB-4A09-858F-842631E12E66}" srcOrd="3" destOrd="0" presId="urn:microsoft.com/office/officeart/2005/8/layout/vList2"/>
    <dgm:cxn modelId="{10D2204F-5D6E-4D9A-BD0A-E3AC36ED01C2}" type="presParOf" srcId="{1B949D74-103A-470D-B1DF-57C51EC9C23E}" destId="{989057DC-6D08-4CAB-8AD5-E23BCCCCE945}" srcOrd="4"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FCCD53B-E76E-4E27-A49A-C679F45F1A7A}"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3D15C363-2812-4E16-8C5E-A9702ACF15A5}">
      <dgm:prSet custT="1"/>
      <dgm:spPr/>
      <dgm:t>
        <a:bodyPr/>
        <a:lstStyle/>
        <a:p>
          <a:r>
            <a:rPr lang="en-US" sz="2000" dirty="0">
              <a:solidFill>
                <a:schemeClr val="tx1"/>
              </a:solidFill>
            </a:rPr>
            <a:t>Prescreening of operators is always a welcome service. This should include:</a:t>
          </a:r>
        </a:p>
        <a:p>
          <a:r>
            <a:rPr lang="en-US" sz="2000" dirty="0">
              <a:solidFill>
                <a:schemeClr val="tx1"/>
              </a:solidFill>
            </a:rPr>
            <a:t>Dexterity/ Eyesight/color blindness/</a:t>
          </a:r>
        </a:p>
        <a:p>
          <a:r>
            <a:rPr lang="en-US" sz="2000" dirty="0">
              <a:solidFill>
                <a:schemeClr val="tx1"/>
              </a:solidFill>
            </a:rPr>
            <a:t>Birth certs/ ID cards/ police record/ vaccinations etc. etc.</a:t>
          </a:r>
        </a:p>
      </dgm:t>
    </dgm:pt>
    <dgm:pt modelId="{2223DED0-12FD-4444-AA55-1F837A8EF5E3}" type="parTrans" cxnId="{8821A638-F44C-4CA1-8437-7F7C0251C61D}">
      <dgm:prSet/>
      <dgm:spPr/>
      <dgm:t>
        <a:bodyPr/>
        <a:lstStyle/>
        <a:p>
          <a:endParaRPr lang="en-US"/>
        </a:p>
      </dgm:t>
    </dgm:pt>
    <dgm:pt modelId="{2A5B9334-5BBC-42E4-8675-62C986FD9EEE}" type="sibTrans" cxnId="{8821A638-F44C-4CA1-8437-7F7C0251C61D}">
      <dgm:prSet/>
      <dgm:spPr/>
      <dgm:t>
        <a:bodyPr/>
        <a:lstStyle/>
        <a:p>
          <a:endParaRPr lang="en-US"/>
        </a:p>
      </dgm:t>
    </dgm:pt>
    <dgm:pt modelId="{FFA460C2-C869-414A-990D-E5F1503ED1E6}">
      <dgm:prSet custT="1"/>
      <dgm:spPr>
        <a:ln>
          <a:noFill/>
        </a:ln>
      </dgm:spPr>
      <dgm:t>
        <a:bodyPr/>
        <a:lstStyle/>
        <a:p>
          <a:r>
            <a:rPr lang="en-US" sz="2000" dirty="0">
              <a:solidFill>
                <a:schemeClr val="tx1"/>
              </a:solidFill>
            </a:rPr>
            <a:t>Industry best practice shows that training programs works best when training is conducted within or alongside a best-in-class factory. Considering the diversity of apparel products, teaching operators to stitch and construct a garment is best left to the factories. In the factories, the operators can be taught to sew, stitching the correct products, with the correct fabrics, using the correct machinery</a:t>
          </a:r>
        </a:p>
      </dgm:t>
    </dgm:pt>
    <dgm:pt modelId="{04D36653-D2FE-4D9E-AAE9-C05C997E8DA1}" type="parTrans" cxnId="{BCAFE4E4-CCC9-4960-9D10-4E391FA074F0}">
      <dgm:prSet/>
      <dgm:spPr/>
      <dgm:t>
        <a:bodyPr/>
        <a:lstStyle/>
        <a:p>
          <a:endParaRPr lang="en-US"/>
        </a:p>
      </dgm:t>
    </dgm:pt>
    <dgm:pt modelId="{F974D450-662C-4C82-BE7F-41A36F5128B7}" type="sibTrans" cxnId="{BCAFE4E4-CCC9-4960-9D10-4E391FA074F0}">
      <dgm:prSet/>
      <dgm:spPr/>
      <dgm:t>
        <a:bodyPr/>
        <a:lstStyle/>
        <a:p>
          <a:endParaRPr lang="en-US"/>
        </a:p>
      </dgm:t>
    </dgm:pt>
    <dgm:pt modelId="{E419D2EA-B9A4-48DA-9063-07C97E6B541E}" type="pres">
      <dgm:prSet presAssocID="{8FCCD53B-E76E-4E27-A49A-C679F45F1A7A}" presName="vert0" presStyleCnt="0">
        <dgm:presLayoutVars>
          <dgm:dir/>
          <dgm:animOne val="branch"/>
          <dgm:animLvl val="lvl"/>
        </dgm:presLayoutVars>
      </dgm:prSet>
      <dgm:spPr/>
    </dgm:pt>
    <dgm:pt modelId="{11457F3B-7F71-4C8A-B59C-C2A58D04DBF7}" type="pres">
      <dgm:prSet presAssocID="{FFA460C2-C869-414A-990D-E5F1503ED1E6}" presName="thickLine" presStyleLbl="alignNode1" presStyleIdx="0" presStyleCnt="2"/>
      <dgm:spPr/>
    </dgm:pt>
    <dgm:pt modelId="{34974CFB-77E0-4708-9C66-2F27119D4391}" type="pres">
      <dgm:prSet presAssocID="{FFA460C2-C869-414A-990D-E5F1503ED1E6}" presName="horz1" presStyleCnt="0"/>
      <dgm:spPr/>
    </dgm:pt>
    <dgm:pt modelId="{45983721-72EC-44E3-81E3-12E822F04B54}" type="pres">
      <dgm:prSet presAssocID="{FFA460C2-C869-414A-990D-E5F1503ED1E6}" presName="tx1" presStyleLbl="revTx" presStyleIdx="0" presStyleCnt="2" custScaleY="109278"/>
      <dgm:spPr/>
    </dgm:pt>
    <dgm:pt modelId="{30679C5D-4286-4FF4-BD9B-41D29ECE3EB7}" type="pres">
      <dgm:prSet presAssocID="{FFA460C2-C869-414A-990D-E5F1503ED1E6}" presName="vert1" presStyleCnt="0"/>
      <dgm:spPr/>
    </dgm:pt>
    <dgm:pt modelId="{73A7B0FF-CCE5-4D30-AC76-8BF160B8E3C1}" type="pres">
      <dgm:prSet presAssocID="{3D15C363-2812-4E16-8C5E-A9702ACF15A5}" presName="thickLine" presStyleLbl="alignNode1" presStyleIdx="1" presStyleCnt="2"/>
      <dgm:spPr/>
    </dgm:pt>
    <dgm:pt modelId="{0A595FE4-4C52-429F-A472-A4DDC12CB371}" type="pres">
      <dgm:prSet presAssocID="{3D15C363-2812-4E16-8C5E-A9702ACF15A5}" presName="horz1" presStyleCnt="0"/>
      <dgm:spPr/>
    </dgm:pt>
    <dgm:pt modelId="{F245F66D-5566-46D8-AA6D-F2FA09490076}" type="pres">
      <dgm:prSet presAssocID="{3D15C363-2812-4E16-8C5E-A9702ACF15A5}" presName="tx1" presStyleLbl="revTx" presStyleIdx="1" presStyleCnt="2"/>
      <dgm:spPr/>
    </dgm:pt>
    <dgm:pt modelId="{7AE5454D-D346-4F12-8FF1-40CE34E24327}" type="pres">
      <dgm:prSet presAssocID="{3D15C363-2812-4E16-8C5E-A9702ACF15A5}" presName="vert1" presStyleCnt="0"/>
      <dgm:spPr/>
    </dgm:pt>
  </dgm:ptLst>
  <dgm:cxnLst>
    <dgm:cxn modelId="{8821A638-F44C-4CA1-8437-7F7C0251C61D}" srcId="{8FCCD53B-E76E-4E27-A49A-C679F45F1A7A}" destId="{3D15C363-2812-4E16-8C5E-A9702ACF15A5}" srcOrd="1" destOrd="0" parTransId="{2223DED0-12FD-4444-AA55-1F837A8EF5E3}" sibTransId="{2A5B9334-5BBC-42E4-8675-62C986FD9EEE}"/>
    <dgm:cxn modelId="{3ED54548-9BE8-4125-9A0E-6DDC960C7CD8}" type="presOf" srcId="{FFA460C2-C869-414A-990D-E5F1503ED1E6}" destId="{45983721-72EC-44E3-81E3-12E822F04B54}" srcOrd="0" destOrd="0" presId="urn:microsoft.com/office/officeart/2008/layout/LinedList"/>
    <dgm:cxn modelId="{18F0454F-EEC7-4901-A7A9-1DCB985C2E36}" type="presOf" srcId="{3D15C363-2812-4E16-8C5E-A9702ACF15A5}" destId="{F245F66D-5566-46D8-AA6D-F2FA09490076}" srcOrd="0" destOrd="0" presId="urn:microsoft.com/office/officeart/2008/layout/LinedList"/>
    <dgm:cxn modelId="{030B9FBC-9AE8-4AD9-A1E5-7D7337EFB00D}" type="presOf" srcId="{8FCCD53B-E76E-4E27-A49A-C679F45F1A7A}" destId="{E419D2EA-B9A4-48DA-9063-07C97E6B541E}" srcOrd="0" destOrd="0" presId="urn:microsoft.com/office/officeart/2008/layout/LinedList"/>
    <dgm:cxn modelId="{BCAFE4E4-CCC9-4960-9D10-4E391FA074F0}" srcId="{8FCCD53B-E76E-4E27-A49A-C679F45F1A7A}" destId="{FFA460C2-C869-414A-990D-E5F1503ED1E6}" srcOrd="0" destOrd="0" parTransId="{04D36653-D2FE-4D9E-AAE9-C05C997E8DA1}" sibTransId="{F974D450-662C-4C82-BE7F-41A36F5128B7}"/>
    <dgm:cxn modelId="{F9C3254E-D646-4A67-886D-81C0DDD304D2}" type="presParOf" srcId="{E419D2EA-B9A4-48DA-9063-07C97E6B541E}" destId="{11457F3B-7F71-4C8A-B59C-C2A58D04DBF7}" srcOrd="0" destOrd="0" presId="urn:microsoft.com/office/officeart/2008/layout/LinedList"/>
    <dgm:cxn modelId="{8AB124A6-6D58-4764-A138-E4D252C7B3E9}" type="presParOf" srcId="{E419D2EA-B9A4-48DA-9063-07C97E6B541E}" destId="{34974CFB-77E0-4708-9C66-2F27119D4391}" srcOrd="1" destOrd="0" presId="urn:microsoft.com/office/officeart/2008/layout/LinedList"/>
    <dgm:cxn modelId="{FF52BE76-752D-497A-B220-7D7DFD3F9D71}" type="presParOf" srcId="{34974CFB-77E0-4708-9C66-2F27119D4391}" destId="{45983721-72EC-44E3-81E3-12E822F04B54}" srcOrd="0" destOrd="0" presId="urn:microsoft.com/office/officeart/2008/layout/LinedList"/>
    <dgm:cxn modelId="{4A374508-DE34-4F20-BC4B-6C5730BB288C}" type="presParOf" srcId="{34974CFB-77E0-4708-9C66-2F27119D4391}" destId="{30679C5D-4286-4FF4-BD9B-41D29ECE3EB7}" srcOrd="1" destOrd="0" presId="urn:microsoft.com/office/officeart/2008/layout/LinedList"/>
    <dgm:cxn modelId="{6BB5FB68-F027-4760-9D95-A23958647939}" type="presParOf" srcId="{E419D2EA-B9A4-48DA-9063-07C97E6B541E}" destId="{73A7B0FF-CCE5-4D30-AC76-8BF160B8E3C1}" srcOrd="2" destOrd="0" presId="urn:microsoft.com/office/officeart/2008/layout/LinedList"/>
    <dgm:cxn modelId="{B89234B9-C58A-4143-A0F7-8F13FC18939A}" type="presParOf" srcId="{E419D2EA-B9A4-48DA-9063-07C97E6B541E}" destId="{0A595FE4-4C52-429F-A472-A4DDC12CB371}" srcOrd="3" destOrd="0" presId="urn:microsoft.com/office/officeart/2008/layout/LinedList"/>
    <dgm:cxn modelId="{F21EB1D9-5F42-4C03-95DD-02AB55FA8E70}" type="presParOf" srcId="{0A595FE4-4C52-429F-A472-A4DDC12CB371}" destId="{F245F66D-5566-46D8-AA6D-F2FA09490076}" srcOrd="0" destOrd="0" presId="urn:microsoft.com/office/officeart/2008/layout/LinedList"/>
    <dgm:cxn modelId="{E2CAE805-04D8-4B45-B0EA-4435CD2E2D2E}" type="presParOf" srcId="{0A595FE4-4C52-429F-A472-A4DDC12CB371}" destId="{7AE5454D-D346-4F12-8FF1-40CE34E24327}" srcOrd="1" destOrd="0" presId="urn:microsoft.com/office/officeart/2008/layout/Line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4F9FEC-40A1-484A-B141-C0735B2942D3}">
      <dsp:nvSpPr>
        <dsp:cNvPr id="0" name=""/>
        <dsp:cNvSpPr/>
      </dsp:nvSpPr>
      <dsp:spPr>
        <a:xfrm>
          <a:off x="0" y="1834"/>
          <a:ext cx="5314543" cy="160397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The initial thought was to re-establish a minimum of 25k spindles to produce greige yarn. Having had the site remeasured, we can plan for 36480 spindles to fit in the existing space. To feed this quantity of spindles would require approximately 61000 bales of cotton/year</a:t>
          </a:r>
          <a:r>
            <a:rPr lang="en-US" sz="1600" kern="1200" dirty="0"/>
            <a:t>.</a:t>
          </a:r>
        </a:p>
      </dsp:txBody>
      <dsp:txXfrm>
        <a:off x="78300" y="80134"/>
        <a:ext cx="5157943" cy="1447379"/>
      </dsp:txXfrm>
    </dsp:sp>
    <dsp:sp modelId="{E18FEBF8-22C5-4BF0-9CAE-62A5864A51ED}">
      <dsp:nvSpPr>
        <dsp:cNvPr id="0" name=""/>
        <dsp:cNvSpPr/>
      </dsp:nvSpPr>
      <dsp:spPr>
        <a:xfrm>
          <a:off x="0" y="1614940"/>
          <a:ext cx="5314543" cy="87500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61000 bales @185kg/bale = 11.285k tonnes/year</a:t>
          </a:r>
          <a:r>
            <a:rPr lang="en-US" sz="1600" kern="1200" dirty="0"/>
            <a:t>.</a:t>
          </a:r>
        </a:p>
      </dsp:txBody>
      <dsp:txXfrm>
        <a:off x="42714" y="1657654"/>
        <a:ext cx="5229115" cy="789581"/>
      </dsp:txXfrm>
    </dsp:sp>
    <dsp:sp modelId="{989057DC-6D08-4CAB-8AD5-E23BCCCCE945}">
      <dsp:nvSpPr>
        <dsp:cNvPr id="0" name=""/>
        <dsp:cNvSpPr/>
      </dsp:nvSpPr>
      <dsp:spPr>
        <a:xfrm>
          <a:off x="0" y="2499076"/>
          <a:ext cx="5314543" cy="87500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11.285k tonnes cotton = 8.125k tonnes of yarn/year (28% wastage)  </a:t>
          </a:r>
        </a:p>
      </dsp:txBody>
      <dsp:txXfrm>
        <a:off x="42714" y="2541790"/>
        <a:ext cx="5229115" cy="7895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457F3B-7F71-4C8A-B59C-C2A58D04DBF7}">
      <dsp:nvSpPr>
        <dsp:cNvPr id="0" name=""/>
        <dsp:cNvSpPr/>
      </dsp:nvSpPr>
      <dsp:spPr>
        <a:xfrm>
          <a:off x="0" y="1703"/>
          <a:ext cx="524812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983721-72EC-44E3-81E3-12E822F04B54}">
      <dsp:nvSpPr>
        <dsp:cNvPr id="0" name=""/>
        <dsp:cNvSpPr/>
      </dsp:nvSpPr>
      <dsp:spPr>
        <a:xfrm>
          <a:off x="0" y="1703"/>
          <a:ext cx="5242998" cy="2888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solidFill>
                <a:schemeClr val="tx1"/>
              </a:solidFill>
            </a:rPr>
            <a:t>Industry best practice shows that training programs works best when training is conducted within or alongside a best-in-class factory. Considering the diversity of apparel products, teaching operators to stitch and construct a garment is best left to the factories. In the factories, the operators can be taught to sew, stitching the correct products, with the correct fabrics, using the correct machinery</a:t>
          </a:r>
        </a:p>
      </dsp:txBody>
      <dsp:txXfrm>
        <a:off x="0" y="1703"/>
        <a:ext cx="5242998" cy="2888001"/>
      </dsp:txXfrm>
    </dsp:sp>
    <dsp:sp modelId="{73A7B0FF-CCE5-4D30-AC76-8BF160B8E3C1}">
      <dsp:nvSpPr>
        <dsp:cNvPr id="0" name=""/>
        <dsp:cNvSpPr/>
      </dsp:nvSpPr>
      <dsp:spPr>
        <a:xfrm>
          <a:off x="0" y="2889705"/>
          <a:ext cx="5248124"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45F66D-5566-46D8-AA6D-F2FA09490076}">
      <dsp:nvSpPr>
        <dsp:cNvPr id="0" name=""/>
        <dsp:cNvSpPr/>
      </dsp:nvSpPr>
      <dsp:spPr>
        <a:xfrm>
          <a:off x="0" y="2889705"/>
          <a:ext cx="5248124" cy="2642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solidFill>
                <a:schemeClr val="tx1"/>
              </a:solidFill>
            </a:rPr>
            <a:t>Prescreening of operators is always a welcome service. This should include:</a:t>
          </a:r>
        </a:p>
        <a:p>
          <a:pPr marL="0" lvl="0" indent="0" algn="l" defTabSz="889000">
            <a:lnSpc>
              <a:spcPct val="90000"/>
            </a:lnSpc>
            <a:spcBef>
              <a:spcPct val="0"/>
            </a:spcBef>
            <a:spcAft>
              <a:spcPct val="35000"/>
            </a:spcAft>
            <a:buNone/>
          </a:pPr>
          <a:r>
            <a:rPr lang="en-US" sz="2000" kern="1200" dirty="0">
              <a:solidFill>
                <a:schemeClr val="tx1"/>
              </a:solidFill>
            </a:rPr>
            <a:t>Dexterity/ Eyesight/color blindness/</a:t>
          </a:r>
        </a:p>
        <a:p>
          <a:pPr marL="0" lvl="0" indent="0" algn="l" defTabSz="889000">
            <a:lnSpc>
              <a:spcPct val="90000"/>
            </a:lnSpc>
            <a:spcBef>
              <a:spcPct val="0"/>
            </a:spcBef>
            <a:spcAft>
              <a:spcPct val="35000"/>
            </a:spcAft>
            <a:buNone/>
          </a:pPr>
          <a:r>
            <a:rPr lang="en-US" sz="2000" kern="1200" dirty="0">
              <a:solidFill>
                <a:schemeClr val="tx1"/>
              </a:solidFill>
            </a:rPr>
            <a:t>Birth certs/ ID cards/ police record/ vaccinations etc. etc.</a:t>
          </a:r>
        </a:p>
      </dsp:txBody>
      <dsp:txXfrm>
        <a:off x="0" y="2889705"/>
        <a:ext cx="5248124" cy="264280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FC515-ED6B-2314-2362-9AC857CCA7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1138DD-8298-10EC-AB9F-39E3D6E3D7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8919C6-AE66-75E0-E38A-B5741DB138D9}"/>
              </a:ext>
            </a:extLst>
          </p:cNvPr>
          <p:cNvSpPr>
            <a:spLocks noGrp="1"/>
          </p:cNvSpPr>
          <p:nvPr>
            <p:ph type="dt" sz="half" idx="10"/>
          </p:nvPr>
        </p:nvSpPr>
        <p:spPr/>
        <p:txBody>
          <a:bodyPr/>
          <a:lstStyle/>
          <a:p>
            <a:fld id="{4D2D66DA-EA5C-4D1E-AA6D-FE59ED33DCFF}" type="datetimeFigureOut">
              <a:rPr lang="en-US" smtClean="0"/>
              <a:t>6/4/2022</a:t>
            </a:fld>
            <a:endParaRPr lang="en-US"/>
          </a:p>
        </p:txBody>
      </p:sp>
      <p:sp>
        <p:nvSpPr>
          <p:cNvPr id="5" name="Footer Placeholder 4">
            <a:extLst>
              <a:ext uri="{FF2B5EF4-FFF2-40B4-BE49-F238E27FC236}">
                <a16:creationId xmlns:a16="http://schemas.microsoft.com/office/drawing/2014/main" id="{ADFEF206-C200-9B31-3B09-8A48086350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226842-111D-5475-F274-10D4216EB379}"/>
              </a:ext>
            </a:extLst>
          </p:cNvPr>
          <p:cNvSpPr>
            <a:spLocks noGrp="1"/>
          </p:cNvSpPr>
          <p:nvPr>
            <p:ph type="sldNum" sz="quarter" idx="12"/>
          </p:nvPr>
        </p:nvSpPr>
        <p:spPr/>
        <p:txBody>
          <a:bodyPr/>
          <a:lstStyle/>
          <a:p>
            <a:fld id="{1E732AB1-D764-4F09-9CE9-CBFF27A8AB65}" type="slidenum">
              <a:rPr lang="en-US" smtClean="0"/>
              <a:t>‹#›</a:t>
            </a:fld>
            <a:endParaRPr lang="en-US"/>
          </a:p>
        </p:txBody>
      </p:sp>
    </p:spTree>
    <p:extLst>
      <p:ext uri="{BB962C8B-B14F-4D97-AF65-F5344CB8AC3E}">
        <p14:creationId xmlns:p14="http://schemas.microsoft.com/office/powerpoint/2010/main" val="2721668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896E8-954A-5C47-0778-E8FC77A13D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597B59-5313-9648-D36E-116E2FDADA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2E7C10-A1A0-90D6-BE83-EE3F7CD46E39}"/>
              </a:ext>
            </a:extLst>
          </p:cNvPr>
          <p:cNvSpPr>
            <a:spLocks noGrp="1"/>
          </p:cNvSpPr>
          <p:nvPr>
            <p:ph type="dt" sz="half" idx="10"/>
          </p:nvPr>
        </p:nvSpPr>
        <p:spPr/>
        <p:txBody>
          <a:bodyPr/>
          <a:lstStyle/>
          <a:p>
            <a:fld id="{4D2D66DA-EA5C-4D1E-AA6D-FE59ED33DCFF}" type="datetimeFigureOut">
              <a:rPr lang="en-US" smtClean="0"/>
              <a:t>6/4/2022</a:t>
            </a:fld>
            <a:endParaRPr lang="en-US"/>
          </a:p>
        </p:txBody>
      </p:sp>
      <p:sp>
        <p:nvSpPr>
          <p:cNvPr id="5" name="Footer Placeholder 4">
            <a:extLst>
              <a:ext uri="{FF2B5EF4-FFF2-40B4-BE49-F238E27FC236}">
                <a16:creationId xmlns:a16="http://schemas.microsoft.com/office/drawing/2014/main" id="{1412A153-A137-EDEB-2841-66A28E2192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87F6E8-7D7B-CFA6-AA81-8DD572B9E566}"/>
              </a:ext>
            </a:extLst>
          </p:cNvPr>
          <p:cNvSpPr>
            <a:spLocks noGrp="1"/>
          </p:cNvSpPr>
          <p:nvPr>
            <p:ph type="sldNum" sz="quarter" idx="12"/>
          </p:nvPr>
        </p:nvSpPr>
        <p:spPr/>
        <p:txBody>
          <a:bodyPr/>
          <a:lstStyle/>
          <a:p>
            <a:fld id="{1E732AB1-D764-4F09-9CE9-CBFF27A8AB65}" type="slidenum">
              <a:rPr lang="en-US" smtClean="0"/>
              <a:t>‹#›</a:t>
            </a:fld>
            <a:endParaRPr lang="en-US"/>
          </a:p>
        </p:txBody>
      </p:sp>
    </p:spTree>
    <p:extLst>
      <p:ext uri="{BB962C8B-B14F-4D97-AF65-F5344CB8AC3E}">
        <p14:creationId xmlns:p14="http://schemas.microsoft.com/office/powerpoint/2010/main" val="3996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D4D63-50C7-C7CD-B777-FBB483DA9E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50F714-FDC9-C544-EFCF-FC6F6A7F0E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69A738-BA83-38E9-C39A-93989C5837A7}"/>
              </a:ext>
            </a:extLst>
          </p:cNvPr>
          <p:cNvSpPr>
            <a:spLocks noGrp="1"/>
          </p:cNvSpPr>
          <p:nvPr>
            <p:ph type="dt" sz="half" idx="10"/>
          </p:nvPr>
        </p:nvSpPr>
        <p:spPr/>
        <p:txBody>
          <a:bodyPr/>
          <a:lstStyle/>
          <a:p>
            <a:fld id="{4D2D66DA-EA5C-4D1E-AA6D-FE59ED33DCFF}" type="datetimeFigureOut">
              <a:rPr lang="en-US" smtClean="0"/>
              <a:t>6/4/2022</a:t>
            </a:fld>
            <a:endParaRPr lang="en-US"/>
          </a:p>
        </p:txBody>
      </p:sp>
      <p:sp>
        <p:nvSpPr>
          <p:cNvPr id="5" name="Footer Placeholder 4">
            <a:extLst>
              <a:ext uri="{FF2B5EF4-FFF2-40B4-BE49-F238E27FC236}">
                <a16:creationId xmlns:a16="http://schemas.microsoft.com/office/drawing/2014/main" id="{CC0DF6C6-41F7-3CD2-DF1A-92084A3C12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C06656-0944-F3E9-F058-CCF050029390}"/>
              </a:ext>
            </a:extLst>
          </p:cNvPr>
          <p:cNvSpPr>
            <a:spLocks noGrp="1"/>
          </p:cNvSpPr>
          <p:nvPr>
            <p:ph type="sldNum" sz="quarter" idx="12"/>
          </p:nvPr>
        </p:nvSpPr>
        <p:spPr/>
        <p:txBody>
          <a:bodyPr/>
          <a:lstStyle/>
          <a:p>
            <a:fld id="{1E732AB1-D764-4F09-9CE9-CBFF27A8AB65}" type="slidenum">
              <a:rPr lang="en-US" smtClean="0"/>
              <a:t>‹#›</a:t>
            </a:fld>
            <a:endParaRPr lang="en-US"/>
          </a:p>
        </p:txBody>
      </p:sp>
    </p:spTree>
    <p:extLst>
      <p:ext uri="{BB962C8B-B14F-4D97-AF65-F5344CB8AC3E}">
        <p14:creationId xmlns:p14="http://schemas.microsoft.com/office/powerpoint/2010/main" val="3668993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76888-38F0-7F00-F9C3-6905210BF9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F52C17-A9E0-4CD2-B982-2998C532E0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3872365-0624-B26A-BCEB-DE58BC8DBA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7F4398E-4731-D17B-92AC-A62B138A053A}"/>
              </a:ext>
            </a:extLst>
          </p:cNvPr>
          <p:cNvSpPr>
            <a:spLocks noGrp="1"/>
          </p:cNvSpPr>
          <p:nvPr>
            <p:ph type="dt" sz="half" idx="10"/>
          </p:nvPr>
        </p:nvSpPr>
        <p:spPr/>
        <p:txBody>
          <a:bodyPr/>
          <a:lstStyle/>
          <a:p>
            <a:fld id="{4D2D66DA-EA5C-4D1E-AA6D-FE59ED33DCFF}" type="datetimeFigureOut">
              <a:rPr lang="en-US" smtClean="0"/>
              <a:t>6/4/2022</a:t>
            </a:fld>
            <a:endParaRPr lang="en-US"/>
          </a:p>
        </p:txBody>
      </p:sp>
      <p:sp>
        <p:nvSpPr>
          <p:cNvPr id="6" name="Footer Placeholder 5">
            <a:extLst>
              <a:ext uri="{FF2B5EF4-FFF2-40B4-BE49-F238E27FC236}">
                <a16:creationId xmlns:a16="http://schemas.microsoft.com/office/drawing/2014/main" id="{03249B7B-880B-1217-084A-6AE0F0B574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5F38FC-E2C5-09D5-EC3C-0B3B157EFA57}"/>
              </a:ext>
            </a:extLst>
          </p:cNvPr>
          <p:cNvSpPr>
            <a:spLocks noGrp="1"/>
          </p:cNvSpPr>
          <p:nvPr>
            <p:ph type="sldNum" sz="quarter" idx="12"/>
          </p:nvPr>
        </p:nvSpPr>
        <p:spPr/>
        <p:txBody>
          <a:bodyPr/>
          <a:lstStyle/>
          <a:p>
            <a:fld id="{1E732AB1-D764-4F09-9CE9-CBFF27A8AB65}" type="slidenum">
              <a:rPr lang="en-US" smtClean="0"/>
              <a:t>‹#›</a:t>
            </a:fld>
            <a:endParaRPr lang="en-US"/>
          </a:p>
        </p:txBody>
      </p:sp>
    </p:spTree>
    <p:extLst>
      <p:ext uri="{BB962C8B-B14F-4D97-AF65-F5344CB8AC3E}">
        <p14:creationId xmlns:p14="http://schemas.microsoft.com/office/powerpoint/2010/main" val="3144285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7EF79-AA6A-9153-A136-C73E1ED65F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1E8A7C-C982-6229-99EA-82C3990A98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9C4656-4189-98D5-175D-1DAED14D50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7706F3C-35CC-65C4-492D-E366F8B0EB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63712D-4AF5-C85C-F4A3-9CE6A68B30E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FD5902-1C37-CE06-6661-D7D95E4D6690}"/>
              </a:ext>
            </a:extLst>
          </p:cNvPr>
          <p:cNvSpPr>
            <a:spLocks noGrp="1"/>
          </p:cNvSpPr>
          <p:nvPr>
            <p:ph type="dt" sz="half" idx="10"/>
          </p:nvPr>
        </p:nvSpPr>
        <p:spPr/>
        <p:txBody>
          <a:bodyPr/>
          <a:lstStyle/>
          <a:p>
            <a:fld id="{4D2D66DA-EA5C-4D1E-AA6D-FE59ED33DCFF}" type="datetimeFigureOut">
              <a:rPr lang="en-US" smtClean="0"/>
              <a:t>6/4/2022</a:t>
            </a:fld>
            <a:endParaRPr lang="en-US"/>
          </a:p>
        </p:txBody>
      </p:sp>
      <p:sp>
        <p:nvSpPr>
          <p:cNvPr id="8" name="Footer Placeholder 7">
            <a:extLst>
              <a:ext uri="{FF2B5EF4-FFF2-40B4-BE49-F238E27FC236}">
                <a16:creationId xmlns:a16="http://schemas.microsoft.com/office/drawing/2014/main" id="{3E63E980-4A13-B198-C8CE-794824E46EB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9D4912D-24FD-F849-4C09-9EE67376B478}"/>
              </a:ext>
            </a:extLst>
          </p:cNvPr>
          <p:cNvSpPr>
            <a:spLocks noGrp="1"/>
          </p:cNvSpPr>
          <p:nvPr>
            <p:ph type="sldNum" sz="quarter" idx="12"/>
          </p:nvPr>
        </p:nvSpPr>
        <p:spPr/>
        <p:txBody>
          <a:bodyPr/>
          <a:lstStyle/>
          <a:p>
            <a:fld id="{1E732AB1-D764-4F09-9CE9-CBFF27A8AB65}" type="slidenum">
              <a:rPr lang="en-US" smtClean="0"/>
              <a:t>‹#›</a:t>
            </a:fld>
            <a:endParaRPr lang="en-US"/>
          </a:p>
        </p:txBody>
      </p:sp>
    </p:spTree>
    <p:extLst>
      <p:ext uri="{BB962C8B-B14F-4D97-AF65-F5344CB8AC3E}">
        <p14:creationId xmlns:p14="http://schemas.microsoft.com/office/powerpoint/2010/main" val="1253778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EDB55-5EAC-FD79-24F9-9A7A85C941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7BBA52-1DDA-FBFE-8D04-774339DBD0D8}"/>
              </a:ext>
            </a:extLst>
          </p:cNvPr>
          <p:cNvSpPr>
            <a:spLocks noGrp="1"/>
          </p:cNvSpPr>
          <p:nvPr>
            <p:ph type="dt" sz="half" idx="10"/>
          </p:nvPr>
        </p:nvSpPr>
        <p:spPr/>
        <p:txBody>
          <a:bodyPr/>
          <a:lstStyle/>
          <a:p>
            <a:fld id="{4D2D66DA-EA5C-4D1E-AA6D-FE59ED33DCFF}" type="datetimeFigureOut">
              <a:rPr lang="en-US" smtClean="0"/>
              <a:t>6/4/2022</a:t>
            </a:fld>
            <a:endParaRPr lang="en-US"/>
          </a:p>
        </p:txBody>
      </p:sp>
      <p:sp>
        <p:nvSpPr>
          <p:cNvPr id="4" name="Footer Placeholder 3">
            <a:extLst>
              <a:ext uri="{FF2B5EF4-FFF2-40B4-BE49-F238E27FC236}">
                <a16:creationId xmlns:a16="http://schemas.microsoft.com/office/drawing/2014/main" id="{2928EF6C-CFB0-423F-7F0B-1151E8EB3A2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790740-AE95-E83C-8AFB-A1CB64655459}"/>
              </a:ext>
            </a:extLst>
          </p:cNvPr>
          <p:cNvSpPr>
            <a:spLocks noGrp="1"/>
          </p:cNvSpPr>
          <p:nvPr>
            <p:ph type="sldNum" sz="quarter" idx="12"/>
          </p:nvPr>
        </p:nvSpPr>
        <p:spPr/>
        <p:txBody>
          <a:bodyPr/>
          <a:lstStyle/>
          <a:p>
            <a:fld id="{1E732AB1-D764-4F09-9CE9-CBFF27A8AB65}" type="slidenum">
              <a:rPr lang="en-US" smtClean="0"/>
              <a:t>‹#›</a:t>
            </a:fld>
            <a:endParaRPr lang="en-US"/>
          </a:p>
        </p:txBody>
      </p:sp>
    </p:spTree>
    <p:extLst>
      <p:ext uri="{BB962C8B-B14F-4D97-AF65-F5344CB8AC3E}">
        <p14:creationId xmlns:p14="http://schemas.microsoft.com/office/powerpoint/2010/main" val="1572611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CDEC03-DF99-89D4-AF94-582146AD76C2}"/>
              </a:ext>
            </a:extLst>
          </p:cNvPr>
          <p:cNvSpPr>
            <a:spLocks noGrp="1"/>
          </p:cNvSpPr>
          <p:nvPr>
            <p:ph type="dt" sz="half" idx="10"/>
          </p:nvPr>
        </p:nvSpPr>
        <p:spPr/>
        <p:txBody>
          <a:bodyPr/>
          <a:lstStyle/>
          <a:p>
            <a:fld id="{4D2D66DA-EA5C-4D1E-AA6D-FE59ED33DCFF}" type="datetimeFigureOut">
              <a:rPr lang="en-US" smtClean="0"/>
              <a:t>6/4/2022</a:t>
            </a:fld>
            <a:endParaRPr lang="en-US"/>
          </a:p>
        </p:txBody>
      </p:sp>
      <p:sp>
        <p:nvSpPr>
          <p:cNvPr id="3" name="Footer Placeholder 2">
            <a:extLst>
              <a:ext uri="{FF2B5EF4-FFF2-40B4-BE49-F238E27FC236}">
                <a16:creationId xmlns:a16="http://schemas.microsoft.com/office/drawing/2014/main" id="{F84C35DF-54BD-D1C9-66B0-921B250EE89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3773CD-8F4A-089A-2332-17360043E165}"/>
              </a:ext>
            </a:extLst>
          </p:cNvPr>
          <p:cNvSpPr>
            <a:spLocks noGrp="1"/>
          </p:cNvSpPr>
          <p:nvPr>
            <p:ph type="sldNum" sz="quarter" idx="12"/>
          </p:nvPr>
        </p:nvSpPr>
        <p:spPr/>
        <p:txBody>
          <a:bodyPr/>
          <a:lstStyle/>
          <a:p>
            <a:fld id="{1E732AB1-D764-4F09-9CE9-CBFF27A8AB65}" type="slidenum">
              <a:rPr lang="en-US" smtClean="0"/>
              <a:t>‹#›</a:t>
            </a:fld>
            <a:endParaRPr lang="en-US"/>
          </a:p>
        </p:txBody>
      </p:sp>
    </p:spTree>
    <p:extLst>
      <p:ext uri="{BB962C8B-B14F-4D97-AF65-F5344CB8AC3E}">
        <p14:creationId xmlns:p14="http://schemas.microsoft.com/office/powerpoint/2010/main" val="1830341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AA2FF-C0E3-8A04-84DE-234631FF64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8E5CA11-3198-876B-0E1B-6E08687EEC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F50643-5B61-F990-0357-7BC663792A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08975B-0DE7-334C-0B0C-7FE390350F42}"/>
              </a:ext>
            </a:extLst>
          </p:cNvPr>
          <p:cNvSpPr>
            <a:spLocks noGrp="1"/>
          </p:cNvSpPr>
          <p:nvPr>
            <p:ph type="dt" sz="half" idx="10"/>
          </p:nvPr>
        </p:nvSpPr>
        <p:spPr/>
        <p:txBody>
          <a:bodyPr/>
          <a:lstStyle/>
          <a:p>
            <a:fld id="{4D2D66DA-EA5C-4D1E-AA6D-FE59ED33DCFF}" type="datetimeFigureOut">
              <a:rPr lang="en-US" smtClean="0"/>
              <a:t>6/4/2022</a:t>
            </a:fld>
            <a:endParaRPr lang="en-US"/>
          </a:p>
        </p:txBody>
      </p:sp>
      <p:sp>
        <p:nvSpPr>
          <p:cNvPr id="6" name="Footer Placeholder 5">
            <a:extLst>
              <a:ext uri="{FF2B5EF4-FFF2-40B4-BE49-F238E27FC236}">
                <a16:creationId xmlns:a16="http://schemas.microsoft.com/office/drawing/2014/main" id="{EA111539-4CE7-BCF7-3313-CAD06F52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371236-B8C9-D130-8E7A-89091ADC0C8B}"/>
              </a:ext>
            </a:extLst>
          </p:cNvPr>
          <p:cNvSpPr>
            <a:spLocks noGrp="1"/>
          </p:cNvSpPr>
          <p:nvPr>
            <p:ph type="sldNum" sz="quarter" idx="12"/>
          </p:nvPr>
        </p:nvSpPr>
        <p:spPr/>
        <p:txBody>
          <a:bodyPr/>
          <a:lstStyle/>
          <a:p>
            <a:fld id="{1E732AB1-D764-4F09-9CE9-CBFF27A8AB65}" type="slidenum">
              <a:rPr lang="en-US" smtClean="0"/>
              <a:t>‹#›</a:t>
            </a:fld>
            <a:endParaRPr lang="en-US"/>
          </a:p>
        </p:txBody>
      </p:sp>
    </p:spTree>
    <p:extLst>
      <p:ext uri="{BB962C8B-B14F-4D97-AF65-F5344CB8AC3E}">
        <p14:creationId xmlns:p14="http://schemas.microsoft.com/office/powerpoint/2010/main" val="2711356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06122-8A5A-CD8C-7FD2-B1816F7D3E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4F68D8-4650-E43D-8DAD-9FA9876222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A22FBD-DCD4-2DA7-DFB9-A7EB4EDD03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FBC474-C68E-5AB0-D65D-DE3E4A41321B}"/>
              </a:ext>
            </a:extLst>
          </p:cNvPr>
          <p:cNvSpPr>
            <a:spLocks noGrp="1"/>
          </p:cNvSpPr>
          <p:nvPr>
            <p:ph type="dt" sz="half" idx="10"/>
          </p:nvPr>
        </p:nvSpPr>
        <p:spPr/>
        <p:txBody>
          <a:bodyPr/>
          <a:lstStyle/>
          <a:p>
            <a:fld id="{4D2D66DA-EA5C-4D1E-AA6D-FE59ED33DCFF}" type="datetimeFigureOut">
              <a:rPr lang="en-US" smtClean="0"/>
              <a:t>6/4/2022</a:t>
            </a:fld>
            <a:endParaRPr lang="en-US"/>
          </a:p>
        </p:txBody>
      </p:sp>
      <p:sp>
        <p:nvSpPr>
          <p:cNvPr id="6" name="Footer Placeholder 5">
            <a:extLst>
              <a:ext uri="{FF2B5EF4-FFF2-40B4-BE49-F238E27FC236}">
                <a16:creationId xmlns:a16="http://schemas.microsoft.com/office/drawing/2014/main" id="{3EE418FA-1452-F013-0264-5132510594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1050D3-22E3-448A-B80A-FF9BF6E98107}"/>
              </a:ext>
            </a:extLst>
          </p:cNvPr>
          <p:cNvSpPr>
            <a:spLocks noGrp="1"/>
          </p:cNvSpPr>
          <p:nvPr>
            <p:ph type="sldNum" sz="quarter" idx="12"/>
          </p:nvPr>
        </p:nvSpPr>
        <p:spPr/>
        <p:txBody>
          <a:bodyPr/>
          <a:lstStyle/>
          <a:p>
            <a:fld id="{1E732AB1-D764-4F09-9CE9-CBFF27A8AB65}" type="slidenum">
              <a:rPr lang="en-US" smtClean="0"/>
              <a:t>‹#›</a:t>
            </a:fld>
            <a:endParaRPr lang="en-US"/>
          </a:p>
        </p:txBody>
      </p:sp>
    </p:spTree>
    <p:extLst>
      <p:ext uri="{BB962C8B-B14F-4D97-AF65-F5344CB8AC3E}">
        <p14:creationId xmlns:p14="http://schemas.microsoft.com/office/powerpoint/2010/main" val="228625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B4377-3F20-15F7-3B46-2678F8BFDE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514356-36CD-FCDE-95A9-5E9E1FC378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62B6BC-9601-F458-BAD1-923713C2A810}"/>
              </a:ext>
            </a:extLst>
          </p:cNvPr>
          <p:cNvSpPr>
            <a:spLocks noGrp="1"/>
          </p:cNvSpPr>
          <p:nvPr>
            <p:ph type="dt" sz="half" idx="10"/>
          </p:nvPr>
        </p:nvSpPr>
        <p:spPr/>
        <p:txBody>
          <a:bodyPr/>
          <a:lstStyle/>
          <a:p>
            <a:fld id="{4D2D66DA-EA5C-4D1E-AA6D-FE59ED33DCFF}" type="datetimeFigureOut">
              <a:rPr lang="en-US" smtClean="0"/>
              <a:t>6/4/2022</a:t>
            </a:fld>
            <a:endParaRPr lang="en-US"/>
          </a:p>
        </p:txBody>
      </p:sp>
      <p:sp>
        <p:nvSpPr>
          <p:cNvPr id="5" name="Footer Placeholder 4">
            <a:extLst>
              <a:ext uri="{FF2B5EF4-FFF2-40B4-BE49-F238E27FC236}">
                <a16:creationId xmlns:a16="http://schemas.microsoft.com/office/drawing/2014/main" id="{452AECC1-61DC-8CA9-7418-5023CD0705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6ADDB4-26F9-3669-473A-AD300EA190DF}"/>
              </a:ext>
            </a:extLst>
          </p:cNvPr>
          <p:cNvSpPr>
            <a:spLocks noGrp="1"/>
          </p:cNvSpPr>
          <p:nvPr>
            <p:ph type="sldNum" sz="quarter" idx="12"/>
          </p:nvPr>
        </p:nvSpPr>
        <p:spPr/>
        <p:txBody>
          <a:bodyPr/>
          <a:lstStyle/>
          <a:p>
            <a:fld id="{1E732AB1-D764-4F09-9CE9-CBFF27A8AB65}" type="slidenum">
              <a:rPr lang="en-US" smtClean="0"/>
              <a:t>‹#›</a:t>
            </a:fld>
            <a:endParaRPr lang="en-US"/>
          </a:p>
        </p:txBody>
      </p:sp>
    </p:spTree>
    <p:extLst>
      <p:ext uri="{BB962C8B-B14F-4D97-AF65-F5344CB8AC3E}">
        <p14:creationId xmlns:p14="http://schemas.microsoft.com/office/powerpoint/2010/main" val="25462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406F7A-C301-2C3F-0C51-1854EF3ED7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AFE56E-F31C-8B81-284A-0D75AAF23A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EFD168-414A-E41D-FA4B-CCAD572C8E79}"/>
              </a:ext>
            </a:extLst>
          </p:cNvPr>
          <p:cNvSpPr>
            <a:spLocks noGrp="1"/>
          </p:cNvSpPr>
          <p:nvPr>
            <p:ph type="dt" sz="half" idx="10"/>
          </p:nvPr>
        </p:nvSpPr>
        <p:spPr/>
        <p:txBody>
          <a:bodyPr/>
          <a:lstStyle/>
          <a:p>
            <a:fld id="{4D2D66DA-EA5C-4D1E-AA6D-FE59ED33DCFF}" type="datetimeFigureOut">
              <a:rPr lang="en-US" smtClean="0"/>
              <a:t>6/4/2022</a:t>
            </a:fld>
            <a:endParaRPr lang="en-US"/>
          </a:p>
        </p:txBody>
      </p:sp>
      <p:sp>
        <p:nvSpPr>
          <p:cNvPr id="5" name="Footer Placeholder 4">
            <a:extLst>
              <a:ext uri="{FF2B5EF4-FFF2-40B4-BE49-F238E27FC236}">
                <a16:creationId xmlns:a16="http://schemas.microsoft.com/office/drawing/2014/main" id="{70DC1F9F-DECD-10C0-F06C-C1AED63217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5E2EF4-D3FF-8FE2-EAC6-16F1F7A73B4D}"/>
              </a:ext>
            </a:extLst>
          </p:cNvPr>
          <p:cNvSpPr>
            <a:spLocks noGrp="1"/>
          </p:cNvSpPr>
          <p:nvPr>
            <p:ph type="sldNum" sz="quarter" idx="12"/>
          </p:nvPr>
        </p:nvSpPr>
        <p:spPr/>
        <p:txBody>
          <a:bodyPr/>
          <a:lstStyle/>
          <a:p>
            <a:fld id="{1E732AB1-D764-4F09-9CE9-CBFF27A8AB65}" type="slidenum">
              <a:rPr lang="en-US" smtClean="0"/>
              <a:t>‹#›</a:t>
            </a:fld>
            <a:endParaRPr lang="en-US"/>
          </a:p>
        </p:txBody>
      </p:sp>
    </p:spTree>
    <p:extLst>
      <p:ext uri="{BB962C8B-B14F-4D97-AF65-F5344CB8AC3E}">
        <p14:creationId xmlns:p14="http://schemas.microsoft.com/office/powerpoint/2010/main" val="3671669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0F51C6-567D-2A5A-33DE-686BDF7D81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F30ECD8-6252-61E7-E3B8-8B6926FB22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5CA8CE-5AAB-08C8-4906-65AFA27CC9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2D66DA-EA5C-4D1E-AA6D-FE59ED33DCFF}" type="datetimeFigureOut">
              <a:rPr lang="en-US" smtClean="0"/>
              <a:t>6/4/2022</a:t>
            </a:fld>
            <a:endParaRPr lang="en-US"/>
          </a:p>
        </p:txBody>
      </p:sp>
      <p:sp>
        <p:nvSpPr>
          <p:cNvPr id="5" name="Footer Placeholder 4">
            <a:extLst>
              <a:ext uri="{FF2B5EF4-FFF2-40B4-BE49-F238E27FC236}">
                <a16:creationId xmlns:a16="http://schemas.microsoft.com/office/drawing/2014/main" id="{A67C0670-9A16-0FE3-3D4B-CCCC2A6425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39A616E-5DC0-AC47-8A38-C0853698B8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732AB1-D764-4F09-9CE9-CBFF27A8AB65}" type="slidenum">
              <a:rPr lang="en-US" smtClean="0"/>
              <a:t>‹#›</a:t>
            </a:fld>
            <a:endParaRPr lang="en-US"/>
          </a:p>
        </p:txBody>
      </p:sp>
    </p:spTree>
    <p:extLst>
      <p:ext uri="{BB962C8B-B14F-4D97-AF65-F5344CB8AC3E}">
        <p14:creationId xmlns:p14="http://schemas.microsoft.com/office/powerpoint/2010/main" val="20189385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hyperlink" Target="https://www.flickr.com/photos/23117774@N04/2497167602/" TargetMode="External"/><Relationship Id="rId7" Type="http://schemas.openxmlformats.org/officeDocument/2006/relationships/diagramLayout" Target="../diagrams/layout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Data" Target="../diagrams/data1.xml"/><Relationship Id="rId5" Type="http://schemas.openxmlformats.org/officeDocument/2006/relationships/hyperlink" Target="https://www.flickr.com/photos/judybaxter/2493802261/" TargetMode="External"/><Relationship Id="rId10" Type="http://schemas.microsoft.com/office/2007/relationships/diagramDrawing" Target="../diagrams/drawing1.xml"/><Relationship Id="rId4" Type="http://schemas.openxmlformats.org/officeDocument/2006/relationships/image" Target="../media/image2.jpg"/><Relationship Id="rId9" Type="http://schemas.openxmlformats.org/officeDocument/2006/relationships/diagramColors" Target="../diagrams/colors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image" Target="../media/image4.svg"/><Relationship Id="rId7" Type="http://schemas.openxmlformats.org/officeDocument/2006/relationships/diagramLayout" Target="../diagrams/layout2.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Data" Target="../diagrams/data2.xml"/><Relationship Id="rId5" Type="http://schemas.openxmlformats.org/officeDocument/2006/relationships/image" Target="../media/image6.svg"/><Relationship Id="rId10" Type="http://schemas.microsoft.com/office/2007/relationships/diagramDrawing" Target="../diagrams/drawing2.xml"/><Relationship Id="rId4" Type="http://schemas.openxmlformats.org/officeDocument/2006/relationships/image" Target="../media/image5.png"/><Relationship Id="rId9" Type="http://schemas.openxmlformats.org/officeDocument/2006/relationships/diagramColors" Target="../diagrams/colors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39ECEF4-82B3-ECB1-05A4-5EF96DB2354A}"/>
              </a:ext>
            </a:extLst>
          </p:cNvPr>
          <p:cNvSpPr>
            <a:spLocks noGrp="1"/>
          </p:cNvSpPr>
          <p:nvPr>
            <p:ph type="ctrTitle"/>
          </p:nvPr>
        </p:nvSpPr>
        <p:spPr>
          <a:xfrm>
            <a:off x="1314824" y="735106"/>
            <a:ext cx="10053763" cy="2928470"/>
          </a:xfrm>
        </p:spPr>
        <p:txBody>
          <a:bodyPr anchor="b">
            <a:normAutofit/>
          </a:bodyPr>
          <a:lstStyle/>
          <a:p>
            <a:pPr algn="l"/>
            <a:r>
              <a:rPr lang="en-US" sz="4800" dirty="0">
                <a:solidFill>
                  <a:srgbClr val="FFFFFF"/>
                </a:solidFill>
              </a:rPr>
              <a:t>Reviving Lira Spinning</a:t>
            </a:r>
            <a:br>
              <a:rPr lang="en-US" sz="4800" dirty="0">
                <a:solidFill>
                  <a:srgbClr val="FFFFFF"/>
                </a:solidFill>
              </a:rPr>
            </a:br>
            <a:r>
              <a:rPr lang="en-US" sz="4800" dirty="0">
                <a:solidFill>
                  <a:srgbClr val="FFFFFF"/>
                </a:solidFill>
              </a:rPr>
              <a:t>&amp; Strengthening the TEXDA Training Facility - Uganda</a:t>
            </a:r>
          </a:p>
        </p:txBody>
      </p:sp>
      <p:sp>
        <p:nvSpPr>
          <p:cNvPr id="3" name="Subtitle 2">
            <a:extLst>
              <a:ext uri="{FF2B5EF4-FFF2-40B4-BE49-F238E27FC236}">
                <a16:creationId xmlns:a16="http://schemas.microsoft.com/office/drawing/2014/main" id="{0809E540-3691-7B10-CEBB-9B83F888AAA3}"/>
              </a:ext>
            </a:extLst>
          </p:cNvPr>
          <p:cNvSpPr>
            <a:spLocks noGrp="1"/>
          </p:cNvSpPr>
          <p:nvPr>
            <p:ph type="subTitle" idx="1"/>
          </p:nvPr>
        </p:nvSpPr>
        <p:spPr>
          <a:xfrm>
            <a:off x="1350682" y="4870824"/>
            <a:ext cx="10005951" cy="1458258"/>
          </a:xfrm>
        </p:spPr>
        <p:txBody>
          <a:bodyPr anchor="ctr">
            <a:normAutofit/>
          </a:bodyPr>
          <a:lstStyle/>
          <a:p>
            <a:pPr algn="l"/>
            <a:r>
              <a:rPr lang="en-US" dirty="0"/>
              <a:t>Gatsby East Africa</a:t>
            </a:r>
          </a:p>
          <a:p>
            <a:pPr algn="l"/>
            <a:r>
              <a:rPr lang="en-US" dirty="0"/>
              <a:t>Textiles and Apparel </a:t>
            </a:r>
          </a:p>
          <a:p>
            <a:pPr algn="l"/>
            <a:r>
              <a:rPr lang="en-US" dirty="0"/>
              <a:t>June 2022</a:t>
            </a:r>
          </a:p>
        </p:txBody>
      </p:sp>
    </p:spTree>
    <p:extLst>
      <p:ext uri="{BB962C8B-B14F-4D97-AF65-F5344CB8AC3E}">
        <p14:creationId xmlns:p14="http://schemas.microsoft.com/office/powerpoint/2010/main" val="3303327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306D26-5862-3B29-933E-1E6DA2CCD686}"/>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Disclaimer</a:t>
            </a:r>
          </a:p>
        </p:txBody>
      </p:sp>
      <p:sp>
        <p:nvSpPr>
          <p:cNvPr id="3" name="Content Placeholder 2">
            <a:extLst>
              <a:ext uri="{FF2B5EF4-FFF2-40B4-BE49-F238E27FC236}">
                <a16:creationId xmlns:a16="http://schemas.microsoft.com/office/drawing/2014/main" id="{E790A760-A806-1135-67AB-0F9C04B93E1C}"/>
              </a:ext>
            </a:extLst>
          </p:cNvPr>
          <p:cNvSpPr>
            <a:spLocks noGrp="1"/>
          </p:cNvSpPr>
          <p:nvPr>
            <p:ph idx="1"/>
          </p:nvPr>
        </p:nvSpPr>
        <p:spPr>
          <a:xfrm>
            <a:off x="1371599" y="2318197"/>
            <a:ext cx="9724031" cy="3683358"/>
          </a:xfrm>
        </p:spPr>
        <p:txBody>
          <a:bodyPr anchor="ctr">
            <a:normAutofit/>
          </a:bodyPr>
          <a:lstStyle/>
          <a:p>
            <a:pPr marL="0" marR="0" lvl="0" indent="0" rtl="0">
              <a:spcBef>
                <a:spcPts val="0"/>
              </a:spcBef>
              <a:spcAft>
                <a:spcPts val="0"/>
              </a:spcAft>
              <a:buClr>
                <a:srgbClr val="000000"/>
              </a:buClr>
              <a:buSzPts val="1600"/>
              <a:buFont typeface="Arial"/>
              <a:buNone/>
            </a:pPr>
            <a:r>
              <a:rPr lang="en-GB" sz="1200" dirty="0">
                <a:latin typeface="Montserrat Light" panose="020B0604020202020204" charset="0"/>
                <a:ea typeface="Montserrat"/>
                <a:cs typeface="Montserrat"/>
                <a:sym typeface="Montserrat"/>
              </a:rPr>
              <a:t>Gatsby Africa</a:t>
            </a:r>
            <a:r>
              <a:rPr lang="en-GB" sz="1200" i="0" u="none" strike="noStrike" cap="none" dirty="0">
                <a:latin typeface="Montserrat Light" panose="020B0604020202020204" charset="0"/>
                <a:ea typeface="Montserrat"/>
                <a:cs typeface="Montserrat"/>
                <a:sym typeface="Montserrat"/>
              </a:rPr>
              <a:t> is an organization supporting</a:t>
            </a:r>
            <a:r>
              <a:rPr lang="en-GB" sz="1200" dirty="0">
                <a:latin typeface="Montserrat Light" panose="020B0604020202020204" charset="0"/>
                <a:ea typeface="Montserrat"/>
                <a:cs typeface="Montserrat"/>
                <a:sym typeface="Montserrat"/>
              </a:rPr>
              <a:t> </a:t>
            </a:r>
            <a:r>
              <a:rPr lang="en-GB" sz="1200" i="0" u="none" strike="noStrike" cap="none" dirty="0">
                <a:latin typeface="Montserrat Light" panose="020B0604020202020204" charset="0"/>
                <a:ea typeface="Montserrat"/>
                <a:cs typeface="Montserrat"/>
                <a:sym typeface="Montserrat"/>
              </a:rPr>
              <a:t>competitiveness – enabling growth and long-term viability of industry in East Africa by maintaining and improving the region’s  position in the global market; relative productivity and ability to create value-added industries , driving significant structural transformation and growth that benefits low-income sections of society within Eastern African countries: Kenya, Rwanda, Tanzania and Uganda. </a:t>
            </a:r>
          </a:p>
          <a:p>
            <a:pPr marL="0" marR="0" lvl="0" indent="0" rtl="0">
              <a:spcBef>
                <a:spcPts val="0"/>
              </a:spcBef>
              <a:spcAft>
                <a:spcPts val="0"/>
              </a:spcAft>
              <a:buClr>
                <a:srgbClr val="000000"/>
              </a:buClr>
              <a:buSzPts val="1600"/>
              <a:buFont typeface="Arial"/>
              <a:buNone/>
            </a:pPr>
            <a:endParaRPr lang="en-GB" sz="1200" dirty="0">
              <a:latin typeface="Montserrat Light" panose="020B0604020202020204" charset="0"/>
              <a:ea typeface="Montserrat"/>
              <a:cs typeface="Montserrat"/>
              <a:sym typeface="Montserrat"/>
            </a:endParaRPr>
          </a:p>
          <a:p>
            <a:pPr marL="0" marR="0" lvl="0" indent="0" rtl="0">
              <a:spcBef>
                <a:spcPts val="0"/>
              </a:spcBef>
              <a:spcAft>
                <a:spcPts val="0"/>
              </a:spcAft>
              <a:buClr>
                <a:srgbClr val="000000"/>
              </a:buClr>
              <a:buSzPts val="1600"/>
              <a:buFont typeface="Arial"/>
              <a:buNone/>
            </a:pPr>
            <a:r>
              <a:rPr lang="en-GB" sz="1200" dirty="0">
                <a:latin typeface="Montserrat Light" panose="020B0604020202020204" charset="0"/>
                <a:ea typeface="Montserrat"/>
                <a:cs typeface="Montserrat"/>
                <a:sym typeface="Montserrat"/>
              </a:rPr>
              <a:t>Gatsby Africa</a:t>
            </a:r>
            <a:r>
              <a:rPr lang="en-GB" sz="1200" i="0" u="none" strike="noStrike" cap="none" dirty="0">
                <a:latin typeface="Montserrat Light" panose="020B0604020202020204" charset="0"/>
                <a:ea typeface="Montserrat"/>
                <a:cs typeface="Montserrat"/>
                <a:sym typeface="Montserrat"/>
              </a:rPr>
              <a:t> provides trade and investment related information and may from time to time facilitates business linkages</a:t>
            </a:r>
            <a:r>
              <a:rPr lang="en-GB" sz="1200" dirty="0">
                <a:latin typeface="Montserrat Light" panose="020B0604020202020204" charset="0"/>
                <a:ea typeface="Montserrat"/>
                <a:cs typeface="Montserrat"/>
                <a:sym typeface="Montserrat"/>
              </a:rPr>
              <a:t>. Gatsby Africa</a:t>
            </a:r>
            <a:r>
              <a:rPr lang="en-GB" sz="1200" i="0" u="none" strike="noStrike" cap="none" dirty="0">
                <a:latin typeface="Montserrat Light" panose="020B0604020202020204" charset="0"/>
                <a:ea typeface="Montserrat"/>
                <a:cs typeface="Montserrat"/>
                <a:sym typeface="Montserrat"/>
              </a:rPr>
              <a:t> is not a</a:t>
            </a:r>
            <a:r>
              <a:rPr lang="it-IT" sz="1200" i="0" u="none" strike="noStrike" cap="none" dirty="0">
                <a:latin typeface="Montserrat Light" panose="020B0604020202020204" charset="0"/>
                <a:ea typeface="Montserrat"/>
                <a:cs typeface="Montserrat"/>
                <a:sym typeface="Montserrat"/>
              </a:rPr>
              <a:t>n engi</a:t>
            </a:r>
            <a:r>
              <a:rPr lang="en-US" sz="1200" i="0" u="none" strike="noStrike" cap="none" dirty="0">
                <a:latin typeface="Montserrat Light" panose="020B0604020202020204" charset="0"/>
                <a:ea typeface="Montserrat"/>
                <a:cs typeface="Montserrat"/>
                <a:sym typeface="Montserrat"/>
              </a:rPr>
              <a:t>neering</a:t>
            </a:r>
            <a:r>
              <a:rPr lang="it-IT" sz="1200" i="0" u="none" strike="noStrike" cap="none" dirty="0">
                <a:latin typeface="Montserrat Light" panose="020B0604020202020204" charset="0"/>
                <a:ea typeface="Montserrat"/>
                <a:cs typeface="Montserrat"/>
                <a:sym typeface="Montserrat"/>
              </a:rPr>
              <a:t> or</a:t>
            </a:r>
            <a:r>
              <a:rPr lang="en-GB" sz="1200" i="0" u="none" strike="noStrike" cap="none" dirty="0">
                <a:latin typeface="Montserrat Light" panose="020B0604020202020204" charset="0"/>
                <a:ea typeface="Montserrat"/>
                <a:cs typeface="Montserrat"/>
                <a:sym typeface="Montserrat"/>
              </a:rPr>
              <a:t> project</a:t>
            </a:r>
            <a:r>
              <a:rPr lang="en-US" sz="1200" i="0" u="none" strike="noStrike" cap="none" dirty="0">
                <a:latin typeface="Montserrat Light" panose="020B0604020202020204" charset="0"/>
                <a:ea typeface="Montserrat"/>
                <a:cs typeface="Montserrat"/>
                <a:sym typeface="Montserrat"/>
              </a:rPr>
              <a:t> management company</a:t>
            </a:r>
            <a:r>
              <a:rPr lang="en-GB" sz="1200" i="0" u="none" strike="noStrike" cap="none" dirty="0">
                <a:latin typeface="Montserrat Light" panose="020B0604020202020204" charset="0"/>
                <a:ea typeface="Montserrat"/>
                <a:cs typeface="Montserrat"/>
                <a:sym typeface="Montserrat"/>
              </a:rPr>
              <a:t>, facility or organization neither does it specialize in providing</a:t>
            </a:r>
            <a:r>
              <a:rPr lang="en-US" sz="1200" i="0" u="none" strike="noStrike" cap="none" dirty="0">
                <a:latin typeface="Montserrat Light" panose="020B0604020202020204" charset="0"/>
                <a:ea typeface="Montserrat"/>
                <a:cs typeface="Montserrat"/>
                <a:sym typeface="Montserrat"/>
              </a:rPr>
              <a:t> manufacturing advisory</a:t>
            </a:r>
            <a:r>
              <a:rPr lang="en-GB" sz="1200" i="0" u="none" strike="noStrike" cap="none" dirty="0">
                <a:latin typeface="Montserrat Light" panose="020B0604020202020204" charset="0"/>
                <a:ea typeface="Montserrat"/>
                <a:cs typeface="Montserrat"/>
                <a:sym typeface="Montserrat"/>
              </a:rPr>
              <a:t> services and </a:t>
            </a:r>
            <a:r>
              <a:rPr lang="en-US" sz="1200" dirty="0">
                <a:latin typeface="Montserrat Light" panose="020B0604020202020204" charset="0"/>
                <a:ea typeface="Montserrat"/>
                <a:cs typeface="Montserrat"/>
                <a:sym typeface="Montserrat"/>
              </a:rPr>
              <a:t>commercial</a:t>
            </a:r>
            <a:r>
              <a:rPr lang="en-GB" sz="1200" i="0" u="none" strike="noStrike" cap="none" dirty="0">
                <a:latin typeface="Montserrat Light" panose="020B0604020202020204" charset="0"/>
                <a:ea typeface="Montserrat"/>
                <a:cs typeface="Montserrat"/>
                <a:sym typeface="Montserrat"/>
              </a:rPr>
              <a:t> advice. </a:t>
            </a:r>
            <a:r>
              <a:rPr lang="en-GB" sz="1200" dirty="0">
                <a:latin typeface="Montserrat Light" panose="020B0604020202020204" charset="0"/>
                <a:ea typeface="Montserrat"/>
                <a:cs typeface="Montserrat"/>
                <a:sym typeface="Montserrat"/>
              </a:rPr>
              <a:t> Parties receiving Gatsby Africa information related to </a:t>
            </a:r>
            <a:r>
              <a:rPr lang="en-US" sz="1200" dirty="0">
                <a:latin typeface="Montserrat Light" panose="020B0604020202020204" charset="0"/>
                <a:ea typeface="Montserrat"/>
                <a:cs typeface="Montserrat"/>
                <a:sym typeface="Montserrat"/>
              </a:rPr>
              <a:t>engineering, project </a:t>
            </a:r>
            <a:r>
              <a:rPr lang="en-GB" sz="1200" dirty="0">
                <a:latin typeface="Montserrat Light" panose="020B0604020202020204" charset="0"/>
                <a:ea typeface="Montserrat"/>
                <a:cs typeface="Montserrat"/>
                <a:sym typeface="Montserrat"/>
              </a:rPr>
              <a:t> </a:t>
            </a:r>
            <a:r>
              <a:rPr lang="en-US" sz="1200" dirty="0">
                <a:latin typeface="Montserrat Light" panose="020B0604020202020204" charset="0"/>
                <a:ea typeface="Montserrat"/>
                <a:cs typeface="Montserrat"/>
                <a:sym typeface="Montserrat"/>
              </a:rPr>
              <a:t>execution or financing, </a:t>
            </a:r>
            <a:r>
              <a:rPr lang="en-GB" sz="1200" dirty="0">
                <a:latin typeface="Montserrat Light" panose="020B0604020202020204" charset="0"/>
                <a:ea typeface="Montserrat"/>
                <a:cs typeface="Montserrat"/>
                <a:sym typeface="Montserrat"/>
              </a:rPr>
              <a:t>should consult a</a:t>
            </a:r>
            <a:r>
              <a:rPr lang="en-US" sz="1200" dirty="0">
                <a:latin typeface="Montserrat Light" panose="020B0604020202020204" charset="0"/>
                <a:ea typeface="Montserrat"/>
                <a:cs typeface="Montserrat"/>
                <a:sym typeface="Montserrat"/>
              </a:rPr>
              <a:t> </a:t>
            </a:r>
            <a:r>
              <a:rPr lang="en-GB" sz="1200" dirty="0">
                <a:latin typeface="Montserrat Light" panose="020B0604020202020204" charset="0"/>
                <a:ea typeface="Montserrat"/>
                <a:cs typeface="Montserrat"/>
                <a:sym typeface="Montserrat"/>
              </a:rPr>
              <a:t>specialist or an organization specializing in the </a:t>
            </a:r>
            <a:r>
              <a:rPr lang="en-US" sz="1200" dirty="0">
                <a:latin typeface="Montserrat Light" panose="020B0604020202020204" charset="0"/>
                <a:ea typeface="Montserrat"/>
                <a:cs typeface="Montserrat"/>
                <a:sym typeface="Montserrat"/>
              </a:rPr>
              <a:t>engineering </a:t>
            </a:r>
            <a:r>
              <a:rPr lang="en-GB" sz="1200" dirty="0">
                <a:latin typeface="Montserrat Light" panose="020B0604020202020204" charset="0"/>
                <a:ea typeface="Montserrat"/>
                <a:cs typeface="Montserrat"/>
                <a:sym typeface="Montserrat"/>
              </a:rPr>
              <a:t>or </a:t>
            </a:r>
            <a:r>
              <a:rPr lang="en-US" sz="1200" dirty="0">
                <a:latin typeface="Montserrat Light" panose="020B0604020202020204" charset="0"/>
                <a:ea typeface="Montserrat"/>
                <a:cs typeface="Montserrat"/>
                <a:sym typeface="Montserrat"/>
              </a:rPr>
              <a:t>manufacturing</a:t>
            </a:r>
            <a:r>
              <a:rPr lang="en-GB" sz="1200" dirty="0">
                <a:latin typeface="Montserrat Light" panose="020B0604020202020204" charset="0"/>
                <a:ea typeface="Montserrat"/>
                <a:cs typeface="Montserrat"/>
                <a:sym typeface="Montserrat"/>
              </a:rPr>
              <a:t> related services prior to making any decision based on the information provided by Gatsby Africa.</a:t>
            </a:r>
          </a:p>
          <a:p>
            <a:pPr marL="0" lvl="0" indent="0">
              <a:buSzPts val="1600"/>
              <a:buNone/>
            </a:pPr>
            <a:r>
              <a:rPr lang="en-GB" sz="1200" dirty="0">
                <a:latin typeface="Montserrat Light" panose="020B0604020202020204" charset="0"/>
                <a:ea typeface="Montserrat"/>
                <a:cs typeface="Montserrat"/>
                <a:sym typeface="Montserrat"/>
              </a:rPr>
              <a:t>Parties receiving Gatsby Africa facilitation and information should not make any investment decision without first consulting their own financial advisor and conducting their own research and due diligence, even when using Gatsby Africa -provided linkages and information. </a:t>
            </a:r>
          </a:p>
          <a:p>
            <a:pPr marL="0" lvl="0" indent="0">
              <a:buSzPts val="1600"/>
              <a:buNone/>
            </a:pPr>
            <a:r>
              <a:rPr lang="en-GB" sz="1200" dirty="0">
                <a:latin typeface="Montserrat Light" panose="020B0604020202020204" charset="0"/>
                <a:ea typeface="Montserrat"/>
                <a:cs typeface="Montserrat"/>
                <a:sym typeface="Montserrat"/>
              </a:rPr>
              <a:t>To the maximum extent permitted by law, Gatsby Africa disclaims any and all liability in the event any information, commentary, analysis, opinions, advice and/or recommendations prove to be inaccurate, incomplete or unreliable, or result in any investment or other losses.</a:t>
            </a:r>
          </a:p>
          <a:p>
            <a:endParaRPr lang="en-US" sz="1200" dirty="0"/>
          </a:p>
        </p:txBody>
      </p:sp>
    </p:spTree>
    <p:extLst>
      <p:ext uri="{BB962C8B-B14F-4D97-AF65-F5344CB8AC3E}">
        <p14:creationId xmlns:p14="http://schemas.microsoft.com/office/powerpoint/2010/main" val="3875281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Rectangle 3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93C049-1669-A610-C238-8392219FA7BA}"/>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Introduction</a:t>
            </a:r>
          </a:p>
        </p:txBody>
      </p:sp>
      <p:sp>
        <p:nvSpPr>
          <p:cNvPr id="3" name="Content Placeholder 2">
            <a:extLst>
              <a:ext uri="{FF2B5EF4-FFF2-40B4-BE49-F238E27FC236}">
                <a16:creationId xmlns:a16="http://schemas.microsoft.com/office/drawing/2014/main" id="{2E636DE3-A178-A54B-C6B6-088A750B414A}"/>
              </a:ext>
            </a:extLst>
          </p:cNvPr>
          <p:cNvSpPr>
            <a:spLocks noGrp="1"/>
          </p:cNvSpPr>
          <p:nvPr>
            <p:ph idx="1"/>
          </p:nvPr>
        </p:nvSpPr>
        <p:spPr>
          <a:xfrm>
            <a:off x="4367695" y="176981"/>
            <a:ext cx="7539170" cy="6440129"/>
          </a:xfrm>
        </p:spPr>
        <p:txBody>
          <a:bodyPr anchor="ctr">
            <a:normAutofit/>
          </a:bodyPr>
          <a:lstStyle/>
          <a:p>
            <a:r>
              <a:rPr lang="en-US" sz="2000" dirty="0"/>
              <a:t>Gatsby East Africa were approached in April 2022 by The Ministry of Trade, Industry and Cooperatives of Uganda, to visit the Lira Spinning facility in Lira.</a:t>
            </a:r>
          </a:p>
          <a:p>
            <a:r>
              <a:rPr lang="en-US" sz="2000" dirty="0"/>
              <a:t> The objective was to assess the existing mill, with a view to assess the possibility to revive the facility to add value to Ugandan cotton, and what needs to be done to bring about this value add. Accompanying the members of Gatsby Africa was Anandhakumar Shanmugan of Lakshmi Machine Works Ltd, a specialist with experience on establishing textile mills. </a:t>
            </a:r>
          </a:p>
          <a:p>
            <a:r>
              <a:rPr lang="en-US" sz="2000" dirty="0"/>
              <a:t>During the trip, the team also visited the TEXDA site in </a:t>
            </a:r>
            <a:r>
              <a:rPr lang="en-US" sz="2000" dirty="0" err="1"/>
              <a:t>Namamve</a:t>
            </a:r>
            <a:r>
              <a:rPr lang="en-US" sz="2000" dirty="0"/>
              <a:t> Kampala to suggest what could be the best use for this new facility.</a:t>
            </a:r>
          </a:p>
          <a:p>
            <a:r>
              <a:rPr lang="en-US" sz="2000" dirty="0"/>
              <a:t>The below report gives a summary of findings and proposed investment options for consideration of the Ministry and stakeholders in Uganda. </a:t>
            </a:r>
          </a:p>
          <a:p>
            <a:r>
              <a:rPr lang="en-US" sz="2000" dirty="0"/>
              <a:t>The report does not cover fabric production in detail, this information will be provided in due course once a detailed analysis of requirements is finalized.</a:t>
            </a:r>
          </a:p>
        </p:txBody>
      </p:sp>
    </p:spTree>
    <p:extLst>
      <p:ext uri="{BB962C8B-B14F-4D97-AF65-F5344CB8AC3E}">
        <p14:creationId xmlns:p14="http://schemas.microsoft.com/office/powerpoint/2010/main" val="1933072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E43CA-0A15-46A5-316F-2477E423A006}"/>
              </a:ext>
            </a:extLst>
          </p:cNvPr>
          <p:cNvSpPr>
            <a:spLocks noGrp="1"/>
          </p:cNvSpPr>
          <p:nvPr>
            <p:ph type="title"/>
          </p:nvPr>
        </p:nvSpPr>
        <p:spPr>
          <a:xfrm>
            <a:off x="6053668" y="803325"/>
            <a:ext cx="5314536" cy="1325563"/>
          </a:xfrm>
        </p:spPr>
        <p:txBody>
          <a:bodyPr>
            <a:normAutofit fontScale="90000"/>
          </a:bodyPr>
          <a:lstStyle/>
          <a:p>
            <a:pPr marL="0" indent="0">
              <a:buNone/>
            </a:pPr>
            <a:br>
              <a:rPr lang="en-US" sz="1100" dirty="0"/>
            </a:br>
            <a:br>
              <a:rPr lang="en-US" sz="1100" dirty="0"/>
            </a:br>
            <a:r>
              <a:rPr lang="en-US" sz="2400" dirty="0"/>
              <a:t>Lira Spinning Mill</a:t>
            </a:r>
            <a:br>
              <a:rPr lang="en-US" sz="2400" dirty="0"/>
            </a:br>
            <a:r>
              <a:rPr lang="en-US" sz="2400" dirty="0"/>
              <a:t>“</a:t>
            </a:r>
            <a:r>
              <a:rPr lang="en-US" sz="2400" b="1" i="1" dirty="0"/>
              <a:t>How can this facility (Lira Spinning Mill) add value to our cotton, and what needs to be done”</a:t>
            </a:r>
            <a:br>
              <a:rPr lang="en-US" sz="2400" b="1" i="1" dirty="0"/>
            </a:br>
            <a:br>
              <a:rPr lang="en-US" sz="2400" dirty="0"/>
            </a:br>
            <a:endParaRPr lang="en-US" sz="2400" dirty="0"/>
          </a:p>
        </p:txBody>
      </p:sp>
      <p:pic>
        <p:nvPicPr>
          <p:cNvPr id="8" name="Picture 7" descr="A picture containing white, several&#10;&#10;Description automatically generated">
            <a:extLst>
              <a:ext uri="{FF2B5EF4-FFF2-40B4-BE49-F238E27FC236}">
                <a16:creationId xmlns:a16="http://schemas.microsoft.com/office/drawing/2014/main" id="{9E9931A7-4C85-3B09-F798-96B9D982EA34}"/>
              </a:ext>
            </a:extLst>
          </p:cNvPr>
          <p:cNvPicPr>
            <a:picLocks noChangeAspect="1"/>
          </p:cNvPicPr>
          <p:nvPr/>
        </p:nvPicPr>
        <p:blipFill rotWithShape="1">
          <a:blip r:embed="rId2">
            <a:duotone>
              <a:prstClr val="black"/>
              <a:schemeClr val="tx2">
                <a:tint val="45000"/>
                <a:satMod val="400000"/>
              </a:schemeClr>
            </a:duotone>
            <a:alphaModFix amt="35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14159" r="-1" b="24517"/>
          <a:stretch/>
        </p:blipFill>
        <p:spPr>
          <a:xfrm>
            <a:off x="-19" y="10"/>
            <a:ext cx="12188952" cy="6857990"/>
          </a:xfrm>
          <a:prstGeom prst="rect">
            <a:avLst/>
          </a:prstGeom>
        </p:spPr>
      </p:pic>
      <p:sp>
        <p:nvSpPr>
          <p:cNvPr id="19" name="Freeform: Shape 18">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descr="A picture containing indoor, stacked, stack&#10;&#10;Description automatically generated">
            <a:extLst>
              <a:ext uri="{FF2B5EF4-FFF2-40B4-BE49-F238E27FC236}">
                <a16:creationId xmlns:a16="http://schemas.microsoft.com/office/drawing/2014/main" id="{D8C3F55A-5E38-F4F2-2DFF-728DE59C9F75}"/>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23607" r="4220" b="1"/>
          <a:stretch/>
        </p:blipFill>
        <p:spPr>
          <a:xfrm>
            <a:off x="-2315" y="-2"/>
            <a:ext cx="5441859" cy="5654940"/>
          </a:xfrm>
          <a:custGeom>
            <a:avLst/>
            <a:gdLst/>
            <a:ahLst/>
            <a:cxnLst/>
            <a:rect l="l" t="t" r="r" b="b"/>
            <a:pathLst>
              <a:path w="5067519" h="5265942">
                <a:moveTo>
                  <a:pt x="0" y="0"/>
                </a:moveTo>
                <a:lnTo>
                  <a:pt x="4097786" y="0"/>
                </a:lnTo>
                <a:lnTo>
                  <a:pt x="4176264" y="71326"/>
                </a:lnTo>
                <a:cubicBezTo>
                  <a:pt x="4726927" y="621989"/>
                  <a:pt x="5067519" y="1382723"/>
                  <a:pt x="5067519" y="2223006"/>
                </a:cubicBezTo>
                <a:cubicBezTo>
                  <a:pt x="5067519" y="3903573"/>
                  <a:pt x="3705150" y="5265942"/>
                  <a:pt x="2024583" y="5265942"/>
                </a:cubicBezTo>
                <a:cubicBezTo>
                  <a:pt x="1315594" y="5265942"/>
                  <a:pt x="663237" y="5023470"/>
                  <a:pt x="145914" y="4616926"/>
                </a:cubicBezTo>
                <a:lnTo>
                  <a:pt x="0" y="4489006"/>
                </a:lnTo>
                <a:close/>
              </a:path>
            </a:pathLst>
          </a:custGeom>
        </p:spPr>
      </p:pic>
      <p:graphicFrame>
        <p:nvGraphicFramePr>
          <p:cNvPr id="5" name="Content Placeholder 2">
            <a:extLst>
              <a:ext uri="{FF2B5EF4-FFF2-40B4-BE49-F238E27FC236}">
                <a16:creationId xmlns:a16="http://schemas.microsoft.com/office/drawing/2014/main" id="{7D200B86-A4EA-C59C-7DD8-6371F7B4ED69}"/>
              </a:ext>
            </a:extLst>
          </p:cNvPr>
          <p:cNvGraphicFramePr>
            <a:graphicFrameLocks noGrp="1"/>
          </p:cNvGraphicFramePr>
          <p:nvPr>
            <p:ph idx="1"/>
            <p:extLst>
              <p:ext uri="{D42A27DB-BD31-4B8C-83A1-F6EECF244321}">
                <p14:modId xmlns:p14="http://schemas.microsoft.com/office/powerpoint/2010/main" val="4875380"/>
              </p:ext>
            </p:extLst>
          </p:nvPr>
        </p:nvGraphicFramePr>
        <p:xfrm>
          <a:off x="6094457" y="2128888"/>
          <a:ext cx="5314543" cy="337592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136407806"/>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EB68D29-B84E-22BB-0494-0A8051EDBEE6}"/>
              </a:ext>
            </a:extLst>
          </p:cNvPr>
          <p:cNvSpPr>
            <a:spLocks noGrp="1"/>
          </p:cNvSpPr>
          <p:nvPr>
            <p:ph type="title"/>
          </p:nvPr>
        </p:nvSpPr>
        <p:spPr>
          <a:xfrm>
            <a:off x="983971" y="782119"/>
            <a:ext cx="10044023" cy="877729"/>
          </a:xfrm>
        </p:spPr>
        <p:txBody>
          <a:bodyPr anchor="ctr">
            <a:normAutofit/>
          </a:bodyPr>
          <a:lstStyle/>
          <a:p>
            <a:r>
              <a:rPr lang="en-US" sz="4000">
                <a:solidFill>
                  <a:srgbClr val="FFFFFF"/>
                </a:solidFill>
              </a:rPr>
              <a:t>Value Addition</a:t>
            </a:r>
          </a:p>
        </p:txBody>
      </p:sp>
      <p:graphicFrame>
        <p:nvGraphicFramePr>
          <p:cNvPr id="4" name="Table 4">
            <a:extLst>
              <a:ext uri="{FF2B5EF4-FFF2-40B4-BE49-F238E27FC236}">
                <a16:creationId xmlns:a16="http://schemas.microsoft.com/office/drawing/2014/main" id="{0B76D98F-1396-29A7-0905-585E7FED0E35}"/>
              </a:ext>
            </a:extLst>
          </p:cNvPr>
          <p:cNvGraphicFramePr>
            <a:graphicFrameLocks noGrp="1"/>
          </p:cNvGraphicFramePr>
          <p:nvPr>
            <p:ph idx="1"/>
            <p:extLst>
              <p:ext uri="{D42A27DB-BD31-4B8C-83A1-F6EECF244321}">
                <p14:modId xmlns:p14="http://schemas.microsoft.com/office/powerpoint/2010/main" val="3819124243"/>
              </p:ext>
            </p:extLst>
          </p:nvPr>
        </p:nvGraphicFramePr>
        <p:xfrm>
          <a:off x="717755" y="1697597"/>
          <a:ext cx="10756489" cy="4830568"/>
        </p:xfrm>
        <a:graphic>
          <a:graphicData uri="http://schemas.openxmlformats.org/drawingml/2006/table">
            <a:tbl>
              <a:tblPr firstRow="1" bandRow="1">
                <a:tableStyleId>{5C22544A-7EE6-4342-B048-85BDC9FD1C3A}</a:tableStyleId>
              </a:tblPr>
              <a:tblGrid>
                <a:gridCol w="1975600">
                  <a:extLst>
                    <a:ext uri="{9D8B030D-6E8A-4147-A177-3AD203B41FA5}">
                      <a16:colId xmlns:a16="http://schemas.microsoft.com/office/drawing/2014/main" val="844534692"/>
                    </a:ext>
                  </a:extLst>
                </a:gridCol>
                <a:gridCol w="1452976">
                  <a:extLst>
                    <a:ext uri="{9D8B030D-6E8A-4147-A177-3AD203B41FA5}">
                      <a16:colId xmlns:a16="http://schemas.microsoft.com/office/drawing/2014/main" val="2755327542"/>
                    </a:ext>
                  </a:extLst>
                </a:gridCol>
                <a:gridCol w="1797269">
                  <a:extLst>
                    <a:ext uri="{9D8B030D-6E8A-4147-A177-3AD203B41FA5}">
                      <a16:colId xmlns:a16="http://schemas.microsoft.com/office/drawing/2014/main" val="2927011086"/>
                    </a:ext>
                  </a:extLst>
                </a:gridCol>
                <a:gridCol w="1918252">
                  <a:extLst>
                    <a:ext uri="{9D8B030D-6E8A-4147-A177-3AD203B41FA5}">
                      <a16:colId xmlns:a16="http://schemas.microsoft.com/office/drawing/2014/main" val="2506679491"/>
                    </a:ext>
                  </a:extLst>
                </a:gridCol>
                <a:gridCol w="1748498">
                  <a:extLst>
                    <a:ext uri="{9D8B030D-6E8A-4147-A177-3AD203B41FA5}">
                      <a16:colId xmlns:a16="http://schemas.microsoft.com/office/drawing/2014/main" val="230370983"/>
                    </a:ext>
                  </a:extLst>
                </a:gridCol>
                <a:gridCol w="1863894">
                  <a:extLst>
                    <a:ext uri="{9D8B030D-6E8A-4147-A177-3AD203B41FA5}">
                      <a16:colId xmlns:a16="http://schemas.microsoft.com/office/drawing/2014/main" val="3411699575"/>
                    </a:ext>
                  </a:extLst>
                </a:gridCol>
              </a:tblGrid>
              <a:tr h="516764">
                <a:tc>
                  <a:txBody>
                    <a:bodyPr/>
                    <a:lstStyle/>
                    <a:p>
                      <a:endParaRPr lang="en-US" sz="1600" dirty="0"/>
                    </a:p>
                  </a:txBody>
                  <a:tcPr marL="106597" marR="106597" marT="53298" marB="53298"/>
                </a:tc>
                <a:tc>
                  <a:txBody>
                    <a:bodyPr/>
                    <a:lstStyle/>
                    <a:p>
                      <a:pPr algn="ctr"/>
                      <a:r>
                        <a:rPr lang="en-US" sz="2000"/>
                        <a:t>Cotton</a:t>
                      </a:r>
                    </a:p>
                  </a:txBody>
                  <a:tcPr marL="106597" marR="106597" marT="53298" marB="53298"/>
                </a:tc>
                <a:tc>
                  <a:txBody>
                    <a:bodyPr/>
                    <a:lstStyle/>
                    <a:p>
                      <a:pPr algn="ctr"/>
                      <a:r>
                        <a:rPr lang="en-US" sz="2000"/>
                        <a:t>Yarn (greige)</a:t>
                      </a:r>
                    </a:p>
                  </a:txBody>
                  <a:tcPr marL="106597" marR="106597" marT="53298" marB="53298"/>
                </a:tc>
                <a:tc>
                  <a:txBody>
                    <a:bodyPr/>
                    <a:lstStyle/>
                    <a:p>
                      <a:pPr algn="ctr"/>
                      <a:r>
                        <a:rPr lang="en-US" sz="2000" dirty="0"/>
                        <a:t>Fabric</a:t>
                      </a:r>
                    </a:p>
                  </a:txBody>
                  <a:tcPr marL="106597" marR="106597" marT="53298" marB="53298"/>
                </a:tc>
                <a:tc>
                  <a:txBody>
                    <a:bodyPr/>
                    <a:lstStyle/>
                    <a:p>
                      <a:pPr algn="ctr"/>
                      <a:r>
                        <a:rPr lang="en-US" sz="2000" dirty="0"/>
                        <a:t>Apparel</a:t>
                      </a:r>
                    </a:p>
                  </a:txBody>
                  <a:tcPr marL="106597" marR="106597" marT="53298" marB="53298"/>
                </a:tc>
                <a:tc>
                  <a:txBody>
                    <a:bodyPr/>
                    <a:lstStyle/>
                    <a:p>
                      <a:pPr algn="ctr"/>
                      <a:r>
                        <a:rPr lang="en-US" sz="2000" dirty="0"/>
                        <a:t>Total</a:t>
                      </a:r>
                    </a:p>
                  </a:txBody>
                  <a:tcPr marL="106597" marR="106597" marT="53298" marB="53298"/>
                </a:tc>
                <a:extLst>
                  <a:ext uri="{0D108BD9-81ED-4DB2-BD59-A6C34878D82A}">
                    <a16:rowId xmlns:a16="http://schemas.microsoft.com/office/drawing/2014/main" val="2271482008"/>
                  </a:ext>
                </a:extLst>
              </a:tr>
              <a:tr h="1135017">
                <a:tc>
                  <a:txBody>
                    <a:bodyPr/>
                    <a:lstStyle/>
                    <a:p>
                      <a:r>
                        <a:rPr lang="en-US" sz="2000" dirty="0"/>
                        <a:t>Product</a:t>
                      </a:r>
                    </a:p>
                  </a:txBody>
                  <a:tcPr marL="106597" marR="106597" marT="53298" marB="53298"/>
                </a:tc>
                <a:tc>
                  <a:txBody>
                    <a:bodyPr/>
                    <a:lstStyle/>
                    <a:p>
                      <a:pPr algn="ctr"/>
                      <a:r>
                        <a:rPr lang="en-US" sz="1600" dirty="0"/>
                        <a:t>11.285k tonnes/yr</a:t>
                      </a:r>
                    </a:p>
                    <a:p>
                      <a:pPr algn="ctr"/>
                      <a:r>
                        <a:rPr lang="en-US" sz="1600" i="1" dirty="0"/>
                        <a:t>(Using $1.56/kg)</a:t>
                      </a:r>
                    </a:p>
                  </a:txBody>
                  <a:tcPr marL="106597" marR="106597" marT="53298" marB="53298"/>
                </a:tc>
                <a:tc>
                  <a:txBody>
                    <a:bodyPr/>
                    <a:lstStyle/>
                    <a:p>
                      <a:pPr algn="ctr"/>
                      <a:r>
                        <a:rPr lang="en-US" sz="1600" dirty="0"/>
                        <a:t>8.125k tonnes/yr</a:t>
                      </a:r>
                    </a:p>
                    <a:p>
                      <a:pPr algn="ctr"/>
                      <a:r>
                        <a:rPr lang="en-US" sz="1600" dirty="0"/>
                        <a:t>(considering 28% wastage)</a:t>
                      </a:r>
                    </a:p>
                  </a:txBody>
                  <a:tcPr marL="106597" marR="106597" marT="53298" marB="53298"/>
                </a:tc>
                <a:tc>
                  <a:txBody>
                    <a:bodyPr/>
                    <a:lstStyle/>
                    <a:p>
                      <a:pPr algn="ctr"/>
                      <a:r>
                        <a:rPr lang="en-US" sz="1600" dirty="0"/>
                        <a:t>Mix of woven and knits</a:t>
                      </a:r>
                    </a:p>
                    <a:p>
                      <a:pPr algn="ctr"/>
                      <a:r>
                        <a:rPr lang="en-US" sz="1600" dirty="0"/>
                        <a:t>(1 kg of yarn = 2.1m of fabric approx.)</a:t>
                      </a:r>
                    </a:p>
                  </a:txBody>
                  <a:tcPr marL="106597" marR="106597" marT="53298" marB="53298"/>
                </a:tc>
                <a:tc>
                  <a:txBody>
                    <a:bodyPr/>
                    <a:lstStyle/>
                    <a:p>
                      <a:pPr algn="ctr"/>
                      <a:r>
                        <a:rPr lang="en-US" sz="1600" dirty="0"/>
                        <a:t>32M pieces</a:t>
                      </a:r>
                    </a:p>
                  </a:txBody>
                  <a:tcPr marL="106597" marR="106597" marT="53298" marB="53298"/>
                </a:tc>
                <a:tc>
                  <a:txBody>
                    <a:bodyPr/>
                    <a:lstStyle/>
                    <a:p>
                      <a:pPr algn="ctr"/>
                      <a:r>
                        <a:rPr lang="en-US" sz="1600" dirty="0"/>
                        <a:t>Combined cost/ value at integrated value chain based on investment </a:t>
                      </a:r>
                    </a:p>
                  </a:txBody>
                  <a:tcPr marL="106597" marR="106597" marT="53298" marB="53298"/>
                </a:tc>
                <a:extLst>
                  <a:ext uri="{0D108BD9-81ED-4DB2-BD59-A6C34878D82A}">
                    <a16:rowId xmlns:a16="http://schemas.microsoft.com/office/drawing/2014/main" val="3493134064"/>
                  </a:ext>
                </a:extLst>
              </a:tr>
              <a:tr h="469026">
                <a:tc>
                  <a:txBody>
                    <a:bodyPr/>
                    <a:lstStyle/>
                    <a:p>
                      <a:r>
                        <a:rPr lang="en-US" sz="2000"/>
                        <a:t>Cost</a:t>
                      </a:r>
                      <a:endParaRPr lang="en-US" sz="2000" dirty="0"/>
                    </a:p>
                  </a:txBody>
                  <a:tcPr marL="106597" marR="106597" marT="53298" marB="53298"/>
                </a:tc>
                <a:tc>
                  <a:txBody>
                    <a:bodyPr/>
                    <a:lstStyle/>
                    <a:p>
                      <a:pPr algn="ctr"/>
                      <a:r>
                        <a:rPr lang="en-US" sz="1600" dirty="0" err="1"/>
                        <a:t>tbd</a:t>
                      </a:r>
                      <a:endParaRPr lang="en-US" sz="1600" dirty="0"/>
                    </a:p>
                  </a:txBody>
                  <a:tcPr marL="106597" marR="106597" marT="53298" marB="53298"/>
                </a:tc>
                <a:tc>
                  <a:txBody>
                    <a:bodyPr/>
                    <a:lstStyle/>
                    <a:p>
                      <a:pPr algn="ctr"/>
                      <a:r>
                        <a:rPr lang="en-US" sz="1600" dirty="0"/>
                        <a:t>$36.4M</a:t>
                      </a:r>
                    </a:p>
                  </a:txBody>
                  <a:tcPr marL="106597" marR="106597" marT="53298" marB="53298"/>
                </a:tc>
                <a:tc>
                  <a:txBody>
                    <a:bodyPr/>
                    <a:lstStyle/>
                    <a:p>
                      <a:pPr algn="ctr"/>
                      <a:r>
                        <a:rPr lang="en-US" sz="1600" dirty="0"/>
                        <a:t>$23.5M</a:t>
                      </a:r>
                    </a:p>
                  </a:txBody>
                  <a:tcPr marL="106597" marR="106597" marT="53298" marB="53298"/>
                </a:tc>
                <a:tc>
                  <a:txBody>
                    <a:bodyPr/>
                    <a:lstStyle/>
                    <a:p>
                      <a:pPr algn="ctr"/>
                      <a:r>
                        <a:rPr lang="en-US" sz="1600" dirty="0"/>
                        <a:t>$13M</a:t>
                      </a:r>
                    </a:p>
                  </a:txBody>
                  <a:tcPr marL="106597" marR="106597" marT="53298" marB="53298"/>
                </a:tc>
                <a:tc>
                  <a:txBody>
                    <a:bodyPr/>
                    <a:lstStyle/>
                    <a:p>
                      <a:pPr algn="ctr"/>
                      <a:r>
                        <a:rPr lang="en-US" sz="1600" dirty="0"/>
                        <a:t>$ 49.4 M</a:t>
                      </a:r>
                    </a:p>
                  </a:txBody>
                  <a:tcPr marL="106597" marR="106597" marT="53298" marB="53298"/>
                </a:tc>
                <a:extLst>
                  <a:ext uri="{0D108BD9-81ED-4DB2-BD59-A6C34878D82A}">
                    <a16:rowId xmlns:a16="http://schemas.microsoft.com/office/drawing/2014/main" val="3510629874"/>
                  </a:ext>
                </a:extLst>
              </a:tr>
              <a:tr h="469026">
                <a:tc>
                  <a:txBody>
                    <a:bodyPr/>
                    <a:lstStyle/>
                    <a:p>
                      <a:r>
                        <a:rPr lang="en-US" sz="2000"/>
                        <a:t>Working capital</a:t>
                      </a:r>
                      <a:endParaRPr lang="en-US" sz="2000" dirty="0"/>
                    </a:p>
                  </a:txBody>
                  <a:tcPr marL="106597" marR="106597" marT="53298" marB="53298"/>
                </a:tc>
                <a:tc>
                  <a:txBody>
                    <a:bodyPr/>
                    <a:lstStyle/>
                    <a:p>
                      <a:pPr algn="ctr"/>
                      <a:endParaRPr lang="en-US" sz="1600"/>
                    </a:p>
                  </a:txBody>
                  <a:tcPr marL="106597" marR="106597" marT="53298" marB="53298"/>
                </a:tc>
                <a:tc>
                  <a:txBody>
                    <a:bodyPr/>
                    <a:lstStyle/>
                    <a:p>
                      <a:pPr algn="ctr"/>
                      <a:r>
                        <a:rPr lang="en-US" sz="1600" dirty="0"/>
                        <a:t>$18M</a:t>
                      </a:r>
                    </a:p>
                  </a:txBody>
                  <a:tcPr marL="106597" marR="106597" marT="53298" marB="53298"/>
                </a:tc>
                <a:tc>
                  <a:txBody>
                    <a:bodyPr/>
                    <a:lstStyle/>
                    <a:p>
                      <a:pPr algn="ctr"/>
                      <a:r>
                        <a:rPr lang="en-US" sz="1600" dirty="0"/>
                        <a:t>$13M</a:t>
                      </a:r>
                    </a:p>
                  </a:txBody>
                  <a:tcPr marL="106597" marR="106597" marT="53298" marB="53298"/>
                </a:tc>
                <a:tc>
                  <a:txBody>
                    <a:bodyPr/>
                    <a:lstStyle/>
                    <a:p>
                      <a:pPr algn="ctr"/>
                      <a:r>
                        <a:rPr lang="en-US" sz="1600" dirty="0"/>
                        <a:t>$7M</a:t>
                      </a:r>
                    </a:p>
                  </a:txBody>
                  <a:tcPr marL="106597" marR="106597" marT="53298" marB="53298"/>
                </a:tc>
                <a:tc>
                  <a:txBody>
                    <a:bodyPr/>
                    <a:lstStyle/>
                    <a:p>
                      <a:pPr algn="ctr"/>
                      <a:r>
                        <a:rPr lang="en-US" sz="1600" dirty="0"/>
                        <a:t>$38 M</a:t>
                      </a:r>
                    </a:p>
                  </a:txBody>
                  <a:tcPr marL="106597" marR="106597" marT="53298" marB="53298"/>
                </a:tc>
                <a:extLst>
                  <a:ext uri="{0D108BD9-81ED-4DB2-BD59-A6C34878D82A}">
                    <a16:rowId xmlns:a16="http://schemas.microsoft.com/office/drawing/2014/main" val="3479462870"/>
                  </a:ext>
                </a:extLst>
              </a:tr>
              <a:tr h="515798">
                <a:tc>
                  <a:txBody>
                    <a:bodyPr/>
                    <a:lstStyle/>
                    <a:p>
                      <a:r>
                        <a:rPr lang="en-US" sz="2000" dirty="0"/>
                        <a:t>Jobs created</a:t>
                      </a:r>
                    </a:p>
                  </a:txBody>
                  <a:tcPr marL="106597" marR="106597" marT="53298" marB="53298"/>
                </a:tc>
                <a:tc>
                  <a:txBody>
                    <a:bodyPr/>
                    <a:lstStyle/>
                    <a:p>
                      <a:pPr algn="ctr"/>
                      <a:r>
                        <a:rPr lang="en-US" sz="1600" dirty="0"/>
                        <a:t>N/A</a:t>
                      </a:r>
                    </a:p>
                  </a:txBody>
                  <a:tcPr marL="106597" marR="106597" marT="53298" marB="53298"/>
                </a:tc>
                <a:tc>
                  <a:txBody>
                    <a:bodyPr/>
                    <a:lstStyle/>
                    <a:p>
                      <a:pPr algn="ctr"/>
                      <a:r>
                        <a:rPr lang="en-US" sz="1600" dirty="0"/>
                        <a:t>290</a:t>
                      </a:r>
                    </a:p>
                  </a:txBody>
                  <a:tcPr marL="106597" marR="106597" marT="53298" marB="53298"/>
                </a:tc>
                <a:tc>
                  <a:txBody>
                    <a:bodyPr/>
                    <a:lstStyle/>
                    <a:p>
                      <a:pPr algn="ctr"/>
                      <a:r>
                        <a:rPr lang="en-US" sz="1600" dirty="0"/>
                        <a:t>230</a:t>
                      </a:r>
                    </a:p>
                  </a:txBody>
                  <a:tcPr marL="106597" marR="106597" marT="53298" marB="53298"/>
                </a:tc>
                <a:tc>
                  <a:txBody>
                    <a:bodyPr/>
                    <a:lstStyle/>
                    <a:p>
                      <a:pPr algn="ctr"/>
                      <a:r>
                        <a:rPr lang="en-US" sz="1600" dirty="0"/>
                        <a:t>7000</a:t>
                      </a:r>
                    </a:p>
                  </a:txBody>
                  <a:tcPr marL="106597" marR="106597" marT="53298" marB="53298"/>
                </a:tc>
                <a:tc>
                  <a:txBody>
                    <a:bodyPr/>
                    <a:lstStyle/>
                    <a:p>
                      <a:pPr algn="ctr"/>
                      <a:r>
                        <a:rPr lang="en-US" sz="1600" dirty="0"/>
                        <a:t>7520</a:t>
                      </a:r>
                    </a:p>
                  </a:txBody>
                  <a:tcPr marL="106597" marR="106597" marT="53298" marB="53298"/>
                </a:tc>
                <a:extLst>
                  <a:ext uri="{0D108BD9-81ED-4DB2-BD59-A6C34878D82A}">
                    <a16:rowId xmlns:a16="http://schemas.microsoft.com/office/drawing/2014/main" val="3964179394"/>
                  </a:ext>
                </a:extLst>
              </a:tr>
              <a:tr h="469026">
                <a:tc>
                  <a:txBody>
                    <a:bodyPr/>
                    <a:lstStyle/>
                    <a:p>
                      <a:r>
                        <a:rPr lang="en-US" sz="2000" dirty="0"/>
                        <a:t>Value:</a:t>
                      </a:r>
                    </a:p>
                  </a:txBody>
                  <a:tcPr marL="106597" marR="106597" marT="53298" marB="53298"/>
                </a:tc>
                <a:tc>
                  <a:txBody>
                    <a:bodyPr/>
                    <a:lstStyle/>
                    <a:p>
                      <a:pPr algn="ctr"/>
                      <a:r>
                        <a:rPr lang="en-US" sz="1600"/>
                        <a:t>$17.6M</a:t>
                      </a:r>
                    </a:p>
                  </a:txBody>
                  <a:tcPr marL="106597" marR="106597" marT="53298" marB="53298"/>
                </a:tc>
                <a:tc>
                  <a:txBody>
                    <a:bodyPr/>
                    <a:lstStyle/>
                    <a:p>
                      <a:pPr algn="ctr"/>
                      <a:r>
                        <a:rPr lang="en-US" sz="1600"/>
                        <a:t>$25.168M</a:t>
                      </a:r>
                    </a:p>
                  </a:txBody>
                  <a:tcPr marL="106597" marR="106597" marT="53298" marB="53298"/>
                </a:tc>
                <a:tc>
                  <a:txBody>
                    <a:bodyPr/>
                    <a:lstStyle/>
                    <a:p>
                      <a:pPr algn="ctr"/>
                      <a:r>
                        <a:rPr lang="en-US" sz="1600"/>
                        <a:t>$38.26M</a:t>
                      </a:r>
                    </a:p>
                  </a:txBody>
                  <a:tcPr marL="106597" marR="106597" marT="53298" marB="53298"/>
                </a:tc>
                <a:tc>
                  <a:txBody>
                    <a:bodyPr/>
                    <a:lstStyle/>
                    <a:p>
                      <a:pPr algn="ctr"/>
                      <a:r>
                        <a:rPr lang="en-US" sz="1600" dirty="0"/>
                        <a:t>$75.37M</a:t>
                      </a:r>
                    </a:p>
                  </a:txBody>
                  <a:tcPr marL="106597" marR="106597" marT="53298" marB="53298"/>
                </a:tc>
                <a:tc>
                  <a:txBody>
                    <a:bodyPr/>
                    <a:lstStyle/>
                    <a:p>
                      <a:pPr algn="ctr"/>
                      <a:r>
                        <a:rPr lang="en-US" sz="1600" dirty="0"/>
                        <a:t>$156.40 M</a:t>
                      </a:r>
                    </a:p>
                  </a:txBody>
                  <a:tcPr marL="106597" marR="106597" marT="53298" marB="53298"/>
                </a:tc>
                <a:extLst>
                  <a:ext uri="{0D108BD9-81ED-4DB2-BD59-A6C34878D82A}">
                    <a16:rowId xmlns:a16="http://schemas.microsoft.com/office/drawing/2014/main" val="2102008102"/>
                  </a:ext>
                </a:extLst>
              </a:tr>
              <a:tr h="469026">
                <a:tc>
                  <a:txBody>
                    <a:bodyPr/>
                    <a:lstStyle/>
                    <a:p>
                      <a:r>
                        <a:rPr lang="en-US" sz="2000" dirty="0"/>
                        <a:t>% value add</a:t>
                      </a:r>
                    </a:p>
                  </a:txBody>
                  <a:tcPr marL="106597" marR="106597" marT="53298" marB="53298"/>
                </a:tc>
                <a:tc>
                  <a:txBody>
                    <a:bodyPr/>
                    <a:lstStyle/>
                    <a:p>
                      <a:pPr algn="ctr"/>
                      <a:endParaRPr lang="en-US" sz="1600"/>
                    </a:p>
                  </a:txBody>
                  <a:tcPr marL="106597" marR="106597" marT="53298" marB="53298"/>
                </a:tc>
                <a:tc>
                  <a:txBody>
                    <a:bodyPr/>
                    <a:lstStyle/>
                    <a:p>
                      <a:pPr algn="ctr"/>
                      <a:r>
                        <a:rPr lang="en-US" sz="1600"/>
                        <a:t>43%</a:t>
                      </a:r>
                    </a:p>
                  </a:txBody>
                  <a:tcPr marL="106597" marR="106597" marT="53298" marB="53298"/>
                </a:tc>
                <a:tc>
                  <a:txBody>
                    <a:bodyPr/>
                    <a:lstStyle/>
                    <a:p>
                      <a:pPr algn="ctr"/>
                      <a:r>
                        <a:rPr lang="en-US" sz="1600"/>
                        <a:t>52%</a:t>
                      </a:r>
                    </a:p>
                  </a:txBody>
                  <a:tcPr marL="106597" marR="106597" marT="53298" marB="53298"/>
                </a:tc>
                <a:tc>
                  <a:txBody>
                    <a:bodyPr/>
                    <a:lstStyle/>
                    <a:p>
                      <a:pPr algn="ctr"/>
                      <a:r>
                        <a:rPr lang="en-US" sz="1600" dirty="0"/>
                        <a:t>97%</a:t>
                      </a:r>
                    </a:p>
                  </a:txBody>
                  <a:tcPr marL="106597" marR="106597" marT="53298" marB="53298"/>
                </a:tc>
                <a:tc>
                  <a:txBody>
                    <a:bodyPr/>
                    <a:lstStyle/>
                    <a:p>
                      <a:pPr algn="ctr"/>
                      <a:endParaRPr lang="en-US" sz="1600" dirty="0"/>
                    </a:p>
                  </a:txBody>
                  <a:tcPr marL="106597" marR="106597" marT="53298" marB="53298"/>
                </a:tc>
                <a:extLst>
                  <a:ext uri="{0D108BD9-81ED-4DB2-BD59-A6C34878D82A}">
                    <a16:rowId xmlns:a16="http://schemas.microsoft.com/office/drawing/2014/main" val="3155604282"/>
                  </a:ext>
                </a:extLst>
              </a:tr>
              <a:tr h="786885">
                <a:tc>
                  <a:txBody>
                    <a:bodyPr/>
                    <a:lstStyle/>
                    <a:p>
                      <a:r>
                        <a:rPr lang="en-US" sz="2000" dirty="0"/>
                        <a:t>% value cotton to fashion</a:t>
                      </a:r>
                    </a:p>
                  </a:txBody>
                  <a:tcPr marL="106597" marR="106597" marT="53298" marB="53298"/>
                </a:tc>
                <a:tc>
                  <a:txBody>
                    <a:bodyPr/>
                    <a:lstStyle/>
                    <a:p>
                      <a:pPr algn="ctr"/>
                      <a:endParaRPr lang="en-US" sz="1600"/>
                    </a:p>
                  </a:txBody>
                  <a:tcPr marL="106597" marR="106597" marT="53298" marB="53298"/>
                </a:tc>
                <a:tc>
                  <a:txBody>
                    <a:bodyPr/>
                    <a:lstStyle/>
                    <a:p>
                      <a:pPr algn="ctr"/>
                      <a:endParaRPr lang="en-US" sz="1600"/>
                    </a:p>
                  </a:txBody>
                  <a:tcPr marL="106597" marR="106597" marT="53298" marB="53298"/>
                </a:tc>
                <a:tc>
                  <a:txBody>
                    <a:bodyPr/>
                    <a:lstStyle/>
                    <a:p>
                      <a:pPr algn="ctr"/>
                      <a:endParaRPr lang="en-US" sz="1600"/>
                    </a:p>
                  </a:txBody>
                  <a:tcPr marL="106597" marR="106597" marT="53298" marB="53298"/>
                </a:tc>
                <a:tc>
                  <a:txBody>
                    <a:bodyPr/>
                    <a:lstStyle/>
                    <a:p>
                      <a:pPr algn="ctr"/>
                      <a:endParaRPr lang="en-US" sz="1600" b="1" dirty="0"/>
                    </a:p>
                    <a:p>
                      <a:pPr algn="ctr"/>
                      <a:r>
                        <a:rPr lang="en-US" sz="1600" b="1" dirty="0"/>
                        <a:t>428%</a:t>
                      </a:r>
                    </a:p>
                  </a:txBody>
                  <a:tcPr marL="106597" marR="106597" marT="53298" marB="53298"/>
                </a:tc>
                <a:tc>
                  <a:txBody>
                    <a:bodyPr/>
                    <a:lstStyle/>
                    <a:p>
                      <a:pPr algn="ctr"/>
                      <a:endParaRPr lang="en-US" sz="1600" b="1" dirty="0"/>
                    </a:p>
                  </a:txBody>
                  <a:tcPr marL="106597" marR="106597" marT="53298" marB="53298"/>
                </a:tc>
                <a:extLst>
                  <a:ext uri="{0D108BD9-81ED-4DB2-BD59-A6C34878D82A}">
                    <a16:rowId xmlns:a16="http://schemas.microsoft.com/office/drawing/2014/main" val="1851185985"/>
                  </a:ext>
                </a:extLst>
              </a:tr>
            </a:tbl>
          </a:graphicData>
        </a:graphic>
      </p:graphicFrame>
      <p:sp>
        <p:nvSpPr>
          <p:cNvPr id="6" name="Arrow: Right 5">
            <a:extLst>
              <a:ext uri="{FF2B5EF4-FFF2-40B4-BE49-F238E27FC236}">
                <a16:creationId xmlns:a16="http://schemas.microsoft.com/office/drawing/2014/main" id="{2ABEBE18-295A-5E7A-E87A-3B78BA5C24C9}"/>
              </a:ext>
            </a:extLst>
          </p:cNvPr>
          <p:cNvSpPr/>
          <p:nvPr/>
        </p:nvSpPr>
        <p:spPr>
          <a:xfrm>
            <a:off x="2922543" y="5833106"/>
            <a:ext cx="4754880"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18079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732A67-FC18-27F9-3FA1-9800C12F2018}"/>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Capex Required for Cotton to Yarn - Greige</a:t>
            </a:r>
          </a:p>
        </p:txBody>
      </p:sp>
      <p:sp>
        <p:nvSpPr>
          <p:cNvPr id="3" name="Content Placeholder 2">
            <a:extLst>
              <a:ext uri="{FF2B5EF4-FFF2-40B4-BE49-F238E27FC236}">
                <a16:creationId xmlns:a16="http://schemas.microsoft.com/office/drawing/2014/main" id="{D54418F6-A98F-1329-08F5-0BF95DA3226E}"/>
              </a:ext>
            </a:extLst>
          </p:cNvPr>
          <p:cNvSpPr>
            <a:spLocks noGrp="1"/>
          </p:cNvSpPr>
          <p:nvPr>
            <p:ph idx="1"/>
          </p:nvPr>
        </p:nvSpPr>
        <p:spPr>
          <a:xfrm>
            <a:off x="4758813" y="404978"/>
            <a:ext cx="6596961" cy="6048043"/>
          </a:xfrm>
        </p:spPr>
        <p:txBody>
          <a:bodyPr anchor="ctr">
            <a:normAutofit/>
          </a:bodyPr>
          <a:lstStyle/>
          <a:p>
            <a:pPr marL="0" indent="0">
              <a:buNone/>
            </a:pPr>
            <a:r>
              <a:rPr lang="en-US" sz="2000" dirty="0"/>
              <a:t>According to Lakshmi Machine Works Ltd:</a:t>
            </a:r>
          </a:p>
          <a:p>
            <a:r>
              <a:rPr lang="en-US" sz="2000" b="1" dirty="0"/>
              <a:t>36,480 spindles </a:t>
            </a:r>
            <a:r>
              <a:rPr lang="en-US" sz="2000" dirty="0"/>
              <a:t>can be installed in the spinning mill, providing production capacity for cotton ring yarn of 21 tonnes/day – 50% carded and 50% combed.</a:t>
            </a:r>
          </a:p>
          <a:p>
            <a:r>
              <a:rPr lang="en-US" sz="2000" b="1" dirty="0"/>
              <a:t>720 rotors </a:t>
            </a:r>
            <a:r>
              <a:rPr lang="en-US" sz="2000" dirty="0"/>
              <a:t>open end mill can also be installed to consume the process waste from the ring spinning mill, approx. 4 tonnes/day.</a:t>
            </a:r>
          </a:p>
          <a:p>
            <a:r>
              <a:rPr lang="en-US" sz="2000" b="1" i="1" dirty="0"/>
              <a:t>Capex</a:t>
            </a:r>
            <a:r>
              <a:rPr lang="en-US" sz="2000" dirty="0"/>
              <a:t> required: USD $32/34M, this would include capital machinery, accessories, utilities, testing equipment, logistics, training, and skill development.</a:t>
            </a:r>
          </a:p>
          <a:p>
            <a:r>
              <a:rPr lang="en-US" sz="2000" b="1" i="1" dirty="0"/>
              <a:t>Working Capital: </a:t>
            </a:r>
            <a:r>
              <a:rPr lang="en-US" sz="2000" dirty="0"/>
              <a:t>USD</a:t>
            </a:r>
            <a:r>
              <a:rPr lang="en-US" sz="2000" b="1" i="1" dirty="0"/>
              <a:t> </a:t>
            </a:r>
            <a:r>
              <a:rPr lang="en-US" sz="2000" dirty="0"/>
              <a:t>$16/18M per annum (70% to purchase cotton lint and chemicals and 30% for operating costs)</a:t>
            </a:r>
          </a:p>
          <a:p>
            <a:r>
              <a:rPr lang="en-US" sz="2000" b="1" i="1" dirty="0"/>
              <a:t>Revenue: </a:t>
            </a:r>
            <a:r>
              <a:rPr lang="en-US" sz="2000" dirty="0"/>
              <a:t>The project is expected to generate around USD $32M per year – at current yarn prices.</a:t>
            </a:r>
            <a:endParaRPr lang="en-US" sz="2000" b="1" i="1" dirty="0"/>
          </a:p>
        </p:txBody>
      </p:sp>
    </p:spTree>
    <p:extLst>
      <p:ext uri="{BB962C8B-B14F-4D97-AF65-F5344CB8AC3E}">
        <p14:creationId xmlns:p14="http://schemas.microsoft.com/office/powerpoint/2010/main" val="2753248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9AC910-17C1-2240-6A6A-05CC9B5D06C3}"/>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Additional Capex to enhance the value add</a:t>
            </a:r>
          </a:p>
        </p:txBody>
      </p:sp>
      <p:sp>
        <p:nvSpPr>
          <p:cNvPr id="3" name="Content Placeholder 2">
            <a:extLst>
              <a:ext uri="{FF2B5EF4-FFF2-40B4-BE49-F238E27FC236}">
                <a16:creationId xmlns:a16="http://schemas.microsoft.com/office/drawing/2014/main" id="{FAEB92DB-31E3-0452-55B5-478F7A0B4680}"/>
              </a:ext>
            </a:extLst>
          </p:cNvPr>
          <p:cNvSpPr>
            <a:spLocks noGrp="1"/>
          </p:cNvSpPr>
          <p:nvPr>
            <p:ph idx="1"/>
          </p:nvPr>
        </p:nvSpPr>
        <p:spPr>
          <a:xfrm>
            <a:off x="4581833" y="274320"/>
            <a:ext cx="6783774" cy="6244467"/>
          </a:xfrm>
        </p:spPr>
        <p:txBody>
          <a:bodyPr anchor="ctr">
            <a:normAutofit/>
          </a:bodyPr>
          <a:lstStyle/>
          <a:p>
            <a:pPr>
              <a:buFont typeface="Wingdings" panose="05000000000000000000" pitchFamily="2" charset="2"/>
              <a:buChar char="Ø"/>
            </a:pPr>
            <a:r>
              <a:rPr lang="en-US" sz="2000" dirty="0"/>
              <a:t>  </a:t>
            </a:r>
            <a:r>
              <a:rPr lang="en-US" sz="2000" b="1" dirty="0"/>
              <a:t>Yarn Dyeing: Machinery Required for 1 tonne of yarn per day</a:t>
            </a:r>
          </a:p>
          <a:p>
            <a:pPr lvl="1"/>
            <a:r>
              <a:rPr lang="en-US" sz="1600" dirty="0"/>
              <a:t>60 drums soft package winder</a:t>
            </a:r>
          </a:p>
          <a:p>
            <a:pPr lvl="1"/>
            <a:r>
              <a:rPr lang="en-US" sz="1600" dirty="0"/>
              <a:t>60 drums rewinder</a:t>
            </a:r>
          </a:p>
          <a:p>
            <a:pPr lvl="1"/>
            <a:r>
              <a:rPr lang="en-US" sz="1600" dirty="0"/>
              <a:t>Dyeing vessels: 1x 250kgs, 1x 100kgs, 1x 50kgs</a:t>
            </a:r>
          </a:p>
          <a:p>
            <a:pPr lvl="1"/>
            <a:r>
              <a:rPr lang="en-US" sz="1600" dirty="0"/>
              <a:t>Hydro extractor</a:t>
            </a:r>
          </a:p>
          <a:p>
            <a:pPr lvl="1"/>
            <a:r>
              <a:rPr lang="en-US" sz="1600" dirty="0"/>
              <a:t>RF drier</a:t>
            </a:r>
          </a:p>
          <a:p>
            <a:pPr lvl="1"/>
            <a:r>
              <a:rPr lang="en-US" sz="1600" b="1" i="1" dirty="0"/>
              <a:t>Cost: $400k</a:t>
            </a:r>
          </a:p>
          <a:p>
            <a:pPr>
              <a:buFont typeface="Wingdings" panose="05000000000000000000" pitchFamily="2" charset="2"/>
              <a:buChar char="Ø"/>
            </a:pPr>
            <a:r>
              <a:rPr lang="en-US" sz="2000" b="1" dirty="0"/>
              <a:t>Additional Cost to add stretch capabilities into woven fabrics.</a:t>
            </a:r>
          </a:p>
          <a:p>
            <a:pPr lvl="1"/>
            <a:r>
              <a:rPr lang="en-US" sz="1600" dirty="0"/>
              <a:t>600kgs of yarn/day</a:t>
            </a:r>
          </a:p>
          <a:p>
            <a:pPr lvl="1"/>
            <a:r>
              <a:rPr lang="en-US" sz="1600" b="1" i="1" dirty="0"/>
              <a:t>Cost - $100k</a:t>
            </a:r>
          </a:p>
          <a:p>
            <a:pPr>
              <a:buFont typeface="Wingdings" panose="05000000000000000000" pitchFamily="2" charset="2"/>
              <a:buChar char="Ø"/>
            </a:pPr>
            <a:r>
              <a:rPr lang="en-US" sz="2000" b="1" dirty="0"/>
              <a:t>Yarn to fabric:</a:t>
            </a:r>
          </a:p>
          <a:p>
            <a:pPr lvl="1"/>
            <a:r>
              <a:rPr lang="en-US" sz="1600" b="1" i="1" dirty="0"/>
              <a:t>Cost - $75M (Including civil works - more details to follow)</a:t>
            </a:r>
          </a:p>
          <a:p>
            <a:endParaRPr lang="en-US" sz="2000" dirty="0"/>
          </a:p>
        </p:txBody>
      </p:sp>
    </p:spTree>
    <p:extLst>
      <p:ext uri="{BB962C8B-B14F-4D97-AF65-F5344CB8AC3E}">
        <p14:creationId xmlns:p14="http://schemas.microsoft.com/office/powerpoint/2010/main" val="2309259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681033-D3CF-A330-CC8B-A20B28107642}"/>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Project Timelines</a:t>
            </a:r>
          </a:p>
        </p:txBody>
      </p:sp>
      <p:sp>
        <p:nvSpPr>
          <p:cNvPr id="3" name="Content Placeholder 2">
            <a:extLst>
              <a:ext uri="{FF2B5EF4-FFF2-40B4-BE49-F238E27FC236}">
                <a16:creationId xmlns:a16="http://schemas.microsoft.com/office/drawing/2014/main" id="{7B0AA0F4-9B8D-8EAA-7A17-35F9B9459BBB}"/>
              </a:ext>
            </a:extLst>
          </p:cNvPr>
          <p:cNvSpPr>
            <a:spLocks noGrp="1"/>
          </p:cNvSpPr>
          <p:nvPr>
            <p:ph idx="1"/>
          </p:nvPr>
        </p:nvSpPr>
        <p:spPr>
          <a:xfrm>
            <a:off x="4810259" y="649480"/>
            <a:ext cx="6555347" cy="5546047"/>
          </a:xfrm>
        </p:spPr>
        <p:txBody>
          <a:bodyPr anchor="ctr">
            <a:normAutofit/>
          </a:bodyPr>
          <a:lstStyle/>
          <a:p>
            <a:r>
              <a:rPr lang="en-US" sz="2000" dirty="0"/>
              <a:t>Building Renovation – 10 months</a:t>
            </a:r>
          </a:p>
          <a:p>
            <a:r>
              <a:rPr lang="en-US" sz="2000" dirty="0"/>
              <a:t>Utility (Humidification, electrical, water pipeline) – 6 months</a:t>
            </a:r>
          </a:p>
          <a:p>
            <a:r>
              <a:rPr lang="en-US" sz="2000" dirty="0"/>
              <a:t>Open End Mill commissioning - 4 months</a:t>
            </a:r>
          </a:p>
          <a:p>
            <a:r>
              <a:rPr lang="en-US" sz="2000" dirty="0"/>
              <a:t>Ring Spinning Mill commissioning - 6 months</a:t>
            </a:r>
          </a:p>
          <a:p>
            <a:r>
              <a:rPr lang="en-US" sz="2000" dirty="0"/>
              <a:t>Training &amp; Skill Development - 4 months</a:t>
            </a:r>
          </a:p>
          <a:p>
            <a:r>
              <a:rPr lang="en-US" sz="2000" b="1" i="1" dirty="0"/>
              <a:t>Total – 30 months</a:t>
            </a:r>
          </a:p>
        </p:txBody>
      </p:sp>
    </p:spTree>
    <p:extLst>
      <p:ext uri="{BB962C8B-B14F-4D97-AF65-F5344CB8AC3E}">
        <p14:creationId xmlns:p14="http://schemas.microsoft.com/office/powerpoint/2010/main" val="1984599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A1BF46-7DA7-23E3-21F2-BA1BC69C6573}"/>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Utilities</a:t>
            </a:r>
          </a:p>
        </p:txBody>
      </p:sp>
      <p:sp>
        <p:nvSpPr>
          <p:cNvPr id="3" name="Content Placeholder 2">
            <a:extLst>
              <a:ext uri="{FF2B5EF4-FFF2-40B4-BE49-F238E27FC236}">
                <a16:creationId xmlns:a16="http://schemas.microsoft.com/office/drawing/2014/main" id="{E18B7860-6437-7951-636B-091EA9FA67C0}"/>
              </a:ext>
            </a:extLst>
          </p:cNvPr>
          <p:cNvSpPr>
            <a:spLocks noGrp="1"/>
          </p:cNvSpPr>
          <p:nvPr>
            <p:ph idx="1"/>
          </p:nvPr>
        </p:nvSpPr>
        <p:spPr>
          <a:xfrm>
            <a:off x="4835711" y="655975"/>
            <a:ext cx="6555347" cy="5546047"/>
          </a:xfrm>
        </p:spPr>
        <p:txBody>
          <a:bodyPr anchor="ctr">
            <a:normAutofit/>
          </a:bodyPr>
          <a:lstStyle/>
          <a:p>
            <a:pPr>
              <a:buFont typeface="Wingdings" panose="05000000000000000000" pitchFamily="2" charset="2"/>
              <a:buChar char="Ø"/>
            </a:pPr>
            <a:endParaRPr lang="en-US" sz="2000" b="1" dirty="0"/>
          </a:p>
          <a:p>
            <a:pPr>
              <a:buFont typeface="Wingdings" panose="05000000000000000000" pitchFamily="2" charset="2"/>
              <a:buChar char="Ø"/>
            </a:pPr>
            <a:endParaRPr lang="en-US" sz="2000" b="1" dirty="0"/>
          </a:p>
          <a:p>
            <a:pPr>
              <a:buFont typeface="Wingdings" panose="05000000000000000000" pitchFamily="2" charset="2"/>
              <a:buChar char="Ø"/>
            </a:pPr>
            <a:r>
              <a:rPr lang="en-US" sz="2000" b="1" dirty="0"/>
              <a:t>ZLD ( Zero Liquid Discharge water management system):</a:t>
            </a:r>
          </a:p>
          <a:p>
            <a:pPr lvl="1"/>
            <a:r>
              <a:rPr lang="en-US" sz="2000" dirty="0"/>
              <a:t>800 cubic m/day, including weaving and dyeing</a:t>
            </a:r>
          </a:p>
          <a:p>
            <a:pPr lvl="1"/>
            <a:r>
              <a:rPr lang="en-US" sz="2000" dirty="0"/>
              <a:t>Usual water consumption is 80/100 litres per kg of finished fabric.</a:t>
            </a:r>
          </a:p>
          <a:p>
            <a:pPr lvl="1"/>
            <a:r>
              <a:rPr lang="en-US" sz="2000" dirty="0"/>
              <a:t>Cost for 800 cum/day:</a:t>
            </a:r>
          </a:p>
          <a:p>
            <a:pPr marL="1028700" lvl="1" indent="-571500">
              <a:buFont typeface="+mj-lt"/>
              <a:buAutoNum type="romanUcPeriod"/>
            </a:pPr>
            <a:r>
              <a:rPr lang="en-US" sz="2000" dirty="0"/>
              <a:t>$745k for equipment</a:t>
            </a:r>
          </a:p>
          <a:p>
            <a:pPr marL="1028700" lvl="1" indent="-571500">
              <a:buFont typeface="+mj-lt"/>
              <a:buAutoNum type="romanUcPeriod"/>
            </a:pPr>
            <a:r>
              <a:rPr lang="en-US" sz="2000" dirty="0"/>
              <a:t>$100k for electrics and logistics</a:t>
            </a:r>
          </a:p>
          <a:p>
            <a:pPr marL="1028700" lvl="1" indent="-571500">
              <a:buFont typeface="+mj-lt"/>
              <a:buAutoNum type="romanUcPeriod"/>
            </a:pPr>
            <a:r>
              <a:rPr lang="en-US" sz="2000" dirty="0"/>
              <a:t>$450k for civil works</a:t>
            </a:r>
          </a:p>
          <a:p>
            <a:pPr marL="1028700" lvl="1" indent="-571500">
              <a:buFont typeface="+mj-lt"/>
              <a:buAutoNum type="romanUcPeriod"/>
            </a:pPr>
            <a:r>
              <a:rPr lang="en-US" sz="2000" dirty="0"/>
              <a:t>Total = $1.3M</a:t>
            </a:r>
          </a:p>
          <a:p>
            <a:pPr>
              <a:buFont typeface="Wingdings" panose="05000000000000000000" pitchFamily="2" charset="2"/>
              <a:buChar char="Ø"/>
            </a:pPr>
            <a:r>
              <a:rPr lang="en-US" sz="2000" b="1" dirty="0"/>
              <a:t>Solar Power:</a:t>
            </a:r>
          </a:p>
          <a:p>
            <a:pPr lvl="1"/>
            <a:r>
              <a:rPr lang="en-US" sz="2000" dirty="0"/>
              <a:t>1MW of Solar Power = $1M</a:t>
            </a:r>
          </a:p>
          <a:p>
            <a:pPr>
              <a:buFont typeface="Wingdings" panose="05000000000000000000" pitchFamily="2" charset="2"/>
              <a:buChar char="Ø"/>
            </a:pPr>
            <a:r>
              <a:rPr lang="en-US" sz="2000" b="1" dirty="0"/>
              <a:t>Power required:</a:t>
            </a:r>
          </a:p>
          <a:p>
            <a:pPr lvl="1"/>
            <a:r>
              <a:rPr lang="en-US" sz="2000" dirty="0"/>
              <a:t>5500 KVA</a:t>
            </a:r>
          </a:p>
          <a:p>
            <a:endParaRPr lang="en-US" sz="2000" dirty="0"/>
          </a:p>
          <a:p>
            <a:endParaRPr lang="en-US" sz="2000" dirty="0"/>
          </a:p>
        </p:txBody>
      </p:sp>
    </p:spTree>
    <p:extLst>
      <p:ext uri="{BB962C8B-B14F-4D97-AF65-F5344CB8AC3E}">
        <p14:creationId xmlns:p14="http://schemas.microsoft.com/office/powerpoint/2010/main" val="3666222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984AD6E-7147-27C8-34B2-0A5E5B2C08E6}"/>
              </a:ext>
            </a:extLst>
          </p:cNvPr>
          <p:cNvSpPr>
            <a:spLocks noGrp="1"/>
          </p:cNvSpPr>
          <p:nvPr>
            <p:ph type="title"/>
          </p:nvPr>
        </p:nvSpPr>
        <p:spPr>
          <a:xfrm>
            <a:off x="826396" y="586855"/>
            <a:ext cx="4230100" cy="3387497"/>
          </a:xfrm>
        </p:spPr>
        <p:txBody>
          <a:bodyPr anchor="b">
            <a:normAutofit/>
          </a:bodyPr>
          <a:lstStyle/>
          <a:p>
            <a:pPr algn="r"/>
            <a:r>
              <a:rPr lang="en-US" sz="4000" dirty="0">
                <a:solidFill>
                  <a:srgbClr val="FFFFFF"/>
                </a:solidFill>
              </a:rPr>
              <a:t>Staffing </a:t>
            </a:r>
            <a:br>
              <a:rPr lang="en-US" sz="4000" dirty="0">
                <a:solidFill>
                  <a:srgbClr val="FFFFFF"/>
                </a:solidFill>
              </a:rPr>
            </a:br>
            <a:r>
              <a:rPr lang="en-US" sz="4000" dirty="0">
                <a:solidFill>
                  <a:srgbClr val="FFFFFF"/>
                </a:solidFill>
              </a:rPr>
              <a:t>(per shift)</a:t>
            </a:r>
          </a:p>
        </p:txBody>
      </p:sp>
      <p:sp>
        <p:nvSpPr>
          <p:cNvPr id="3" name="Content Placeholder 2">
            <a:extLst>
              <a:ext uri="{FF2B5EF4-FFF2-40B4-BE49-F238E27FC236}">
                <a16:creationId xmlns:a16="http://schemas.microsoft.com/office/drawing/2014/main" id="{CF48F962-C830-3894-352F-4346DB62E038}"/>
              </a:ext>
            </a:extLst>
          </p:cNvPr>
          <p:cNvSpPr>
            <a:spLocks noGrp="1"/>
          </p:cNvSpPr>
          <p:nvPr>
            <p:ph idx="1"/>
          </p:nvPr>
        </p:nvSpPr>
        <p:spPr>
          <a:xfrm>
            <a:off x="6350758" y="406400"/>
            <a:ext cx="5280803" cy="6248400"/>
          </a:xfrm>
        </p:spPr>
        <p:txBody>
          <a:bodyPr anchor="ctr">
            <a:normAutofit fontScale="92500" lnSpcReduction="10000"/>
          </a:bodyPr>
          <a:lstStyle/>
          <a:p>
            <a:pPr>
              <a:buFont typeface="Wingdings" panose="05000000000000000000" pitchFamily="2" charset="2"/>
              <a:buChar char="Ø"/>
            </a:pPr>
            <a:endParaRPr lang="en-US" sz="2000" dirty="0"/>
          </a:p>
          <a:p>
            <a:pPr>
              <a:buFont typeface="Wingdings" panose="05000000000000000000" pitchFamily="2" charset="2"/>
              <a:buChar char="Ø"/>
            </a:pPr>
            <a:endParaRPr lang="en-US" sz="2000" dirty="0"/>
          </a:p>
          <a:p>
            <a:pPr>
              <a:buFont typeface="Wingdings" panose="05000000000000000000" pitchFamily="2" charset="2"/>
              <a:buChar char="Ø"/>
            </a:pPr>
            <a:endParaRPr lang="en-US" sz="2000" dirty="0"/>
          </a:p>
          <a:p>
            <a:pPr>
              <a:buFont typeface="Wingdings" panose="05000000000000000000" pitchFamily="2" charset="2"/>
              <a:buChar char="Ø"/>
            </a:pPr>
            <a:r>
              <a:rPr lang="en-US" sz="2600" b="1" dirty="0"/>
              <a:t>Spinning</a:t>
            </a:r>
          </a:p>
          <a:p>
            <a:pPr lvl="1"/>
            <a:r>
              <a:rPr lang="en-US" sz="2200" dirty="0"/>
              <a:t>4 Management</a:t>
            </a:r>
          </a:p>
          <a:p>
            <a:pPr lvl="1"/>
            <a:r>
              <a:rPr lang="en-US" sz="2200" dirty="0"/>
              <a:t>230 Operators</a:t>
            </a:r>
          </a:p>
          <a:p>
            <a:pPr lvl="1"/>
            <a:r>
              <a:rPr lang="en-US" sz="2200" dirty="0"/>
              <a:t>35 Maintenance </a:t>
            </a:r>
          </a:p>
          <a:p>
            <a:pPr lvl="1"/>
            <a:r>
              <a:rPr lang="en-US" sz="2200" dirty="0"/>
              <a:t>20 Supervisor roles</a:t>
            </a:r>
          </a:p>
          <a:p>
            <a:pPr>
              <a:buFont typeface="Wingdings" panose="05000000000000000000" pitchFamily="2" charset="2"/>
              <a:buChar char="Ø"/>
            </a:pPr>
            <a:r>
              <a:rPr lang="en-US" sz="2600" b="1" dirty="0"/>
              <a:t>Dyeing</a:t>
            </a:r>
          </a:p>
          <a:p>
            <a:pPr lvl="1"/>
            <a:r>
              <a:rPr lang="en-US" sz="2200" dirty="0"/>
              <a:t>4 operators per tonne</a:t>
            </a:r>
          </a:p>
          <a:p>
            <a:pPr lvl="1"/>
            <a:r>
              <a:rPr lang="en-US" sz="2200" dirty="0"/>
              <a:t>1 supervisor</a:t>
            </a:r>
          </a:p>
          <a:p>
            <a:pPr>
              <a:buFont typeface="Wingdings" panose="05000000000000000000" pitchFamily="2" charset="2"/>
              <a:buChar char="Ø"/>
            </a:pPr>
            <a:r>
              <a:rPr lang="en-US" sz="2600" b="1" dirty="0"/>
              <a:t>Weaving/Knitting/Finishing</a:t>
            </a:r>
          </a:p>
          <a:p>
            <a:pPr lvl="1"/>
            <a:r>
              <a:rPr lang="en-US" sz="2200" dirty="0"/>
              <a:t>4 Management</a:t>
            </a:r>
          </a:p>
          <a:p>
            <a:pPr lvl="1"/>
            <a:r>
              <a:rPr lang="en-US" sz="2200" dirty="0"/>
              <a:t>150 Operators</a:t>
            </a:r>
          </a:p>
          <a:p>
            <a:pPr lvl="1"/>
            <a:r>
              <a:rPr lang="en-US" sz="2200" dirty="0"/>
              <a:t>20 Maintenance </a:t>
            </a:r>
          </a:p>
          <a:p>
            <a:pPr lvl="1"/>
            <a:r>
              <a:rPr lang="en-US" sz="2200" dirty="0"/>
              <a:t>12 Supervisor roles</a:t>
            </a:r>
          </a:p>
          <a:p>
            <a:endParaRPr lang="en-US" sz="2600" dirty="0"/>
          </a:p>
          <a:p>
            <a:r>
              <a:rPr lang="en-US" sz="2600" b="1" i="1" dirty="0"/>
              <a:t>Total Cotton to fabric: 478 employees</a:t>
            </a:r>
          </a:p>
          <a:p>
            <a:pPr>
              <a:buFont typeface="Wingdings" panose="05000000000000000000" pitchFamily="2" charset="2"/>
              <a:buChar char="Ø"/>
            </a:pPr>
            <a:endParaRPr lang="en-US" sz="2400" dirty="0"/>
          </a:p>
          <a:p>
            <a:pPr>
              <a:buFont typeface="Wingdings" panose="05000000000000000000" pitchFamily="2" charset="2"/>
              <a:buChar char="Ø"/>
            </a:pPr>
            <a:endParaRPr lang="en-US" sz="2400" dirty="0"/>
          </a:p>
          <a:p>
            <a:pPr>
              <a:buFont typeface="Wingdings" panose="05000000000000000000" pitchFamily="2" charset="2"/>
              <a:buChar char="Ø"/>
            </a:pPr>
            <a:endParaRPr lang="en-US" sz="2400" dirty="0"/>
          </a:p>
          <a:p>
            <a:pPr>
              <a:buFont typeface="Wingdings" panose="05000000000000000000" pitchFamily="2" charset="2"/>
              <a:buChar char="Ø"/>
            </a:pPr>
            <a:endParaRPr lang="en-US" sz="2400" dirty="0"/>
          </a:p>
          <a:p>
            <a:pPr>
              <a:buFont typeface="Wingdings" panose="05000000000000000000" pitchFamily="2" charset="2"/>
              <a:buChar char="Ø"/>
            </a:pPr>
            <a:endParaRPr lang="en-US" sz="2400" dirty="0"/>
          </a:p>
        </p:txBody>
      </p:sp>
    </p:spTree>
    <p:extLst>
      <p:ext uri="{BB962C8B-B14F-4D97-AF65-F5344CB8AC3E}">
        <p14:creationId xmlns:p14="http://schemas.microsoft.com/office/powerpoint/2010/main" val="218352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1D69C9-F9B9-40A3-9336-CD81E5058BAF}"/>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Opportunities – Apparel Manufacturing</a:t>
            </a:r>
          </a:p>
        </p:txBody>
      </p:sp>
      <p:sp>
        <p:nvSpPr>
          <p:cNvPr id="3" name="Content Placeholder 2">
            <a:extLst>
              <a:ext uri="{FF2B5EF4-FFF2-40B4-BE49-F238E27FC236}">
                <a16:creationId xmlns:a16="http://schemas.microsoft.com/office/drawing/2014/main" id="{A1001F0C-48A2-3552-029A-F677E667B64D}"/>
              </a:ext>
            </a:extLst>
          </p:cNvPr>
          <p:cNvSpPr>
            <a:spLocks noGrp="1"/>
          </p:cNvSpPr>
          <p:nvPr>
            <p:ph idx="1"/>
          </p:nvPr>
        </p:nvSpPr>
        <p:spPr>
          <a:xfrm>
            <a:off x="4810259" y="649480"/>
            <a:ext cx="6555347" cy="5546047"/>
          </a:xfrm>
        </p:spPr>
        <p:txBody>
          <a:bodyPr anchor="ctr">
            <a:normAutofit/>
          </a:bodyPr>
          <a:lstStyle/>
          <a:p>
            <a:pPr>
              <a:lnSpc>
                <a:spcPct val="70000"/>
              </a:lnSpc>
              <a:buFont typeface="Wingdings" panose="05000000000000000000" pitchFamily="2" charset="2"/>
              <a:buChar char="Ø"/>
            </a:pPr>
            <a:r>
              <a:rPr lang="en-US" sz="2400" b="1" dirty="0"/>
              <a:t>Garment Manufacturing</a:t>
            </a:r>
          </a:p>
          <a:p>
            <a:pPr marL="0" indent="0">
              <a:lnSpc>
                <a:spcPct val="70000"/>
              </a:lnSpc>
              <a:buNone/>
            </a:pPr>
            <a:endParaRPr lang="en-US" sz="2400" b="1" dirty="0"/>
          </a:p>
          <a:p>
            <a:r>
              <a:rPr lang="en-US" sz="2000" dirty="0"/>
              <a:t>The Lira site has a total of 35acres – with some yet to be developed.</a:t>
            </a:r>
          </a:p>
          <a:p>
            <a:r>
              <a:rPr lang="en-US" sz="2000" dirty="0"/>
              <a:t>This undeveloped land could have apparel manufacturing sheds built that outside investors could take advantage of, using the vertical mill as a Supply Chain.</a:t>
            </a:r>
          </a:p>
          <a:p>
            <a:r>
              <a:rPr lang="en-US" sz="2000" dirty="0"/>
              <a:t>A 10k sqm shed, could employ +4k people over 2 shifts</a:t>
            </a:r>
          </a:p>
          <a:p>
            <a:r>
              <a:rPr lang="en-US" sz="2000" dirty="0"/>
              <a:t>Cost to build 10k sqm shed – US $2/3M</a:t>
            </a:r>
          </a:p>
          <a:p>
            <a:r>
              <a:rPr lang="en-US" sz="2000" dirty="0"/>
              <a:t>Rental of shed to investor -US$3/3.5 per sqm per month</a:t>
            </a:r>
          </a:p>
          <a:p>
            <a:r>
              <a:rPr lang="en-US" sz="2000" dirty="0"/>
              <a:t>Rental per year – US $360/420k per annum.</a:t>
            </a:r>
          </a:p>
          <a:p>
            <a:r>
              <a:rPr lang="en-US" sz="2000" dirty="0"/>
              <a:t>Multiple sheds could be built. </a:t>
            </a:r>
          </a:p>
          <a:p>
            <a:r>
              <a:rPr lang="en-US" sz="2000" dirty="0"/>
              <a:t>Machines to set up facility- US $ 5-10Mio</a:t>
            </a:r>
          </a:p>
          <a:p>
            <a:r>
              <a:rPr lang="en-US" sz="2000" dirty="0"/>
              <a:t>Working Capital- US $ 7mio per year</a:t>
            </a:r>
          </a:p>
        </p:txBody>
      </p:sp>
    </p:spTree>
    <p:extLst>
      <p:ext uri="{BB962C8B-B14F-4D97-AF65-F5344CB8AC3E}">
        <p14:creationId xmlns:p14="http://schemas.microsoft.com/office/powerpoint/2010/main" val="34048946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53A8D67-5622-3E7A-C92F-40C30A27A38A}"/>
              </a:ext>
            </a:extLst>
          </p:cNvPr>
          <p:cNvSpPr>
            <a:spLocks noGrp="1"/>
          </p:cNvSpPr>
          <p:nvPr>
            <p:ph type="ctrTitle"/>
          </p:nvPr>
        </p:nvSpPr>
        <p:spPr>
          <a:xfrm>
            <a:off x="1314824" y="735106"/>
            <a:ext cx="10053763" cy="2928470"/>
          </a:xfrm>
        </p:spPr>
        <p:txBody>
          <a:bodyPr anchor="b">
            <a:normAutofit/>
          </a:bodyPr>
          <a:lstStyle/>
          <a:p>
            <a:pPr algn="l"/>
            <a:r>
              <a:rPr lang="en-US" sz="4800">
                <a:solidFill>
                  <a:srgbClr val="FFFFFF"/>
                </a:solidFill>
              </a:rPr>
              <a:t>TEXDA (Textile Development Agency)</a:t>
            </a:r>
          </a:p>
        </p:txBody>
      </p:sp>
      <p:sp>
        <p:nvSpPr>
          <p:cNvPr id="3" name="Subtitle 2">
            <a:extLst>
              <a:ext uri="{FF2B5EF4-FFF2-40B4-BE49-F238E27FC236}">
                <a16:creationId xmlns:a16="http://schemas.microsoft.com/office/drawing/2014/main" id="{53DE7024-B06A-E8D0-567E-C9E334D6048B}"/>
              </a:ext>
            </a:extLst>
          </p:cNvPr>
          <p:cNvSpPr>
            <a:spLocks noGrp="1"/>
          </p:cNvSpPr>
          <p:nvPr>
            <p:ph type="subTitle" idx="1"/>
          </p:nvPr>
        </p:nvSpPr>
        <p:spPr>
          <a:xfrm>
            <a:off x="1350682" y="4870824"/>
            <a:ext cx="10005951" cy="1458258"/>
          </a:xfrm>
        </p:spPr>
        <p:txBody>
          <a:bodyPr anchor="ctr">
            <a:normAutofit/>
          </a:bodyPr>
          <a:lstStyle/>
          <a:p>
            <a:pPr algn="l"/>
            <a:r>
              <a:rPr lang="en-US" dirty="0"/>
              <a:t>Gatsby East </a:t>
            </a:r>
            <a:r>
              <a:rPr lang="en-US" dirty="0" err="1"/>
              <a:t>Afica</a:t>
            </a:r>
            <a:endParaRPr lang="en-US" dirty="0"/>
          </a:p>
          <a:p>
            <a:pPr algn="l"/>
            <a:r>
              <a:rPr lang="en-US" dirty="0"/>
              <a:t>May 2022</a:t>
            </a:r>
          </a:p>
        </p:txBody>
      </p:sp>
    </p:spTree>
    <p:extLst>
      <p:ext uri="{BB962C8B-B14F-4D97-AF65-F5344CB8AC3E}">
        <p14:creationId xmlns:p14="http://schemas.microsoft.com/office/powerpoint/2010/main" val="2619782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4C6B5652-C661-4C58-B937-F0F490F7FC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B936867-6407-43FB-9DE6-1B0879D0C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CD0B258-678B-4A8C-894F-848AF24A19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Freeform: Shape 38">
            <a:extLst>
              <a:ext uri="{FF2B5EF4-FFF2-40B4-BE49-F238E27FC236}">
                <a16:creationId xmlns:a16="http://schemas.microsoft.com/office/drawing/2014/main" id="{C8D58395-74AF-401A-AF2F-76B6FCF71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1" name="Rectangle 40">
            <a:extLst>
              <a:ext uri="{FF2B5EF4-FFF2-40B4-BE49-F238E27FC236}">
                <a16:creationId xmlns:a16="http://schemas.microsoft.com/office/drawing/2014/main" id="{2F003F3F-F118-41D2-AA3F-74DB0D197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7B1935-4E8D-E6C2-A099-8E6232EB1975}"/>
              </a:ext>
            </a:extLst>
          </p:cNvPr>
          <p:cNvSpPr>
            <a:spLocks noGrp="1"/>
          </p:cNvSpPr>
          <p:nvPr>
            <p:ph type="title"/>
          </p:nvPr>
        </p:nvSpPr>
        <p:spPr>
          <a:xfrm>
            <a:off x="806825" y="457201"/>
            <a:ext cx="2844800" cy="3588870"/>
          </a:xfrm>
        </p:spPr>
        <p:txBody>
          <a:bodyPr anchor="b">
            <a:normAutofit/>
          </a:bodyPr>
          <a:lstStyle/>
          <a:p>
            <a:pPr algn="r"/>
            <a:r>
              <a:rPr lang="en-US" sz="3700" dirty="0">
                <a:solidFill>
                  <a:srgbClr val="FFFFFF"/>
                </a:solidFill>
              </a:rPr>
              <a:t>Opportunities</a:t>
            </a:r>
            <a:br>
              <a:rPr lang="en-US" sz="3700" dirty="0">
                <a:solidFill>
                  <a:srgbClr val="FFFFFF"/>
                </a:solidFill>
              </a:rPr>
            </a:br>
            <a:br>
              <a:rPr lang="en-US" sz="3700" dirty="0">
                <a:solidFill>
                  <a:srgbClr val="FFFFFF"/>
                </a:solidFill>
              </a:rPr>
            </a:br>
            <a:r>
              <a:rPr lang="en-US" sz="3700" dirty="0">
                <a:solidFill>
                  <a:srgbClr val="FFFFFF"/>
                </a:solidFill>
              </a:rPr>
              <a:t>Sewing Operators</a:t>
            </a:r>
          </a:p>
        </p:txBody>
      </p:sp>
      <p:pic>
        <p:nvPicPr>
          <p:cNvPr id="18" name="Graphic 17" descr="Checkmark with solid fill">
            <a:extLst>
              <a:ext uri="{FF2B5EF4-FFF2-40B4-BE49-F238E27FC236}">
                <a16:creationId xmlns:a16="http://schemas.microsoft.com/office/drawing/2014/main" id="{AAF1B761-496A-B293-EE11-76FB631F4B2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25903" y="4099202"/>
            <a:ext cx="1842578" cy="1842578"/>
          </a:xfrm>
          <a:prstGeom prst="rect">
            <a:avLst/>
          </a:prstGeom>
        </p:spPr>
      </p:pic>
      <p:pic>
        <p:nvPicPr>
          <p:cNvPr id="16" name="Graphic 15" descr="Close with solid fill">
            <a:extLst>
              <a:ext uri="{FF2B5EF4-FFF2-40B4-BE49-F238E27FC236}">
                <a16:creationId xmlns:a16="http://schemas.microsoft.com/office/drawing/2014/main" id="{3878B11A-BBF8-5210-2D2C-C7685D2C2C8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90342" y="1163775"/>
            <a:ext cx="1842578" cy="1771653"/>
          </a:xfrm>
          <a:prstGeom prst="rect">
            <a:avLst/>
          </a:prstGeom>
        </p:spPr>
      </p:pic>
      <p:graphicFrame>
        <p:nvGraphicFramePr>
          <p:cNvPr id="5" name="Content Placeholder 2">
            <a:extLst>
              <a:ext uri="{FF2B5EF4-FFF2-40B4-BE49-F238E27FC236}">
                <a16:creationId xmlns:a16="http://schemas.microsoft.com/office/drawing/2014/main" id="{F23A13CE-888E-B017-1D0D-507560BE9204}"/>
              </a:ext>
            </a:extLst>
          </p:cNvPr>
          <p:cNvGraphicFramePr>
            <a:graphicFrameLocks noGrp="1"/>
          </p:cNvGraphicFramePr>
          <p:nvPr>
            <p:ph idx="1"/>
            <p:extLst>
              <p:ext uri="{D42A27DB-BD31-4B8C-83A1-F6EECF244321}">
                <p14:modId xmlns:p14="http://schemas.microsoft.com/office/powerpoint/2010/main" val="1265023759"/>
              </p:ext>
            </p:extLst>
          </p:nvPr>
        </p:nvGraphicFramePr>
        <p:xfrm>
          <a:off x="4512914" y="672032"/>
          <a:ext cx="5248124" cy="553421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603968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681033-D3CF-A330-CC8B-A20B28107642}"/>
              </a:ext>
            </a:extLst>
          </p:cNvPr>
          <p:cNvSpPr>
            <a:spLocks noGrp="1"/>
          </p:cNvSpPr>
          <p:nvPr>
            <p:ph type="title"/>
          </p:nvPr>
        </p:nvSpPr>
        <p:spPr>
          <a:xfrm>
            <a:off x="418225" y="948243"/>
            <a:ext cx="3201366" cy="3387497"/>
          </a:xfrm>
        </p:spPr>
        <p:txBody>
          <a:bodyPr anchor="b">
            <a:normAutofit/>
          </a:bodyPr>
          <a:lstStyle/>
          <a:p>
            <a:pPr algn="r"/>
            <a:r>
              <a:rPr lang="en-US" sz="4000" dirty="0">
                <a:solidFill>
                  <a:srgbClr val="FFFFFF"/>
                </a:solidFill>
              </a:rPr>
              <a:t>Opportunities – Based on observed skill gaps</a:t>
            </a:r>
          </a:p>
        </p:txBody>
      </p:sp>
      <p:sp>
        <p:nvSpPr>
          <p:cNvPr id="11" name="Content Placeholder 2">
            <a:extLst>
              <a:ext uri="{FF2B5EF4-FFF2-40B4-BE49-F238E27FC236}">
                <a16:creationId xmlns:a16="http://schemas.microsoft.com/office/drawing/2014/main" id="{0C2A8106-A6BE-C825-0B65-1DEB9EE5CE1C}"/>
              </a:ext>
            </a:extLst>
          </p:cNvPr>
          <p:cNvSpPr txBox="1">
            <a:spLocks/>
          </p:cNvSpPr>
          <p:nvPr/>
        </p:nvSpPr>
        <p:spPr>
          <a:xfrm>
            <a:off x="4380855" y="1412489"/>
            <a:ext cx="3427283" cy="43638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2000" b="1" i="1" dirty="0"/>
              <a:t>Maintenance</a:t>
            </a:r>
          </a:p>
          <a:p>
            <a:r>
              <a:rPr lang="en-US" sz="2000" dirty="0"/>
              <a:t>Sewing machines – various</a:t>
            </a:r>
          </a:p>
          <a:p>
            <a:r>
              <a:rPr lang="en-US" sz="2000" dirty="0"/>
              <a:t>Cutting equipment</a:t>
            </a:r>
          </a:p>
          <a:p>
            <a:r>
              <a:rPr lang="en-US" sz="2000" dirty="0"/>
              <a:t>Pressing equipment</a:t>
            </a:r>
          </a:p>
          <a:p>
            <a:r>
              <a:rPr lang="en-US" sz="2000" dirty="0"/>
              <a:t>Compressors</a:t>
            </a:r>
          </a:p>
          <a:p>
            <a:r>
              <a:rPr lang="en-US" sz="2000" dirty="0"/>
              <a:t>Electronics</a:t>
            </a:r>
          </a:p>
          <a:p>
            <a:r>
              <a:rPr lang="en-US" sz="2000" dirty="0"/>
              <a:t>Electrical work</a:t>
            </a:r>
          </a:p>
        </p:txBody>
      </p:sp>
      <p:sp>
        <p:nvSpPr>
          <p:cNvPr id="13" name="Content Placeholder 3">
            <a:extLst>
              <a:ext uri="{FF2B5EF4-FFF2-40B4-BE49-F238E27FC236}">
                <a16:creationId xmlns:a16="http://schemas.microsoft.com/office/drawing/2014/main" id="{AE5902CB-A50A-DC1D-8C1C-7EB04F30BE70}"/>
              </a:ext>
            </a:extLst>
          </p:cNvPr>
          <p:cNvSpPr txBox="1">
            <a:spLocks/>
          </p:cNvSpPr>
          <p:nvPr/>
        </p:nvSpPr>
        <p:spPr>
          <a:xfrm>
            <a:off x="8451604" y="1412489"/>
            <a:ext cx="3197701" cy="436384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2000" dirty="0"/>
              <a:t> </a:t>
            </a:r>
            <a:r>
              <a:rPr lang="en-US" sz="2000" b="1" i="1" dirty="0"/>
              <a:t>Production Skills</a:t>
            </a:r>
          </a:p>
          <a:p>
            <a:r>
              <a:rPr lang="en-US" sz="2000" dirty="0"/>
              <a:t>Line balancing</a:t>
            </a:r>
          </a:p>
          <a:p>
            <a:r>
              <a:rPr lang="en-US" sz="2000" dirty="0"/>
              <a:t>Production Forecasting</a:t>
            </a:r>
          </a:p>
          <a:p>
            <a:r>
              <a:rPr lang="en-US" sz="2000" dirty="0"/>
              <a:t>Efficiency</a:t>
            </a:r>
          </a:p>
          <a:p>
            <a:r>
              <a:rPr lang="en-US" sz="2000" dirty="0"/>
              <a:t>Utilisation</a:t>
            </a:r>
          </a:p>
          <a:p>
            <a:r>
              <a:rPr lang="en-US" sz="2000" dirty="0"/>
              <a:t>Problem Solving</a:t>
            </a:r>
          </a:p>
          <a:p>
            <a:r>
              <a:rPr lang="en-US" sz="2000" dirty="0"/>
              <a:t>People Management</a:t>
            </a:r>
          </a:p>
          <a:p>
            <a:r>
              <a:rPr lang="en-US" sz="2000" dirty="0"/>
              <a:t>Cost Controls</a:t>
            </a:r>
          </a:p>
        </p:txBody>
      </p:sp>
    </p:spTree>
    <p:extLst>
      <p:ext uri="{BB962C8B-B14F-4D97-AF65-F5344CB8AC3E}">
        <p14:creationId xmlns:p14="http://schemas.microsoft.com/office/powerpoint/2010/main" val="2104185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7EA0544-D60D-F2CF-7A21-2B5577D3C0C7}"/>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700" kern="1200" dirty="0">
                <a:solidFill>
                  <a:srgbClr val="FFFFFF"/>
                </a:solidFill>
                <a:latin typeface="+mj-lt"/>
                <a:ea typeface="+mj-ea"/>
                <a:cs typeface="+mj-cs"/>
              </a:rPr>
              <a:t>Opportunities - Best In Class</a:t>
            </a:r>
            <a:br>
              <a:rPr lang="en-US" sz="3700" kern="1200" dirty="0">
                <a:solidFill>
                  <a:srgbClr val="FFFFFF"/>
                </a:solidFill>
                <a:latin typeface="+mj-lt"/>
                <a:ea typeface="+mj-ea"/>
                <a:cs typeface="+mj-cs"/>
              </a:rPr>
            </a:br>
            <a:r>
              <a:rPr lang="en-US" sz="3700" kern="1200" dirty="0">
                <a:solidFill>
                  <a:srgbClr val="FFFFFF"/>
                </a:solidFill>
                <a:latin typeface="+mj-lt"/>
                <a:ea typeface="+mj-ea"/>
                <a:cs typeface="+mj-cs"/>
              </a:rPr>
              <a:t>Laboratory</a:t>
            </a:r>
          </a:p>
        </p:txBody>
      </p:sp>
      <p:sp>
        <p:nvSpPr>
          <p:cNvPr id="27" name="Content Placeholder 26">
            <a:extLst>
              <a:ext uri="{FF2B5EF4-FFF2-40B4-BE49-F238E27FC236}">
                <a16:creationId xmlns:a16="http://schemas.microsoft.com/office/drawing/2014/main" id="{FB673290-0406-0D8F-F6FD-BEBCE086899B}"/>
              </a:ext>
            </a:extLst>
          </p:cNvPr>
          <p:cNvSpPr>
            <a:spLocks noGrp="1"/>
          </p:cNvSpPr>
          <p:nvPr>
            <p:ph idx="1"/>
          </p:nvPr>
        </p:nvSpPr>
        <p:spPr>
          <a:xfrm>
            <a:off x="5321783" y="616979"/>
            <a:ext cx="5452758" cy="6025559"/>
          </a:xfrm>
        </p:spPr>
        <p:txBody>
          <a:bodyPr/>
          <a:lstStyle/>
          <a:p>
            <a:pPr marL="0" indent="0">
              <a:buNone/>
            </a:pPr>
            <a:r>
              <a:rPr lang="en-US" dirty="0"/>
              <a:t>Equipment Required:</a:t>
            </a:r>
          </a:p>
          <a:p>
            <a:pPr>
              <a:buFont typeface="Wingdings" panose="05000000000000000000" pitchFamily="2" charset="2"/>
              <a:buChar char="Ø"/>
            </a:pPr>
            <a:r>
              <a:rPr lang="en-US" sz="1800" dirty="0"/>
              <a:t>Fibre (HVI, AFIS, transh analyser, Medan stickiness tester, moisture)</a:t>
            </a:r>
          </a:p>
          <a:p>
            <a:r>
              <a:rPr lang="en-US" sz="1800" b="1" dirty="0"/>
              <a:t>Cost - $0.8M</a:t>
            </a:r>
          </a:p>
          <a:p>
            <a:pPr>
              <a:buFont typeface="Wingdings" panose="05000000000000000000" pitchFamily="2" charset="2"/>
              <a:buChar char="Ø"/>
            </a:pPr>
            <a:r>
              <a:rPr lang="en-US" sz="1800" dirty="0"/>
              <a:t> Yarn (Uster evenness tester, single yarn tenacity, twist tester, CSP strength)</a:t>
            </a:r>
          </a:p>
          <a:p>
            <a:r>
              <a:rPr lang="en-US" sz="1800" b="1" dirty="0"/>
              <a:t>Cost: $0.7M</a:t>
            </a:r>
          </a:p>
          <a:p>
            <a:pPr>
              <a:buFont typeface="Wingdings" panose="05000000000000000000" pitchFamily="2" charset="2"/>
              <a:buChar char="Ø"/>
            </a:pPr>
            <a:r>
              <a:rPr lang="en-US" sz="1800" dirty="0"/>
              <a:t>Processing Lab (Spectophotometer, pilling test, tearing strength, color matching cabinet, pH, TDS test, Sample Dyeing machine, water bath, padding mangle, rubbing fastness, GSM cutter, microscope etc.)</a:t>
            </a:r>
          </a:p>
          <a:p>
            <a:r>
              <a:rPr lang="en-US" sz="1800" b="1" dirty="0"/>
              <a:t>Cost: $0.5M</a:t>
            </a:r>
          </a:p>
          <a:p>
            <a:endParaRPr lang="en-US" sz="1800" b="1" dirty="0"/>
          </a:p>
          <a:p>
            <a:r>
              <a:rPr lang="en-US" sz="1800" b="1" dirty="0"/>
              <a:t>Total Cost: $2M</a:t>
            </a:r>
          </a:p>
          <a:p>
            <a:endParaRPr lang="en-US" sz="1800" b="1" dirty="0"/>
          </a:p>
          <a:p>
            <a:pPr>
              <a:buFont typeface="Wingdings" panose="05000000000000000000" pitchFamily="2" charset="2"/>
              <a:buChar char="v"/>
            </a:pPr>
            <a:r>
              <a:rPr lang="en-US" sz="1800" b="1" i="1" dirty="0"/>
              <a:t>Possible JV with SGS, Intertek etc.</a:t>
            </a:r>
          </a:p>
          <a:p>
            <a:endParaRPr lang="en-US" dirty="0"/>
          </a:p>
        </p:txBody>
      </p:sp>
    </p:spTree>
    <p:extLst>
      <p:ext uri="{BB962C8B-B14F-4D97-AF65-F5344CB8AC3E}">
        <p14:creationId xmlns:p14="http://schemas.microsoft.com/office/powerpoint/2010/main" val="36994487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669</TotalTime>
  <Words>1430</Words>
  <Application>Microsoft Office PowerPoint</Application>
  <PresentationFormat>Widescreen</PresentationFormat>
  <Paragraphs>177</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Montserrat Light</vt:lpstr>
      <vt:lpstr>Wingdings</vt:lpstr>
      <vt:lpstr>Office Theme</vt:lpstr>
      <vt:lpstr>Reviving Lira Spinning &amp; Strengthening the TEXDA Training Facility - Uganda</vt:lpstr>
      <vt:lpstr>Disclaimer</vt:lpstr>
      <vt:lpstr>Introduction</vt:lpstr>
      <vt:lpstr>  Lira Spinning Mill “How can this facility (Lira Spinning Mill) add value to our cotton, and what needs to be done”  </vt:lpstr>
      <vt:lpstr>Value Addition</vt:lpstr>
      <vt:lpstr>Capex Required for Cotton to Yarn - Greige</vt:lpstr>
      <vt:lpstr>Additional Capex to enhance the value add</vt:lpstr>
      <vt:lpstr>Project Timelines</vt:lpstr>
      <vt:lpstr>Utilities</vt:lpstr>
      <vt:lpstr>Staffing  (per shift)</vt:lpstr>
      <vt:lpstr>Opportunities – Apparel Manufacturing</vt:lpstr>
      <vt:lpstr>TEXDA (Textile Development Agency)</vt:lpstr>
      <vt:lpstr>Opportunities  Sewing Operators</vt:lpstr>
      <vt:lpstr>Opportunities – Based on observed skill gaps</vt:lpstr>
      <vt:lpstr>Opportunities - Best In Class Laboratory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Lira Spinning Facility &amp; TEXDA Training Facility - Uganda</dc:title>
  <dc:creator>Richard Davies</dc:creator>
  <cp:lastModifiedBy>Richard Davies</cp:lastModifiedBy>
  <cp:revision>6</cp:revision>
  <dcterms:created xsi:type="dcterms:W3CDTF">2022-06-02T10:51:55Z</dcterms:created>
  <dcterms:modified xsi:type="dcterms:W3CDTF">2022-06-04T12:41:07Z</dcterms:modified>
</cp:coreProperties>
</file>