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88952" cy="73152"/>
          </a:xfrm>
          <a:prstGeom prst="rect">
            <a:avLst/>
          </a:prstGeom>
          <a:solidFill>
            <a:srgbClr val="00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E8F7"/>
                </a:solidFill>
              </a:rPr>
              <a:t>MINISTRY OF TRADE, INDUSTRY AND COOPERATIVES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D6E8F7"/>
                </a:solidFill>
              </a:rPr>
              <a:t>Uganda-UNIDO Programme for Country Partnership (PCP)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Industrial Diagnostic Study — Report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918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D6E8F7"/>
                </a:solidFill>
              </a:rPr>
              <a:t>Iron &amp; Steel · Copper &amp; Allied Metals · Automotive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840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  1.  Iron &amp; Steel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879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  2.  Copper &amp; Allied Metals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35424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  3.  Automotive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</a:rPr>
              <a:t>Solomon Ariho  |  27 May 2026  |  Draft — for TWG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What this deck covers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00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8872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600" b="0">
                <a:solidFill>
                  <a:srgbClr val="333333"/>
                </a:solidFill>
              </a:rPr>
              <a:t>•  The core finding across the three metal value chains</a:t>
            </a:r>
          </a:p>
          <a:p>
            <a:pPr/>
            <a:r>
              <a:rPr sz="1600" b="0">
                <a:solidFill>
                  <a:srgbClr val="333333"/>
                </a:solidFill>
              </a:rPr>
              <a:t>•  Prioritized products: Iron &amp; Steel, Copper, Automotive</a:t>
            </a:r>
          </a:p>
          <a:p>
            <a:pPr/>
            <a:r>
              <a:rPr sz="1600" b="0">
                <a:solidFill>
                  <a:srgbClr val="333333"/>
                </a:solidFill>
              </a:rPr>
              <a:t>•  Cross-cutting priority actions</a:t>
            </a:r>
          </a:p>
          <a:p>
            <a:pPr/>
            <a:r>
              <a:rPr sz="1600" b="0">
                <a:solidFill>
                  <a:srgbClr val="333333"/>
                </a:solidFill>
              </a:rPr>
              <a:t>•  Investment portfolio and roadmap</a:t>
            </a:r>
          </a:p>
          <a:p>
            <a:pPr/>
            <a:r>
              <a:rPr sz="1600" b="0">
                <a:solidFill>
                  <a:srgbClr val="333333"/>
                </a:solidFill>
              </a:rPr>
              <a:t>•  The ask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29400"/>
            <a:ext cx="12188952" cy="27432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The core finding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00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8872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600" b="0">
                <a:solidFill>
                  <a:srgbClr val="333333"/>
                </a:solidFill>
              </a:rPr>
              <a:t>Uganda exports raw and imports finished — the value leaks out at every stage.</a:t>
            </a:r>
          </a:p>
          <a:p>
            <a:pPr/>
          </a:p>
          <a:p>
            <a:pPr/>
            <a:r>
              <a:rPr sz="1600" b="0">
                <a:solidFill>
                  <a:srgbClr val="333333"/>
                </a:solidFill>
              </a:rPr>
              <a:t>•  Iron ore exported raw (USD 35.8m, 2024) while flat steel is imported (USD 219.5m).  (ITC TradeMap)</a:t>
            </a:r>
          </a:p>
          <a:p>
            <a:pPr/>
            <a:r>
              <a:rPr sz="1600" b="0">
                <a:solidFill>
                  <a:srgbClr val="333333"/>
                </a:solidFill>
              </a:rPr>
              <a:t>•  Copper: Kilembe dormant; insulated cable imported (USD 57.7m, 2024).  (ITC TradeMap)</a:t>
            </a:r>
          </a:p>
          <a:p>
            <a:pPr/>
            <a:r>
              <a:rPr sz="1600" b="0">
                <a:solidFill>
                  <a:srgbClr val="333333"/>
                </a:solidFill>
              </a:rPr>
              <a:t>•  Vehicles: ~48,700 used vehicles imported a year; Kiira plant now commissioned (Sept 2025).</a:t>
            </a:r>
          </a:p>
          <a:p>
            <a:pPr/>
          </a:p>
          <a:p>
            <a:pPr/>
            <a:r>
              <a:rPr sz="1600" b="0">
                <a:solidFill>
                  <a:srgbClr val="333333"/>
                </a:solidFill>
              </a:rPr>
              <a:t>The opportunity in every chain: move upstream, substitute imports, add value.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29400"/>
            <a:ext cx="12188952" cy="27432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Iron &amp; Steel — Prioritized products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00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188720"/>
          <a:ext cx="12188946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1278"/>
                <a:gridCol w="1741278"/>
                <a:gridCol w="1741278"/>
                <a:gridCol w="1741278"/>
                <a:gridCol w="1741278"/>
                <a:gridCol w="1741278"/>
                <a:gridCol w="1741278"/>
              </a:tblGrid>
              <a:tr h="77070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Product / sub-sector</a:t>
                      </a:r>
                    </a:p>
                  </a:txBody>
                  <a:tcPr>
                    <a:solidFill>
                      <a:srgbClr val="002B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Market</a:t>
                      </a:r>
                    </a:p>
                  </a:txBody>
                  <a:tcPr>
                    <a:solidFill>
                      <a:srgbClr val="002B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Comp. adv.</a:t>
                      </a:r>
                    </a:p>
                  </a:txBody>
                  <a:tcPr>
                    <a:solidFill>
                      <a:srgbClr val="002B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Feasibility</a:t>
                      </a:r>
                    </a:p>
                  </a:txBody>
                  <a:tcPr>
                    <a:solidFill>
                      <a:srgbClr val="002B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Jobs</a:t>
                      </a:r>
                    </a:p>
                  </a:txBody>
                  <a:tcPr>
                    <a:solidFill>
                      <a:srgbClr val="002B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Import subst.</a:t>
                      </a:r>
                    </a:p>
                  </a:txBody>
                  <a:tcPr>
                    <a:solidFill>
                      <a:srgbClr val="002B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Priority</a:t>
                      </a:r>
                    </a:p>
                  </a:txBody>
                  <a:tcPr>
                    <a:solidFill>
                      <a:srgbClr val="002B5B"/>
                    </a:solidFill>
                  </a:tcPr>
                </a:tc>
              </a:tr>
              <a:tr h="77070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Sponge iron / DRI (ironmaking)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High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High (ore base)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Medium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High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High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Priority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</a:tr>
              <a:tr h="77070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Flat products (hot/cold-rolled)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High (USD 219m imports)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Very 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Priority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070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Long products (rebar, sections)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High (regional export)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High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High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High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Achieved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Priority (defend &amp; expand)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</a:tr>
              <a:tr h="77070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Iron-ore mining &amp; beneficiation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Enabler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Priority (enabler)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070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Specialty / alloy steels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Low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Low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Low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Low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Low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Deprioritize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</a:tr>
              <a:tr h="77071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Tinplate / niche coated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Deprioritize (for now)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Copper &amp; Allied Metals — Prioritized products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00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188720"/>
          <a:ext cx="12188946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1278"/>
                <a:gridCol w="1741278"/>
                <a:gridCol w="1741278"/>
                <a:gridCol w="1741278"/>
                <a:gridCol w="1741278"/>
                <a:gridCol w="1741278"/>
                <a:gridCol w="1741278"/>
              </a:tblGrid>
              <a:tr h="89916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Product / sub-sector</a:t>
                      </a:r>
                    </a:p>
                  </a:txBody>
                  <a:tcPr>
                    <a:solidFill>
                      <a:srgbClr val="002B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Market</a:t>
                      </a:r>
                    </a:p>
                  </a:txBody>
                  <a:tcPr>
                    <a:solidFill>
                      <a:srgbClr val="002B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Comp. adv.</a:t>
                      </a:r>
                    </a:p>
                  </a:txBody>
                  <a:tcPr>
                    <a:solidFill>
                      <a:srgbClr val="002B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Feasibility</a:t>
                      </a:r>
                    </a:p>
                  </a:txBody>
                  <a:tcPr>
                    <a:solidFill>
                      <a:srgbClr val="002B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Jobs</a:t>
                      </a:r>
                    </a:p>
                  </a:txBody>
                  <a:tcPr>
                    <a:solidFill>
                      <a:srgbClr val="002B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Import subst.</a:t>
                      </a:r>
                    </a:p>
                  </a:txBody>
                  <a:tcPr>
                    <a:solidFill>
                      <a:srgbClr val="002B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Priority</a:t>
                      </a:r>
                    </a:p>
                  </a:txBody>
                  <a:tcPr>
                    <a:solidFill>
                      <a:srgbClr val="002B5B"/>
                    </a:solidFill>
                  </a:tcPr>
                </a:tc>
              </a:tr>
              <a:tr h="8991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Insulated wire &amp; cable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High (USD 57.7m imports)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High (Cable Corp base)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High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High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Very high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Priority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</a:tr>
              <a:tr h="8991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Copper cathode &amp; cobalt (Kilembe revival)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Medium–High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High (reserves)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Medium (long lead)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High (feedstock)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Priority (enabler)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991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Copper wire rod / semi-fabricates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Medium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Medium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Medium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Medium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High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Priority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</a:tr>
              <a:tr h="8991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Brass / alloy fabricated goods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Low–Med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Conditional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991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Primary copper smelting for export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Low (scale)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Low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Low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Medium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Low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Deprioritize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Automotive — Prioritized products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00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188720"/>
          <a:ext cx="12188946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1278"/>
                <a:gridCol w="1741278"/>
                <a:gridCol w="1741278"/>
                <a:gridCol w="1741278"/>
                <a:gridCol w="1741278"/>
                <a:gridCol w="1741278"/>
                <a:gridCol w="1741278"/>
              </a:tblGrid>
              <a:tr h="89916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Product / sub-sector</a:t>
                      </a:r>
                    </a:p>
                  </a:txBody>
                  <a:tcPr>
                    <a:solidFill>
                      <a:srgbClr val="002B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Market</a:t>
                      </a:r>
                    </a:p>
                  </a:txBody>
                  <a:tcPr>
                    <a:solidFill>
                      <a:srgbClr val="002B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Comp. adv.</a:t>
                      </a:r>
                    </a:p>
                  </a:txBody>
                  <a:tcPr>
                    <a:solidFill>
                      <a:srgbClr val="002B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Feasibility</a:t>
                      </a:r>
                    </a:p>
                  </a:txBody>
                  <a:tcPr>
                    <a:solidFill>
                      <a:srgbClr val="002B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Jobs</a:t>
                      </a:r>
                    </a:p>
                  </a:txBody>
                  <a:tcPr>
                    <a:solidFill>
                      <a:srgbClr val="002B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Import subst.</a:t>
                      </a:r>
                    </a:p>
                  </a:txBody>
                  <a:tcPr>
                    <a:solidFill>
                      <a:srgbClr val="002B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Priority</a:t>
                      </a:r>
                    </a:p>
                  </a:txBody>
                  <a:tcPr>
                    <a:solidFill>
                      <a:srgbClr val="002B5B"/>
                    </a:solidFill>
                  </a:tcPr>
                </a:tc>
              </a:tr>
              <a:tr h="8991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Buses / EV buses (KMC anchor)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High (public fleets)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High (KMC, hydro grid)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Medium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High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High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Priority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</a:tr>
              <a:tr h="8991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Motorcycle assembly (CKD)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Very high (USD 157m)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Very 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Priority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991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Spare parts &amp; components localisation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High (USD 32m+)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Medium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Medium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High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High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Priority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</a:tr>
              <a:tr h="8991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Passenger-car assembly (CKD)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High (USD 298m)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Low–Med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Conditional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991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Full domestic car manufacture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High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Low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Low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Medium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Low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Deprioritize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Cross-cutting priority actions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00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8872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600" b="0">
                <a:solidFill>
                  <a:srgbClr val="333333"/>
                </a:solidFill>
              </a:rPr>
              <a:t>1.  Enforce UNBS standards against substandard metal imports (quick win).</a:t>
            </a:r>
          </a:p>
          <a:p>
            <a:pPr/>
            <a:r>
              <a:rPr sz="1600" b="0">
                <a:solidFill>
                  <a:srgbClr val="333333"/>
                </a:solidFill>
              </a:rPr>
              <a:t>2.  Retain feedstock — tax/limit raw iron-ore and scrap leakage.</a:t>
            </a:r>
          </a:p>
          <a:p>
            <a:pPr/>
            <a:r>
              <a:rPr sz="1600" b="0">
                <a:solidFill>
                  <a:srgbClr val="333333"/>
                </a:solidFill>
              </a:rPr>
              <a:t>3.  Power agreements for heavy industrial loads (steel, smelting).</a:t>
            </a:r>
          </a:p>
          <a:p>
            <a:pPr/>
            <a:r>
              <a:rPr sz="1600" b="0">
                <a:solidFill>
                  <a:srgbClr val="333333"/>
                </a:solidFill>
              </a:rPr>
              <a:t>4.  Long-term industrial finance facility.</a:t>
            </a:r>
          </a:p>
          <a:p>
            <a:pPr/>
            <a:r>
              <a:rPr sz="1600" b="0">
                <a:solidFill>
                  <a:srgbClr val="333333"/>
                </a:solidFill>
              </a:rPr>
              <a:t>5.  Metallurgy &amp; process-engineering skills compact (68% of manufacturers report skills gaps).</a:t>
            </a:r>
          </a:p>
          <a:p>
            <a:pPr/>
            <a:r>
              <a:rPr sz="1600" b="0">
                <a:solidFill>
                  <a:srgbClr val="333333"/>
                </a:solidFill>
              </a:rPr>
              <a:t>6.  Sequence the integrated ore → DRI → steel → product pathway.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29400"/>
            <a:ext cx="12188952" cy="27432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Investment portfolio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00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8872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600" b="0">
                <a:solidFill>
                  <a:srgbClr val="333333"/>
                </a:solidFill>
              </a:rPr>
              <a:t>Indicative portfolio (figures indicative, pending feasibility):</a:t>
            </a:r>
          </a:p>
          <a:p>
            <a:pPr/>
          </a:p>
          <a:p>
            <a:pPr/>
            <a:r>
              <a:rPr sz="1600" b="0">
                <a:solidFill>
                  <a:srgbClr val="333333"/>
                </a:solidFill>
              </a:rPr>
              <a:t>•  Integrated steel (ore→DRI→flat/long): ~USD 0.5–1.0bn — Devki/Tembo anchors.</a:t>
            </a:r>
          </a:p>
          <a:p>
            <a:pPr/>
            <a:r>
              <a:rPr sz="1600" b="0">
                <a:solidFill>
                  <a:srgbClr val="333333"/>
                </a:solidFill>
              </a:rPr>
              <a:t>•  Flat-rolling mill to substitute HS 7208 imports.</a:t>
            </a:r>
          </a:p>
          <a:p>
            <a:pPr/>
            <a:r>
              <a:rPr sz="1600" b="0">
                <a:solidFill>
                  <a:srgbClr val="333333"/>
                </a:solidFill>
              </a:rPr>
              <a:t>•  Kilembe copper cathode + cobalt (production-sharing, Mar 2025).</a:t>
            </a:r>
          </a:p>
          <a:p>
            <a:pPr/>
            <a:r>
              <a:rPr sz="1600" b="0">
                <a:solidFill>
                  <a:srgbClr val="333333"/>
                </a:solidFill>
              </a:rPr>
              <a:t>•  Cable &amp; conductor expansion.</a:t>
            </a:r>
          </a:p>
          <a:p>
            <a:pPr/>
            <a:r>
              <a:rPr sz="1600" b="0">
                <a:solidFill>
                  <a:srgbClr val="333333"/>
                </a:solidFill>
              </a:rPr>
              <a:t>•  Automotive assembly scale-up (Kiira) + parts localisation.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29400"/>
            <a:ext cx="12188952" cy="27432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12188952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Section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65176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The Ask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D6E8F7"/>
                </a:solidFill>
              </a:rPr>
              <a:t>Endorse the prioritized products, approve the cross-cutting actions, and mandate the investment roadmap for partner mobilization.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