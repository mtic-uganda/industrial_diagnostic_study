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MINISTRY OF TRADE, INDUSTRY AND COOPERATIVES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8F7"/>
                </a:solidFill>
              </a:rPr>
              <a:t>Uganda-UNIDO Programme for Country Partnership (PCP)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Inception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8F7"/>
                </a:solidFill>
              </a:rPr>
              <a:t>Iron &amp; Steel  ·  Copper &amp; Allied Metals  ·  Automotive Value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1.  Iron &amp; Steel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2.  Copper &amp; Allied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3.  Automotives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Solomon Ariho  |  27 May 2026  |  Draft — for TWG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This Inception Report covers three priority value chains designated under NDP IV: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  1.  Iron &amp; Steel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2.  Copper &amp; Allied Metals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3.  Automotives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Together, these chains represent Uganda's most significant opportunity for mineral-based industrialization —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anchored in the country's iron ore and copper resource endowments and the strategic push toward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domestic vehicle manufacturing through Kiira Motors Corporation.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This document sets out the study design and workplan, diagnostic framework, data plan,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stakeholder consultation approach, and prioritization methodology.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Study Design &amp; Workplan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Report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972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875520"/>
              </a:tblGrid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Chapter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Executive Summary (written last)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Background and Policy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Methodology and Analytical Framework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Iron &amp; Steel Value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&amp; Allied Metals Value Chain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Automotive Value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Cross-Cutting Priority Actions and Policy Recommendations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Investment Portfolio and Implementation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Workplan and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743200"/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 Date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Inception Report submitted for TWG review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29 May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TWG approval of Inception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31 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2: Background and Policy Context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31 May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3: Methodology and Analytical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4: Iron &amp; Steel — draft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5: Copper &amp; Allied Metals —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6: Automotive — draft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7: Cross-cutting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8: Investment portfolio and roadmap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6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1: Executive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7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Final report submitted to MTIC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8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— Gantt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May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9876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May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6108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2340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8572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4804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79876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36108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234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8572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76688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4804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3292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1417320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435608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Inception Report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7446" y="1503356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913589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TWG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07446" y="1981338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2373283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391571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Ch2 Background &amp; Policy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35562" y="2459320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869553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Ch3 Methodology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63678" y="2937302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3329247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347535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Ch4 Iron &amp; Steel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91794" y="3415283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825517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Ch5 Copper &amp; Allied Metals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910" y="3893265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4285210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303498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Ch6 Automotive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48026" y="4371247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781480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Ch7 Cross-cutting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6142" y="4849229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5241174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259462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Ch8 Investment Roadmap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4258" y="5327211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737444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Ch1 Executive Summary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32374" y="5805193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8600" y="6197138"/>
            <a:ext cx="11704320" cy="477981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215426"/>
            <a:ext cx="2331720" cy="441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Final submission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60490" y="6283174"/>
            <a:ext cx="816742" cy="3059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Diagnostic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8F7"/>
                </a:solidFill>
              </a:rPr>
              <a:t>Six-part template applied across all three chains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Analytical Framework — Six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Part A — Value Chain Map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Full mapping from primary inputs to all end products. Identifies where Uganda currently participates,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where value is lost, and where import substitution and export opportunities exist.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B — Current State Assessment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Production volumes, firms, employment, capacity utilization, export and import values.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C — Binding Constraints Analysis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Ten dimensions: inputs, technology, energy, water, logistics, waste management,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finance, skills, standards, and policy/regulatory environment.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D — Market Assessment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Domestic, regional (EAC/COMESA), and global markets.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E — Prioritized Products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3–4 products per chain selected via the scoring framework. Explicit deprioritization with rationale.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F — Priority Action Matrix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Quick wins (0–12 months) · Policy reforms (1–3 years) · Investment interventions (3–5 years)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Data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Primary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7043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0"/>
              </a:tblGrid>
              <a:tr h="13487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 Chain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Primary Sources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Iron &amp; Steel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NPA/UDC Report on the Mapping and Value Chain Analysis (June 2025); KIIs with 40 steel firms, 5 mining players, 9 MDAs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&amp; Allied Metals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copper wire/cable manufacturers; UNMC on Kilembe mine; MEMD on copper reserves and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Automotives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Kiira Motors Corporation (KMC); bus body fabricators; spare parts manufacturers; MWT on vehicle import data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Gaps and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  <a:gridCol w="5029200"/>
              </a:tblGrid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Chain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Firm-level production data for copper processors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&amp; Allied Metals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UMA member firms; URA HS code trade data as proxy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reserve quantity and grade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&amp; Allied Metals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MEMD consultation; UNMC data on Kilembe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Automotive assembly and body fabrication capacity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Automotives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KMC and private assemblers; URA vehicle import HS codes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Regional copper and automotive market sizing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UN Comtrade; ITC Trade Map; African Development Bank sector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Stakeholder Consultation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Informant Interviews (KIIs)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858000"/>
                <a:gridCol w="2286000"/>
              </a:tblGrid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Stakeholder Category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Institutions / Firms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Chain(s)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Public sector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MTIC, UIA, URA, UBOS, UNBS, UEPB, MEMD, UNMC, KMC, MWT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Iron &amp; Steel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40 steel firms, SINO Minerals, Tembo Steel, Abyssinia Iron &amp; Steel, Roofings Ltd, Steel &amp; Tube, Uganda Baati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Iron &amp; Steel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Copper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wire/cable manufacturers; scrap copper processors; construction materials importers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&amp; Allied Metals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Automotive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KMC; bus body fabricators; spare parts manufacturers and importers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Automotives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Industry associations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 Manufacturers Association (UMA)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Financial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 Development Bank (UDB), Uganda Development Corporation (UDC), East African Development Bank (EADB), commercial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Research / academia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Makerere University (engineering, materials science), UIRI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Validation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A structured stakeholder validation workshop will be held before the report is finalized.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The workshop will: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Present draft prioritization findings for each of the three value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Test priority product selections and action matrices against stakeholder knowledge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Identify material gaps or contested findings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Produce agreed outputs reflected in the final report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Proposed timing:         Week of 2–6 June 2026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                        (after chapter drafts are complete, before final submission)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Proposed participants: TWG members · Private sector representatives · MTIC · UIA · UNBS · UDB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                        and relevant development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Prioritization Methodology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Scoring Framework — Five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377440"/>
                <a:gridCol w="7589520"/>
                <a:gridCol w="914400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Accessible market size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Size and growth rate of domestic, regional, and export market Uganda can realistically access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Uganda's comparative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Availability of raw material inputs, existing productive base, geographic proximity to key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Capital requirements, technology readiness, lead time to commercial scale, management capability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Job creation and income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Direct and indirect employment, wage levels, upstream and downstream linkage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Import substitution impact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Value of current imports that domestic production could displace; current account benefit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Scoring Scale and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789920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Excellent — strong evidence of competitive advantage or large accessible market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Good — solid case with manageable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Moderate — feasible but with significant constraints to address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Weak — limited advantage or small market; would require disproportionate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Poor — Uganda has no realistic competitive position; not recommended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Analytical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Successful countries are known for three or four products.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The economies are built around those few.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Uganda must not try to do everything.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Composite score = sum of (criterion score × criterion weight) across all five criteria.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  ·  Above 3.5   →   Priority product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2.5 – 3.5   →   Conditional priority (subject to enabling conditions)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Below 2.5   →   Explicitly deprioritized with rationale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The output of this study is a focused prioritization, not a catalogue.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Every chain analysis must conclude with a clear statement of what Uganda should do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— and what it should NOT do — at this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Request for TWG Approval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TWG is Requested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1.   Confirm the study scope, diagnostic framework, and assessment templates (Section 3)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2.   Confirm or revise the prioritization criteria and weights (Section 6)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3.   Approve the workplan and timeline in Section 2,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including the 8 June 2026 final submission deadline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4.   Provide any additional guidance before chapter drafting commences</a:t>
            </a:r>
          </a:p>
          <a:p>
            <a:pPr/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Upon TWG approval, chapter drafting will proceed in accordance with the workplan.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The TWG will be kept informed of progress and any material data gaps as they arise.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