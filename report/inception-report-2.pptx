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MINISTRY OF TRADE, INDUSTRY AND COOPERATIVES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8F7"/>
                </a:solidFill>
              </a:rPr>
              <a:t>Uganda-UNIDO Programme for Country Partnership (PCP)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Inception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8F7"/>
                </a:solidFill>
              </a:rPr>
              <a:t>Textiles &amp; Garments  ·  Pharmaceuticals  ·  Petrochemicals &amp; Fertilizers
Sugar &amp; Confectionery  ·  Plastics &amp; Packaging  ·  Cement &amp; Building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1.  Textiles &amp; Garments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2.  Pharmaceuticals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3.  Petrochemicals &amp; Fertilizers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828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4.  Sugar &amp; Confectionery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30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5.  Plastics &amp; Packaging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6.  Cement &amp; Building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Solomon Ariho  |  27 May 2026  |  Draft — for TWG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This Inception Report covers six priority value chains designated under NDP IV: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  1.  Textiles &amp; Garments              4.  Sugar &amp; Confectionery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2.  Pharmaceuticals                    5.  Plastics &amp; Packaging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3.  Petrochemicals &amp; Fertilizers   6.  Cement &amp; Building Materials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Together, these chains represent Uganda's most significant opportunity for agro-industrial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transformation and manufacturing import substitution — anchored in the country's cotton and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agricultural commodity base, proven capacity in sugar and cement production, and the emerging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potential of domestic pharmaceutical manufacturing and petrochemical development linked to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Uganda's oil and gas resources.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This document sets out the study design and workplan, diagnostic framework, data plan,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stakeholder consultation approach, and prioritization methodology.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Study Design &amp; Workplan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Report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0972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875520"/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Chapter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Executive Summary (written last)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Background and Policy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Methodology and Analytical Framework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Textiles &amp; Garments Value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Pharmaceuticals Value Chain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Petrochemicals &amp; Fertilizers Value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Sugar &amp; Confectionery Value Chain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&amp; Packaging Value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Cement &amp; Building Materials Value Chain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Cross-Cutting Priority Actions and Policy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Investment Portfolio and Implementation Roadmap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Workplan and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743200"/>
              </a:tblGrid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 Date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Inception Report submitted for TWG review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29 May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TWG approval of Inception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31 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2: Background and Policy Context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31 May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3: Methodology and Analytical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4: Textiles &amp; Garments — draft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5: Pharmaceuticals —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6: Petrochemicals &amp; Fertilizers — draft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7: Sugar &amp; Confectionery —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8: Plastics &amp; Packaging — draft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6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9: Cement &amp; Building Materials —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6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10: Cross-cutting recommendations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7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11: Investment portfolio and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7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Chapter 1: Executive Summary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8 June 2026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Final report submitted to MTIC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8 June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— Gantt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May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9876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May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6108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2340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8572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4804" y="1216152"/>
            <a:ext cx="9281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Jun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79876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992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36108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234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8572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76688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4804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32920" y="1417320"/>
            <a:ext cx="7315" cy="5257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1417320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435608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Inception Report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7446" y="1484920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811165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TWG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07446" y="1860477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2168434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186722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Ch2 Background &amp; Policy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35562" y="2236034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562279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Ch3 Methodology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63678" y="2611591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2919548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937836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Ch4 Textiles &amp; Garments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91794" y="2987148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313393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Ch5 Pharmaceuticals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910" y="3362706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3670662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688950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Ch6 Petrochemicals &amp; Fert.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48026" y="3738263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064508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Ch7 Sugar &amp; Confectionery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6142" y="4113820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4421777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440065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Ch8 Plastics &amp; Packaging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4258" y="4489377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4815622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Ch9 Cement &amp; Build. Mat.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04258" y="4864934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8600" y="5172891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5191179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Ch10 Cross-cutting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32374" y="5240491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566736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Ch11 Investment Roadmap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32374" y="5616048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5924005"/>
            <a:ext cx="11704320" cy="375557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942293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Ch1 Executive Summary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060490" y="5991606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317850"/>
            <a:ext cx="2331720" cy="33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Final submission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060490" y="6367163"/>
            <a:ext cx="816742" cy="24035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Diagnostic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8F7"/>
                </a:solidFill>
              </a:rPr>
              <a:t>Six-part template applied across all six chains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Analytical Framework — Six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Part A — Value Chain Map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Full mapping from primary inputs to all end products. Identifies where Uganda currently participates,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where value is lost, and where import substitution and export opportunities exist.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B — Current State Assessment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Production volumes, firms, employment, capacity utilization, export and import values.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C — Binding Constraints Analysis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Ten dimensions: inputs, technology, energy, water, logistics, waste management,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finance, skills, standards, and policy/regulatory environment.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D — Market Assessment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Domestic, regional (EAC/COMESA), and global markets.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E — Prioritized Products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3–4 products per chain selected via the scoring framework. Explicit deprioritization with rationale.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Part F — Priority Action Matrix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Quick wins (0–12 months) · Policy reforms (1–3 years) · Investment interventions (3–5 years)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Data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Primary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0"/>
              </a:tblGrid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 Chain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Primary Sources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Textiles &amp; Garments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textile mills, garment manufacturers, cotton ginneries; CDO data; URA trade data by HS code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Pharmaceuticals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pharmaceutical manufacturers; National Drug Authority (NDA) data; URA pharmaceutical import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Petrochemicals &amp; Fertilizers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fertilizer blenders; Ministry of Energy data on oil and gas feedstocks; URA chemical import data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Sugar &amp; Confectionery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sugar manufacturers (Kakira, SCOUL, others); Uganda Sugar Board data; URA sugar trade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&amp; Packaging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plastics manufacturers and recyclers; URA plastic import data; NEMA data on plastic waste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Cement &amp; Building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cement plants; Uganda Cement Industry Association data; URA cement trade data; MEMD limestone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 Gaps and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5212080"/>
              </a:tblGrid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Chain(s)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Firm-level production capacity data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 six chains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KIIs with UMA member firms; URA HS code trade data as proxy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Cotton lint processing capacity vs. installed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Textiles &amp; Garments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CDO consultation; UMA textile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Pharmaceutical manufacturing output by product type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Pharmaceuticals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NDA manufacturer register; KIIs with top 10 manufacturers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 feedstock availability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Petrochemicals &amp; Fertilizers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Ministry of Energy and TOTAL/CNOOC/Tullow project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recycling capacity and waste volumes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&amp; Packaging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NEMA; KIIs with recyclers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Limestone reserve quality and location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Cement &amp; Building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MEMD geological survey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Stakeholder Consultation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Informant Interviews (KIIs)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858000"/>
                <a:gridCol w="2286000"/>
              </a:tblGrid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Stakeholder Category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Institutions / Firms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Chain(s)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Public sector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MTIC, UIA, URA, UBOS, UNBS, UEPB, NDA, CDO, Uganda Sugar Board, NEMA, Ministry of Energy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Textiles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Nytil, Phenix Logistics, garment exporters, cotton ginneries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Textiles &amp; Garments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Pharmaceuticals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Cipla Quality Chemical, Abacus Pharma, Rene Industries, Joint Medical Store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Pharmaceuticals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Petrochemicals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Fertilizer blenders, petroleum distributors, oil sector players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Petrochemicals &amp; Fertilizers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Sugar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Kakira Sugar Works, SCOUL, Kinyara Sugar, Mayuge Sugar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Sugar &amp; Confectionery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Plastics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Crown Beverages, plastics manufacturers in Namanve, recycling firms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&amp; 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Private sector — Cement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Hima Cement, Tororo Cement, National Cement Company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Cement &amp; Building Materials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Industry associations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 Manufacturers Association (UMA), Uganda Pharmaceutical Manufacturers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Financial Institutions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 Development Bank (UDB), Uganda Development Corporation (UDC), East African Development Bank (EADB), commercial banks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Research / academia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Makerere University (pharmacy, chemistry, engineering), UIRI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Validation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A structured stakeholder validation workshop will be held before the report is finalized.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The workshop will: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Present draft prioritization findings for each of the six value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Test priority product selections and action matrices against stakeholder knowledge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Identify material gaps or contested findings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Produce agreed outputs reflected in the final report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Proposed timing:         Week of 2–6 June 2026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                        (after chapter drafts are complete, before final submission)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                        May be combined with the Report 1 validation workshop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Proposed participants: TWG members · Private sector representatives from each of the six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                            MTIC · UIA · UNBS · NDA · UDB · relevant development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Prioritization Methodology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Scoring Framework — Five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377440"/>
                <a:gridCol w="7589520"/>
                <a:gridCol w="914400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Accessible market size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Size and growth rate of domestic, regional, and export market Uganda can realistically access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Uganda's comparative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Availability of raw material inputs, existing productive base, geographic proximity to key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Capital requirements, technology readiness, lead time to commercial scale, management capability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Job creation and income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Direct and indirect employment, wage levels, upstream and downstream linkage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Import substitution impact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Value of current imports that domestic production could displace; current account benefit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Scoring Scale and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8872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789920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Excellent — strong evidence of competitive advantage or large accessible market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Good — solid case with manageable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Moderate — feasible but with significant constraints to address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Weak — limited advantage or small market; would require disproportionate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Poor — Uganda has no realistic competitive position; not recommended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Analytical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Successful countries are known for three or four products.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The economies are built around those few.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Uganda must not try to do everything.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Composite score = sum of (criterion score × criterion weight) across all five criteria.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  ·  Above 3.5   →   Priority product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2.5 – 3.5   →   Conditional priority (subject to enabling conditions)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·  Below 2.5   →   Explicitly deprioritized with rationale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With six value chains in scope, the discipline of focused prioritization is especially important.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The output must be a clear, defensible set of priorities — not a catalogue.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Request for TWG Approval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TWG is Requested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1.   Confirm the study scope, diagnostic framework, and assessment templates (Section 3)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2.   Confirm or revise the prioritization criteria and weights (Section 6)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3.   Approve the workplan and timeline in Section 2,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      including the 8 June 2026 final submission deadline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4.   Provide any additional guidance before chapter drafting commences</a:t>
            </a:r>
          </a:p>
          <a:p>
            <a:pPr/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Upon TWG approval, chapter drafting will proceed in accordance with the workplan.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The TWG will be kept informed of progress and any material data gaps as they arise.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