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73152"/>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9144000" cy="457200"/>
          </a:xfrm>
          <a:prstGeom prst="rect">
            <a:avLst/>
          </a:prstGeom>
          <a:noFill/>
        </p:spPr>
        <p:txBody>
          <a:bodyPr wrap="square">
            <a:spAutoFit/>
          </a:bodyPr>
          <a:lstStyle/>
          <a:p>
            <a:pPr algn="l"/>
            <a:r>
              <a:rPr sz="1100" b="0" i="0">
                <a:solidFill>
                  <a:srgbClr val="D6E8F7"/>
                </a:solidFill>
              </a:rPr>
              <a:t>MINISTRY OF TRADE, INDUSTRY AND COOPERATIVES</a:t>
            </a:r>
          </a:p>
        </p:txBody>
      </p:sp>
      <p:sp>
        <p:nvSpPr>
          <p:cNvPr id="5" name="TextBox 4"/>
          <p:cNvSpPr txBox="1"/>
          <p:nvPr/>
        </p:nvSpPr>
        <p:spPr>
          <a:xfrm>
            <a:off x="457200" y="640080"/>
            <a:ext cx="9144000" cy="365760"/>
          </a:xfrm>
          <a:prstGeom prst="rect">
            <a:avLst/>
          </a:prstGeom>
          <a:noFill/>
        </p:spPr>
        <p:txBody>
          <a:bodyPr wrap="square">
            <a:spAutoFit/>
          </a:bodyPr>
          <a:lstStyle/>
          <a:p>
            <a:pPr algn="l"/>
            <a:r>
              <a:rPr sz="1100" b="0" i="1">
                <a:solidFill>
                  <a:srgbClr val="D6E8F7"/>
                </a:solidFill>
              </a:rPr>
              <a:t>Uganda-UNIDO Programme for Country Partnership (PCP)</a:t>
            </a:r>
          </a:p>
        </p:txBody>
      </p:sp>
      <p:sp>
        <p:nvSpPr>
          <p:cNvPr id="6" name="TextBox 5"/>
          <p:cNvSpPr txBox="1"/>
          <p:nvPr/>
        </p:nvSpPr>
        <p:spPr>
          <a:xfrm>
            <a:off x="457200" y="1371600"/>
            <a:ext cx="11247120" cy="1828800"/>
          </a:xfrm>
          <a:prstGeom prst="rect">
            <a:avLst/>
          </a:prstGeom>
          <a:noFill/>
        </p:spPr>
        <p:txBody>
          <a:bodyPr wrap="square">
            <a:spAutoFit/>
          </a:bodyPr>
          <a:lstStyle/>
          <a:p>
            <a:pPr algn="l"/>
            <a:r>
              <a:rPr sz="3600" b="1" i="0">
                <a:solidFill>
                  <a:srgbClr val="FFFFFF"/>
                </a:solidFill>
              </a:rPr>
              <a:t>Industrial Diagnostic Study — Report 2</a:t>
            </a:r>
          </a:p>
        </p:txBody>
      </p:sp>
      <p:sp>
        <p:nvSpPr>
          <p:cNvPr id="7" name="TextBox 6"/>
          <p:cNvSpPr txBox="1"/>
          <p:nvPr/>
        </p:nvSpPr>
        <p:spPr>
          <a:xfrm>
            <a:off x="457200" y="3291840"/>
            <a:ext cx="11247120" cy="548640"/>
          </a:xfrm>
          <a:prstGeom prst="rect">
            <a:avLst/>
          </a:prstGeom>
          <a:noFill/>
        </p:spPr>
        <p:txBody>
          <a:bodyPr wrap="square">
            <a:spAutoFit/>
          </a:bodyPr>
          <a:lstStyle/>
          <a:p>
            <a:pPr algn="l"/>
            <a:r>
              <a:rPr sz="1800" b="0" i="0">
                <a:solidFill>
                  <a:srgbClr val="D6E8F7"/>
                </a:solidFill>
              </a:rPr>
              <a:t>Textiles · Pharma · Petrochemicals &amp; Fertilizers · Sugar · Plastics · Cement</a:t>
            </a:r>
          </a:p>
        </p:txBody>
      </p:sp>
      <p:sp>
        <p:nvSpPr>
          <p:cNvPr id="8" name="TextBox 7"/>
          <p:cNvSpPr txBox="1"/>
          <p:nvPr/>
        </p:nvSpPr>
        <p:spPr>
          <a:xfrm>
            <a:off x="457200" y="3840480"/>
            <a:ext cx="9144000" cy="365760"/>
          </a:xfrm>
          <a:prstGeom prst="rect">
            <a:avLst/>
          </a:prstGeom>
          <a:noFill/>
        </p:spPr>
        <p:txBody>
          <a:bodyPr wrap="square">
            <a:spAutoFit/>
          </a:bodyPr>
          <a:lstStyle/>
          <a:p>
            <a:pPr algn="l"/>
            <a:r>
              <a:rPr sz="1500" b="0" i="0">
                <a:solidFill>
                  <a:srgbClr val="FFFFFF"/>
                </a:solidFill>
              </a:rPr>
              <a:t>  1.  Textiles &amp; Garments</a:t>
            </a:r>
          </a:p>
        </p:txBody>
      </p:sp>
      <p:sp>
        <p:nvSpPr>
          <p:cNvPr id="9" name="TextBox 8"/>
          <p:cNvSpPr txBox="1"/>
          <p:nvPr/>
        </p:nvSpPr>
        <p:spPr>
          <a:xfrm>
            <a:off x="457200" y="4187952"/>
            <a:ext cx="9144000" cy="365760"/>
          </a:xfrm>
          <a:prstGeom prst="rect">
            <a:avLst/>
          </a:prstGeom>
          <a:noFill/>
        </p:spPr>
        <p:txBody>
          <a:bodyPr wrap="square">
            <a:spAutoFit/>
          </a:bodyPr>
          <a:lstStyle/>
          <a:p>
            <a:pPr algn="l"/>
            <a:r>
              <a:rPr sz="1500" b="0" i="0">
                <a:solidFill>
                  <a:srgbClr val="FFFFFF"/>
                </a:solidFill>
              </a:rPr>
              <a:t>  2.  Pharmaceuticals</a:t>
            </a:r>
          </a:p>
        </p:txBody>
      </p:sp>
      <p:sp>
        <p:nvSpPr>
          <p:cNvPr id="10" name="TextBox 9"/>
          <p:cNvSpPr txBox="1"/>
          <p:nvPr/>
        </p:nvSpPr>
        <p:spPr>
          <a:xfrm>
            <a:off x="457200" y="4535424"/>
            <a:ext cx="9144000" cy="365760"/>
          </a:xfrm>
          <a:prstGeom prst="rect">
            <a:avLst/>
          </a:prstGeom>
          <a:noFill/>
        </p:spPr>
        <p:txBody>
          <a:bodyPr wrap="square">
            <a:spAutoFit/>
          </a:bodyPr>
          <a:lstStyle/>
          <a:p>
            <a:pPr algn="l"/>
            <a:r>
              <a:rPr sz="1500" b="0" i="0">
                <a:solidFill>
                  <a:srgbClr val="FFFFFF"/>
                </a:solidFill>
              </a:rPr>
              <a:t>  3.  Petrochemicals &amp; Fertilizers</a:t>
            </a:r>
          </a:p>
        </p:txBody>
      </p:sp>
      <p:sp>
        <p:nvSpPr>
          <p:cNvPr id="11" name="TextBox 10"/>
          <p:cNvSpPr txBox="1"/>
          <p:nvPr/>
        </p:nvSpPr>
        <p:spPr>
          <a:xfrm>
            <a:off x="457200" y="4882896"/>
            <a:ext cx="9144000" cy="365760"/>
          </a:xfrm>
          <a:prstGeom prst="rect">
            <a:avLst/>
          </a:prstGeom>
          <a:noFill/>
        </p:spPr>
        <p:txBody>
          <a:bodyPr wrap="square">
            <a:spAutoFit/>
          </a:bodyPr>
          <a:lstStyle/>
          <a:p>
            <a:pPr algn="l"/>
            <a:r>
              <a:rPr sz="1500" b="0" i="0">
                <a:solidFill>
                  <a:srgbClr val="FFFFFF"/>
                </a:solidFill>
              </a:rPr>
              <a:t>  4.  Sugar &amp; Confectionery</a:t>
            </a:r>
          </a:p>
        </p:txBody>
      </p:sp>
      <p:sp>
        <p:nvSpPr>
          <p:cNvPr id="12" name="TextBox 11"/>
          <p:cNvSpPr txBox="1"/>
          <p:nvPr/>
        </p:nvSpPr>
        <p:spPr>
          <a:xfrm>
            <a:off x="457200" y="5230368"/>
            <a:ext cx="9144000" cy="365760"/>
          </a:xfrm>
          <a:prstGeom prst="rect">
            <a:avLst/>
          </a:prstGeom>
          <a:noFill/>
        </p:spPr>
        <p:txBody>
          <a:bodyPr wrap="square">
            <a:spAutoFit/>
          </a:bodyPr>
          <a:lstStyle/>
          <a:p>
            <a:pPr algn="l"/>
            <a:r>
              <a:rPr sz="1500" b="0" i="0">
                <a:solidFill>
                  <a:srgbClr val="FFFFFF"/>
                </a:solidFill>
              </a:rPr>
              <a:t>  5.  Plastics &amp; Packaging</a:t>
            </a:r>
          </a:p>
        </p:txBody>
      </p:sp>
      <p:sp>
        <p:nvSpPr>
          <p:cNvPr id="13" name="TextBox 12"/>
          <p:cNvSpPr txBox="1"/>
          <p:nvPr/>
        </p:nvSpPr>
        <p:spPr>
          <a:xfrm>
            <a:off x="457200" y="5577840"/>
            <a:ext cx="9144000" cy="365760"/>
          </a:xfrm>
          <a:prstGeom prst="rect">
            <a:avLst/>
          </a:prstGeom>
          <a:noFill/>
        </p:spPr>
        <p:txBody>
          <a:bodyPr wrap="square">
            <a:spAutoFit/>
          </a:bodyPr>
          <a:lstStyle/>
          <a:p>
            <a:pPr algn="l"/>
            <a:r>
              <a:rPr sz="1500" b="0" i="0">
                <a:solidFill>
                  <a:srgbClr val="FFFFFF"/>
                </a:solidFill>
              </a:rPr>
              <a:t>  6.  Cement &amp; Building Materials</a:t>
            </a:r>
          </a:p>
        </p:txBody>
      </p:sp>
      <p:sp>
        <p:nvSpPr>
          <p:cNvPr id="14" name="TextBox 13"/>
          <p:cNvSpPr txBox="1"/>
          <p:nvPr/>
        </p:nvSpPr>
        <p:spPr>
          <a:xfrm>
            <a:off x="457200" y="6400800"/>
            <a:ext cx="10972800" cy="365760"/>
          </a:xfrm>
          <a:prstGeom prst="rect">
            <a:avLst/>
          </a:prstGeom>
          <a:noFill/>
        </p:spPr>
        <p:txBody>
          <a:bodyPr wrap="square">
            <a:spAutoFit/>
          </a:bodyPr>
          <a:lstStyle/>
          <a:p>
            <a:pPr algn="l"/>
            <a:r>
              <a:rPr sz="1100" b="0" i="0">
                <a:solidFill>
                  <a:srgbClr val="666666"/>
                </a:solidFill>
              </a:rPr>
              <a:t>Solomon Ariho  |  27 May 2026  |  Draft — for TWG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1</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1: 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The purpose of this report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diagnostic examines six of Uganda's NDP IV priority manufacturing value chains — Textiles &amp; Garments, Pharmaceuticals, Petrochemicals &amp; Fertilizers, Sugar &amp; Confectionery, Plastics &amp; Packaging, and Cement &amp; Building Materials — and identifies, for each, the three to four products Uganda should prioritize for competitive manufacturing. It is a desk-based diagnostic, offered for validation through key informant interviews and a stakeholder workshop (Chapter 3). All trade figures are from ITC TradeMap (2024), cited at the point of use.</a:t>
            </a:r>
          </a:p>
          <a:p>
            <a:pPr/>
            <a:r>
              <a:rPr sz="1600" b="0">
                <a:solidFill>
                  <a:srgbClr val="333333"/>
                </a:solidFill>
              </a:rPr>
              <a:t>•  The guiding principle is discipline: successful economies are built around a few products done exceptionally well. With six chains in scope, this report is deliberately selective — it states what to prioritize and what to set aside.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The recurring pattern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Across all six chains, one pattern dominates: Uganda exports or under-processes raw inputs and imports the finished product. It exports cotton lint and imports textiles; imports ~90% of medicines; imports clinker while exporting cement; imports plastics and packaging; under-supplies its own fertilizer need. The strategic opportunity in every chain is the same — move up the value chain, substitute imports, and add value to what Uganda already produces.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What the evidence shows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Manufacturing is about 15.2% of GDP (2024), below the National Industrial Policy's own ~16% target for 2029/30 (World Bank; NIP 2020). Chain by chain (ITC TradeMap, 2024 unless noted):</a:t>
            </a:r>
          </a:p>
          <a:p>
            <a:pPr/>
            <a:r>
              <a:rPr sz="1600" b="0">
                <a:solidFill>
                  <a:srgbClr val="333333"/>
                </a:solidFill>
              </a:rPr>
              <a:t>•  Textiles &amp; Garments: ~90% of cotton lint is exported raw at under USD 1/kg; 39 ginneries run at ~10% capacity; only two integrated mills (Nytil, Fine Spinners). The lint-to-garment value gap is among the largest in the economy.</a:t>
            </a:r>
          </a:p>
          <a:p>
            <a:pPr/>
            <a:r>
              <a:rPr sz="1600" b="0">
                <a:solidFill>
                  <a:srgbClr val="333333"/>
                </a:solidFill>
              </a:rPr>
              <a:t>•  Pharmaceuticals: ~90% of medicines imported (down from 96% in 2016); medicaments imports USD 263.4m; market ~USD 221m. But Uganda has a proven WHO-GMP base — Cipla QCIL (~1.2bn tablets/year) exporting regionally.</a:t>
            </a:r>
          </a:p>
          <a:p>
            <a:pPr/>
            <a:r>
              <a:rPr sz="1600" b="0">
                <a:solidFill>
                  <a:srgbClr val="333333"/>
                </a:solidFill>
              </a:rPr>
              <a:t>•  Petrochemicals &amp; Fertilizers: the Sukulu fertilizer plant has stalled (shut 2021, halted again 2023) while Uganda needs ~1m t of fertilizer and imports ~50,000 t; the Kabaale refinery + Kabalega petrochemical park (Alpha MBM deal, March 2025) is the medium-term feedstock anchor (~2029–30).</a:t>
            </a:r>
          </a:p>
          <a:p>
            <a:pPr/>
            <a:r>
              <a:rPr sz="1600" b="0">
                <a:solidFill>
                  <a:srgbClr val="333333"/>
                </a:solidFill>
              </a:rPr>
              <a:t>•  Sugar &amp; Confectionery: structural surplus (~822,000 t output vs ~370,000 t consumption); the opportunity is downstream (industrial sugar, ethanol, co-generation), not more raw sugar — and over-licensing of mills must be disciplined.</a:t>
            </a:r>
          </a:p>
          <a:p>
            <a:pPr/>
            <a:r>
              <a:rPr sz="1600" b="0">
                <a:solidFill>
                  <a:srgbClr val="333333"/>
                </a:solidFill>
              </a:rPr>
              <a:t>•  Plastics &amp; Packaging: ~150,000 t/year imported; packaging imports USD 37.1m; 600 t/day of plastic waste with &lt;40% collected; a 2025 NEMA single-use-bag ban reshapes the sector toward recycling and alternatives.</a:t>
            </a:r>
          </a:p>
          <a:p>
            <a:pPr/>
            <a:r>
              <a:rPr sz="1600" b="0">
                <a:solidFill>
                  <a:srgbClr val="333333"/>
                </a:solidFill>
              </a:rPr>
              <a:t>•  Cement &amp; Building Materials: a USD 707m market (2024, +12%) and a competitive regional exporter (USD 86m), but it imports &gt;50% of its clinker (USD 162m import line) — the clear value-addition prize, with new USD 200–300m clinker plants underway.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Prioritized products (the core recommendation)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770708">
                <a:tc>
                  <a:txBody>
                    <a:bodyPr/>
                    <a:lstStyle/>
                    <a:p>
                      <a:pPr algn="l"/>
                      <a:r>
                        <a:rPr sz="1300" b="1">
                          <a:solidFill>
                            <a:srgbClr val="FFFFFF"/>
                          </a:solidFill>
                        </a:rPr>
                        <a:t>Chain</a:t>
                      </a:r>
                    </a:p>
                  </a:txBody>
                  <a:tcPr>
                    <a:solidFill>
                      <a:srgbClr val="002B5B"/>
                    </a:solidFill>
                  </a:tcPr>
                </a:tc>
                <a:tc>
                  <a:txBody>
                    <a:bodyPr/>
                    <a:lstStyle/>
                    <a:p>
                      <a:pPr algn="l"/>
                      <a:r>
                        <a:rPr sz="1300" b="1">
                          <a:solidFill>
                            <a:srgbClr val="FFFFFF"/>
                          </a:solidFill>
                        </a:rPr>
                        <a:t>Priorities</a:t>
                      </a:r>
                    </a:p>
                  </a:txBody>
                  <a:tcPr>
                    <a:solidFill>
                      <a:srgbClr val="002B5B"/>
                    </a:solidFill>
                  </a:tcPr>
                </a:tc>
                <a:tc>
                  <a:txBody>
                    <a:bodyPr/>
                    <a:lstStyle/>
                    <a:p>
                      <a:pPr algn="l"/>
                      <a:r>
                        <a:rPr sz="1300" b="1">
                          <a:solidFill>
                            <a:srgbClr val="FFFFFF"/>
                          </a:solidFill>
                        </a:rPr>
                        <a:t>Deprioritize (for now)</a:t>
                      </a:r>
                    </a:p>
                  </a:txBody>
                  <a:tcPr>
                    <a:solidFill>
                      <a:srgbClr val="002B5B"/>
                    </a:solidFill>
                  </a:tcPr>
                </a:tc>
              </a:tr>
              <a:tr h="770708">
                <a:tc>
                  <a:txBody>
                    <a:bodyPr/>
                    <a:lstStyle/>
                    <a:p>
                      <a:pPr algn="l"/>
                      <a:r>
                        <a:rPr sz="1200" b="0">
                          <a:solidFill>
                            <a:srgbClr val="333333"/>
                          </a:solidFill>
                        </a:rPr>
                        <a:t>**Textiles &amp; Garments**</a:t>
                      </a:r>
                    </a:p>
                  </a:txBody>
                  <a:tcPr>
                    <a:solidFill>
                      <a:srgbClr val="D6E8F7"/>
                    </a:solidFill>
                  </a:tcPr>
                </a:tc>
                <a:tc>
                  <a:txBody>
                    <a:bodyPr/>
                    <a:lstStyle/>
                    <a:p>
                      <a:pPr algn="l"/>
                      <a:r>
                        <a:rPr sz="1200" b="0">
                          <a:solidFill>
                            <a:srgbClr val="333333"/>
                          </a:solidFill>
                        </a:rPr>
                        <a:t>(1) Garments/apparel; (2) Yarn &amp; fabric; (3) Cottonseed oil &amp; cake</a:t>
                      </a:r>
                    </a:p>
                  </a:txBody>
                  <a:tcPr>
                    <a:solidFill>
                      <a:srgbClr val="D6E8F7"/>
                    </a:solidFill>
                  </a:tcPr>
                </a:tc>
                <a:tc>
                  <a:txBody>
                    <a:bodyPr/>
                    <a:lstStyle/>
                    <a:p>
                      <a:pPr algn="l"/>
                      <a:r>
                        <a:rPr sz="1200" b="0">
                          <a:solidFill>
                            <a:srgbClr val="333333"/>
                          </a:solidFill>
                        </a:rPr>
                        <a:t>Commodity textile export to global market</a:t>
                      </a:r>
                    </a:p>
                  </a:txBody>
                  <a:tcPr>
                    <a:solidFill>
                      <a:srgbClr val="D6E8F7"/>
                    </a:solidFill>
                  </a:tcPr>
                </a:tc>
              </a:tr>
              <a:tr h="770708">
                <a:tc>
                  <a:txBody>
                    <a:bodyPr/>
                    <a:lstStyle/>
                    <a:p>
                      <a:pPr algn="l"/>
                      <a:r>
                        <a:rPr sz="1200" b="0">
                          <a:solidFill>
                            <a:srgbClr val="333333"/>
                          </a:solidFill>
                        </a:rPr>
                        <a:t>**Pharmaceuticals**</a:t>
                      </a:r>
                    </a:p>
                  </a:txBody>
                  <a:tcPr>
                    <a:solidFill>
                      <a:srgbClr val="FFFFFF"/>
                    </a:solidFill>
                  </a:tcPr>
                </a:tc>
                <a:tc>
                  <a:txBody>
                    <a:bodyPr/>
                    <a:lstStyle/>
                    <a:p>
                      <a:pPr algn="l"/>
                      <a:r>
                        <a:rPr sz="1200" b="0">
                          <a:solidFill>
                            <a:srgbClr val="333333"/>
                          </a:solidFill>
                        </a:rPr>
                        <a:t>(1) Essential generics (ARVs, antimalarials, anti-TB, NCD); (2) Medical consumables; (3) Selective API</a:t>
                      </a:r>
                    </a:p>
                  </a:txBody>
                  <a:tcPr>
                    <a:solidFill>
                      <a:srgbClr val="FFFFFF"/>
                    </a:solidFill>
                  </a:tcPr>
                </a:tc>
                <a:tc>
                  <a:txBody>
                    <a:bodyPr/>
                    <a:lstStyle/>
                    <a:p>
                      <a:pPr algn="l"/>
                      <a:r>
                        <a:rPr sz="1200" b="0">
                          <a:solidFill>
                            <a:srgbClr val="333333"/>
                          </a:solidFill>
                        </a:rPr>
                        <a:t>Broad-spectrum API synthesis at scale</a:t>
                      </a:r>
                    </a:p>
                  </a:txBody>
                  <a:tcPr>
                    <a:solidFill>
                      <a:srgbClr val="FFFFFF"/>
                    </a:solidFill>
                  </a:tcPr>
                </a:tc>
              </a:tr>
              <a:tr h="770708">
                <a:tc>
                  <a:txBody>
                    <a:bodyPr/>
                    <a:lstStyle/>
                    <a:p>
                      <a:pPr algn="l"/>
                      <a:r>
                        <a:rPr sz="1200" b="0">
                          <a:solidFill>
                            <a:srgbClr val="333333"/>
                          </a:solidFill>
                        </a:rPr>
                        <a:t>**Petrochemicals &amp; Fertilizers**</a:t>
                      </a:r>
                    </a:p>
                  </a:txBody>
                  <a:tcPr>
                    <a:solidFill>
                      <a:srgbClr val="D6E8F7"/>
                    </a:solidFill>
                  </a:tcPr>
                </a:tc>
                <a:tc>
                  <a:txBody>
                    <a:bodyPr/>
                    <a:lstStyle/>
                    <a:p>
                      <a:pPr algn="l"/>
                      <a:r>
                        <a:rPr sz="1200" b="0">
                          <a:solidFill>
                            <a:srgbClr val="333333"/>
                          </a:solidFill>
                        </a:rPr>
                        <a:t>(1) Fertilizer (blending + phosphate revival); (2) Sulphuric acid/chemicals; (3) Petrochemicals (sequenced to refinery)</a:t>
                      </a:r>
                    </a:p>
                  </a:txBody>
                  <a:tcPr>
                    <a:solidFill>
                      <a:srgbClr val="D6E8F7"/>
                    </a:solidFill>
                  </a:tcPr>
                </a:tc>
                <a:tc>
                  <a:txBody>
                    <a:bodyPr/>
                    <a:lstStyle/>
                    <a:p>
                      <a:pPr algn="l"/>
                      <a:r>
                        <a:rPr sz="1200" b="0">
                          <a:solidFill>
                            <a:srgbClr val="333333"/>
                          </a:solidFill>
                        </a:rPr>
                        <a:t>Greenfield specialty chemicals; premature refined-product export</a:t>
                      </a:r>
                    </a:p>
                  </a:txBody>
                  <a:tcPr>
                    <a:solidFill>
                      <a:srgbClr val="D6E8F7"/>
                    </a:solidFill>
                  </a:tcPr>
                </a:tc>
              </a:tr>
              <a:tr h="770708">
                <a:tc>
                  <a:txBody>
                    <a:bodyPr/>
                    <a:lstStyle/>
                    <a:p>
                      <a:pPr algn="l"/>
                      <a:r>
                        <a:rPr sz="1200" b="0">
                          <a:solidFill>
                            <a:srgbClr val="333333"/>
                          </a:solidFill>
                        </a:rPr>
                        <a:t>**Sugar &amp; Confectionery**</a:t>
                      </a:r>
                    </a:p>
                  </a:txBody>
                  <a:tcPr>
                    <a:solidFill>
                      <a:srgbClr val="FFFFFF"/>
                    </a:solidFill>
                  </a:tcPr>
                </a:tc>
                <a:tc>
                  <a:txBody>
                    <a:bodyPr/>
                    <a:lstStyle/>
                    <a:p>
                      <a:pPr algn="l"/>
                      <a:r>
                        <a:rPr sz="1200" b="0">
                          <a:solidFill>
                            <a:srgbClr val="333333"/>
                          </a:solidFill>
                        </a:rPr>
                        <a:t>(1) Industrial/refined sugar; (2) Ethanol; (3) Co-generation</a:t>
                      </a:r>
                    </a:p>
                  </a:txBody>
                  <a:tcPr>
                    <a:solidFill>
                      <a:srgbClr val="FFFFFF"/>
                    </a:solidFill>
                  </a:tcPr>
                </a:tc>
                <a:tc>
                  <a:txBody>
                    <a:bodyPr/>
                    <a:lstStyle/>
                    <a:p>
                      <a:pPr algn="l"/>
                      <a:r>
                        <a:rPr sz="1200" b="0">
                          <a:solidFill>
                            <a:srgbClr val="333333"/>
                          </a:solidFill>
                        </a:rPr>
                        <a:t>More raw brown-sugar capacity (already in surplus)</a:t>
                      </a:r>
                    </a:p>
                  </a:txBody>
                  <a:tcPr>
                    <a:solidFill>
                      <a:srgbClr val="FFFFFF"/>
                    </a:solidFill>
                  </a:tcPr>
                </a:tc>
              </a:tr>
              <a:tr h="770708">
                <a:tc>
                  <a:txBody>
                    <a:bodyPr/>
                    <a:lstStyle/>
                    <a:p>
                      <a:pPr algn="l"/>
                      <a:r>
                        <a:rPr sz="1200" b="0">
                          <a:solidFill>
                            <a:srgbClr val="333333"/>
                          </a:solidFill>
                        </a:rPr>
                        <a:t>**Plastics &amp; Packaging**</a:t>
                      </a:r>
                    </a:p>
                  </a:txBody>
                  <a:tcPr>
                    <a:solidFill>
                      <a:srgbClr val="D6E8F7"/>
                    </a:solidFill>
                  </a:tcPr>
                </a:tc>
                <a:tc>
                  <a:txBody>
                    <a:bodyPr/>
                    <a:lstStyle/>
                    <a:p>
                      <a:pPr algn="l"/>
                      <a:r>
                        <a:rPr sz="1200" b="0">
                          <a:solidFill>
                            <a:srgbClr val="333333"/>
                          </a:solidFill>
                        </a:rPr>
                        <a:t>(1) Industrial/food packaging; (2) Recycling; (3) Agri/cement packaging</a:t>
                      </a:r>
                    </a:p>
                  </a:txBody>
                  <a:tcPr>
                    <a:solidFill>
                      <a:srgbClr val="D6E8F7"/>
                    </a:solidFill>
                  </a:tcPr>
                </a:tc>
                <a:tc>
                  <a:txBody>
                    <a:bodyPr/>
                    <a:lstStyle/>
                    <a:p>
                      <a:pPr algn="l"/>
                      <a:r>
                        <a:rPr sz="1200" b="0">
                          <a:solidFill>
                            <a:srgbClr val="333333"/>
                          </a:solidFill>
                        </a:rPr>
                        <a:t>Single-use carrier bags (2025 ban)</a:t>
                      </a:r>
                    </a:p>
                  </a:txBody>
                  <a:tcPr>
                    <a:solidFill>
                      <a:srgbClr val="D6E8F7"/>
                    </a:solidFill>
                  </a:tcPr>
                </a:tc>
              </a:tr>
              <a:tr h="770712">
                <a:tc>
                  <a:txBody>
                    <a:bodyPr/>
                    <a:lstStyle/>
                    <a:p>
                      <a:pPr algn="l"/>
                      <a:r>
                        <a:rPr sz="1200" b="0">
                          <a:solidFill>
                            <a:srgbClr val="333333"/>
                          </a:solidFill>
                        </a:rPr>
                        <a:t>**Cement &amp; Building Materials**</a:t>
                      </a:r>
                    </a:p>
                  </a:txBody>
                  <a:tcPr>
                    <a:solidFill>
                      <a:srgbClr val="FFFFFF"/>
                    </a:solidFill>
                  </a:tcPr>
                </a:tc>
                <a:tc>
                  <a:txBody>
                    <a:bodyPr/>
                    <a:lstStyle/>
                    <a:p>
                      <a:pPr algn="l"/>
                      <a:r>
                        <a:rPr sz="1200" b="0">
                          <a:solidFill>
                            <a:srgbClr val="333333"/>
                          </a:solidFill>
                        </a:rPr>
                        <a:t>(1) Clinker production; (2) Finished cement (regional export); (3) Higher-value building materials</a:t>
                      </a:r>
                    </a:p>
                  </a:txBody>
                  <a:tcPr>
                    <a:solidFill>
                      <a:srgbClr val="FFFFFF"/>
                    </a:solidFill>
                  </a:tcPr>
                </a:tc>
                <a:tc>
                  <a:txBody>
                    <a:bodyPr/>
                    <a:lstStyle/>
                    <a:p>
                      <a:pPr algn="l"/>
                      <a:r>
                        <a:rPr sz="1200" b="0">
                          <a:solidFill>
                            <a:srgbClr val="333333"/>
                          </a:solidFill>
                        </a:rPr>
                        <a:t>Specialty/white cement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The seven cross-cutting actions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1. Favour domestic value addition over raw-commodity export / finished-goods import.</a:t>
            </a:r>
          </a:p>
          <a:p>
            <a:pPr/>
            <a:r>
              <a:rPr sz="1600" b="0">
                <a:solidFill>
                  <a:srgbClr val="333333"/>
                </a:solidFill>
              </a:rPr>
              <a:t>2. Enforce UNBS and NDA standards — the highest-leverage quick win for Report 2.</a:t>
            </a:r>
          </a:p>
          <a:p>
            <a:pPr/>
            <a:r>
              <a:rPr sz="1600" b="0">
                <a:solidFill>
                  <a:srgbClr val="333333"/>
                </a:solidFill>
              </a:rPr>
              <a:t>3. Anchor demand through public procurement (medicines, uniforms, cement, fertilizer).</a:t>
            </a:r>
          </a:p>
          <a:p>
            <a:pPr/>
            <a:r>
              <a:rPr sz="1600" b="0">
                <a:solidFill>
                  <a:srgbClr val="333333"/>
                </a:solidFill>
              </a:rPr>
              <a:t>4. Build parks, utilities, effluent, and circular-economy infrastructure.</a:t>
            </a:r>
          </a:p>
          <a:p>
            <a:pPr/>
            <a:r>
              <a:rPr sz="1600" b="0">
                <a:solidFill>
                  <a:srgbClr val="333333"/>
                </a:solidFill>
              </a:rPr>
              <a:t>5. Create a long-term industrial-finance facility (2025 liquidity tightening has crowded out private credit).</a:t>
            </a:r>
          </a:p>
          <a:p>
            <a:pPr/>
            <a:r>
              <a:rPr sz="1600" b="0">
                <a:solidFill>
                  <a:srgbClr val="333333"/>
                </a:solidFill>
              </a:rPr>
              <a:t>6. Launch a cross-sector skills compact (68% of manufacturers cannot find needed technical skills).</a:t>
            </a:r>
          </a:p>
          <a:p>
            <a:pPr/>
            <a:r>
              <a:rPr sz="1600" b="0">
                <a:solidFill>
                  <a:srgbClr val="333333"/>
                </a:solidFill>
              </a:rPr>
              <a:t>7. Sequence the petrochemical park and prepare its downstream linkages (plastics, fertilizer) now.</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Investment portfolio</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Excluding the investor-financed refinery (~USD 4bn, separately anchored), the priority investments total an indicative USD 0.6–1.3 billion over five years (figures indicative, pending feasibility), mostly private-led. The roadmap front-loads policy, standards, and procurement (Year 1), builds finance/skills/infrastructure (Years 2–3), and commissions major capital — including the refinery/petrochemical park — in Years 4–5. Full profiles are in Chapter 11.</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 — Bottom line for decision-makers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Report 2's chains divide into three groups, each with a clear move:</a:t>
            </a:r>
          </a:p>
          <a:p>
            <a:pPr/>
            <a:r>
              <a:rPr sz="1600" b="0">
                <a:solidFill>
                  <a:srgbClr val="333333"/>
                </a:solidFill>
              </a:rPr>
              <a:t>•  The decision this report supports is to concentrate scarce resources on the prioritized products and the seven cross-cutting actions — turning Uganda's agricultural base, established sugar and cement industries, proven pharmaceutical capability, and emerging oil sector into a value-adding, import-substituting industrial system, rather than spreading effort across everything.</a:t>
            </a:r>
          </a:p>
          <a:p>
            <a:pPr/>
            <a:r>
              <a:rPr sz="1600" b="0">
                <a:solidFill>
                  <a:srgbClr val="333333"/>
                </a:solidFill>
              </a:rPr>
              <a:t>•  This summary reflects desk-based findings to be confirmed through the validation step in Chapter 3.</a:t>
            </a:r>
          </a:p>
          <a:p>
            <a:pPr/>
            <a:r>
              <a:rPr sz="1600" b="0">
                <a:solidFill>
                  <a:srgbClr val="333333"/>
                </a:solidFill>
              </a:rPr>
              <a:t>•  Build on proven strength — sugar (go downstream), cement (close the clinker gap), pharmaceuticals (scale GMP generics).</a:t>
            </a:r>
          </a:p>
          <a:p>
            <a:pPr/>
            <a:r>
              <a:rPr sz="1600" b="0">
                <a:solidFill>
                  <a:srgbClr val="333333"/>
                </a:solidFill>
              </a:rPr>
              <a:t>•  Capture the value being exported raw — textiles (process the lint), fertilizer (supply the farms).</a:t>
            </a:r>
          </a:p>
          <a:p>
            <a:pPr/>
            <a:r>
              <a:rPr sz="1600" b="0">
                <a:solidFill>
                  <a:srgbClr val="333333"/>
                </a:solidFill>
              </a:rPr>
              <a:t>•  Sequence the transformational bet — the petrochemical park, with plastics recycling and packaging prepared to use its output.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2</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2: Background and Policy Context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2.1 Uganda's Industrialization Ambition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Uganda's long-term industrialization trajectory is anchored in a hierarchy of national planning instruments that define the targets, sectoral priorities, and institutional responsibilities framing this diagnostic.</a:t>
            </a:r>
          </a:p>
          <a:p>
            <a:pPr/>
            <a:r>
              <a:rPr sz="1600" b="0">
                <a:solidFill>
                  <a:srgbClr val="333333"/>
                </a:solidFill>
              </a:rPr>
              <a:t>•  Uganda Vision 2040 sets the overarching direction: transformation to a competitive upper-middle-income country, targeting a GDP of approximately USD 581 billion and per-capita income of USD 9,500 by 2040, with industrialization — particularly agro-processing and resource-based manufacturing — as a central engine (National Planning Authority, Uganda Vision 2040).</a:t>
            </a:r>
          </a:p>
          <a:p>
            <a:pPr/>
            <a:r>
              <a:rPr sz="1600" b="0">
                <a:solidFill>
                  <a:srgbClr val="333333"/>
                </a:solidFill>
              </a:rPr>
              <a:t>•  The Fourth National Development Plan (NDP IV), FY2025/26–2029/30, approved by Parliament in January 2026 under the theme "Sustainable Industrialization for inclusive growth, employment, and wealth creation," targets GDP of USD 158 billion by FY2029/30 (from USD 53.2 billion in FY2023/24), per-capita income of USD 2,008, and 10.1% annual growth by FY2029/30 (Parliament of Uganda; Ministry of Finance, Planning and Economic Development). The six value chains in this report — Textiles &amp; Garments, Pharmaceuticals, Petrochemicals &amp; Fertilizers, Sugar &amp; Confectionery, Plastics &amp; Packaging, and Cement &amp; Building Materials — are among the priority manufacturing chains identified for industrial-policy support, anchored largely in Uganda's agricultural base and its import-substitution opportunities.</a:t>
            </a:r>
          </a:p>
          <a:p>
            <a:pPr/>
            <a:r>
              <a:rPr sz="1600" b="0">
                <a:solidFill>
                  <a:srgbClr val="333333"/>
                </a:solidFill>
              </a:rPr>
              <a:t>•  The National Industrial Policy (NIP) 2020 provides the sector framework: raising manufacturing's contribution to GDP, deepening domestic value addition, and reducing dependence on imported intermediate and finished goods (MTIC, NIP 2020). It designates MTIC as lead coordinating ministry and calls for value-chain diagnostics — the mandate for this study.</a:t>
            </a:r>
          </a:p>
          <a:p>
            <a:pPr/>
            <a:r>
              <a:rPr sz="1600" b="0">
                <a:solidFill>
                  <a:srgbClr val="333333"/>
                </a:solidFill>
              </a:rPr>
              <a:t>•  The MTIC Strategic Plan translates these objectives into ministerial priorities: facilitating private investment, leading value-chain technical working groups, and coordinating UIA, UEPB, UNBS, NDA, NEMA, and other agencies.</a:t>
            </a:r>
          </a:p>
          <a:p>
            <a:pPr/>
            <a:r>
              <a:rPr sz="1600" b="0">
                <a:solidFill>
                  <a:srgbClr val="333333"/>
                </a:solidFill>
              </a:rPr>
              <a:t>•  The Tenfold Growth Strategy targets growing the economy roughly tenfold (≈USD 50bn → USD 500bn), organized around ATMs — Agro-industrialization, Tourism, Minerals, and Science, Technology &amp; Innovation (STI). For Report 2, agro-industrialization is the dominant driver: textiles (cotton), sugar, and pharmaceuticals all build on Uganda's agricultural and resource base, while cement, plastics, and fertilizers are core import-substitution and input industries.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2.2 The Uganda–UNIDO Programme for Country Partnership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Uganda–UNIDO Programme for Country Partnership (PCP) for Inclusive and Sustainable Industrial Development (ISID) is the framework within which this study is produced — a government-led model to mobilize coordinated technical assistance and investment around Uganda's industrial priorities (UNIDO, Programme for Country Partnership).</a:t>
            </a:r>
          </a:p>
          <a:p>
            <a:pPr/>
            <a:r>
              <a:rPr sz="1600" b="0">
                <a:solidFill>
                  <a:srgbClr val="333333"/>
                </a:solidFill>
              </a:rPr>
              <a:t>•  The Uganda PCP operates across six priority areas:</a:t>
            </a:r>
          </a:p>
          <a:p>
            <a:pPr/>
            <a:r>
              <a:rPr sz="1600" b="0">
                <a:solidFill>
                  <a:srgbClr val="333333"/>
                </a:solidFill>
              </a:rPr>
              <a:t>•  This study supports PCP Priority Areas 1 and 2, providing technical inputs for the six Report 2 value chains.</a:t>
            </a:r>
          </a:p>
          <a:p>
            <a:pPr/>
            <a:r>
              <a:rPr sz="1600" b="0">
                <a:solidFill>
                  <a:srgbClr val="333333"/>
                </a:solidFill>
              </a:rPr>
              <a:t>1. Strengthening industrial policy implementation and institutional coordination.</a:t>
            </a:r>
          </a:p>
          <a:p>
            <a:pPr/>
            <a:r>
              <a:rPr sz="1600" b="0">
                <a:solidFill>
                  <a:srgbClr val="333333"/>
                </a:solidFill>
              </a:rPr>
              <a:t>2. Mobilizing large-scale public and private investment for agro- and mineral-based industrialization.</a:t>
            </a:r>
          </a:p>
          <a:p>
            <a:pPr/>
            <a:r>
              <a:rPr sz="1600" b="0">
                <a:solidFill>
                  <a:srgbClr val="333333"/>
                </a:solidFill>
              </a:rPr>
              <a:t>3. Supporting sustainable industrial parks and free zones.</a:t>
            </a:r>
          </a:p>
          <a:p>
            <a:pPr/>
            <a:r>
              <a:rPr sz="1600" b="0">
                <a:solidFill>
                  <a:srgbClr val="333333"/>
                </a:solidFill>
              </a:rPr>
              <a:t>4. Strengthening national standards, quality infrastructure, and accreditation systems — especially important for pharmaceuticals (NDA/WHO-GMP) and food/cement standards.</a:t>
            </a:r>
          </a:p>
          <a:p>
            <a:pPr/>
            <a:r>
              <a:rPr sz="1600" b="0">
                <a:solidFill>
                  <a:srgbClr val="333333"/>
                </a:solidFill>
              </a:rPr>
              <a:t>5. Advancing green industry, circular economy, and Industry 4.0 solutions — directly relevant to plastics circularity.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2.2 The Uganda–UNIDO Programme for Country Partnership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6. Supporting productive use of renewable energy and energy efficiency — relevant to energy-intensive cement.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2.3 Current State of Uganda's Manufacturing Sector</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Manufacturing value added was about 15.2% of GDP in 2024 (World Bank, WDI), below the NIP 2020 target of ~16% by FY2029/30, at roughly 30% capacity utilization (indicative; to be confirmed from latest UBOS data).</a:t>
            </a:r>
          </a:p>
          <a:p>
            <a:pPr/>
            <a:r>
              <a:rPr sz="1600" b="0">
                <a:solidFill>
                  <a:srgbClr val="333333"/>
                </a:solidFill>
              </a:rPr>
              <a:t>•  Structural characteristics relevant to Report 2:</a:t>
            </a:r>
          </a:p>
          <a:p>
            <a:pPr/>
            <a:r>
              <a:rPr sz="1600" b="0">
                <a:solidFill>
                  <a:srgbClr val="333333"/>
                </a:solidFill>
              </a:rPr>
              <a:t>•  Agro-processing under-capture — Uganda exports raw agricultural commodities (notably cotton lint) and imports the processed product (textiles, garments), forgoing value addition (ITC TradeMap, 2024).</a:t>
            </a:r>
          </a:p>
          <a:p>
            <a:pPr/>
            <a:r>
              <a:rPr sz="1600" b="0">
                <a:solidFill>
                  <a:srgbClr val="333333"/>
                </a:solidFill>
              </a:rPr>
              <a:t>•  High import dependence in manufactured essentials — pharmaceuticals, fertilizers, plastics, and cement clinker are substantially imported, creating both current-account pressure and import-substitution opportunity.</a:t>
            </a:r>
          </a:p>
          <a:p>
            <a:pPr/>
            <a:r>
              <a:rPr sz="1600" b="0">
                <a:solidFill>
                  <a:srgbClr val="333333"/>
                </a:solidFill>
              </a:rPr>
              <a:t>•  Established processing in sugar and cement — unlike Report 1's metals, sugar and cement are areas where Uganda already has competitive domestic production and, in sugar, structural surplus.</a:t>
            </a:r>
          </a:p>
          <a:p>
            <a:pPr/>
            <a:r>
              <a:rPr sz="1600" b="0">
                <a:solidFill>
                  <a:srgbClr val="333333"/>
                </a:solidFill>
              </a:rPr>
              <a:t>•  Strong regional export orientation — over 70% of Uganda's manufactured exports go to regional markets (Uganda Investment Authority, 2025).</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2.4 Rationale for the Six Priority Value Chains in This Re</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six chains were selected through MTIC's prioritization process drawing on NDP IV, NIP priorities, Uganda's agricultural and resource base, and import-substitution potential.</a:t>
            </a:r>
          </a:p>
          <a:p>
            <a:pPr/>
            <a:r>
              <a:rPr sz="1600" b="0">
                <a:solidFill>
                  <a:srgbClr val="333333"/>
                </a:solidFill>
              </a:rPr>
              <a:t>•  Textiles &amp; Garments — Uganda grows cotton but exports ~90% of its lint raw at under USD 1/kg, with only two vertically integrated mills consuming the rest (Cotton Development Organisation; EPRC). The value-addition gap from lint to fabric to garment is among the largest in the economy.</a:t>
            </a:r>
          </a:p>
          <a:p>
            <a:pPr/>
            <a:r>
              <a:rPr sz="1600" b="0">
                <a:solidFill>
                  <a:srgbClr val="333333"/>
                </a:solidFill>
              </a:rPr>
              <a:t>•  Pharmaceuticals — Uganda imports ~90% of its medicines (down from 96% in 2016); the medical and pharmaceutical import bill reached USD 534 million in 2023, with a domestic market around USD 221 million and a small but growing WHO-GMP manufacturing base led by Cipla QCIL (Statista; UNIDO Pharmaceutical Sector Profile; NDA).</a:t>
            </a:r>
          </a:p>
          <a:p>
            <a:pPr/>
            <a:r>
              <a:rPr sz="1600" b="0">
                <a:solidFill>
                  <a:srgbClr val="333333"/>
                </a:solidFill>
              </a:rPr>
              <a:t>•  Petrochemicals &amp; Fertilizers — Uganda's emerging oil sector (the Kabaale refinery and Kabalega Petrochemical Industrial Park) creates a future petrochemical feedstock base, while fertilizer demand vastly exceeds the stalled domestic supply at Sukulu — a critical agricultural-input gap (UNOC; PAU; Osukuru complex records).</a:t>
            </a:r>
          </a:p>
          <a:p>
            <a:pPr/>
            <a:r>
              <a:rPr sz="1600" b="0">
                <a:solidFill>
                  <a:srgbClr val="333333"/>
                </a:solidFill>
              </a:rPr>
              <a:t>•  Sugar &amp; Confectionery — Uganda is in structural sugar surplus (~822,000 t output vs ~370,000 t consumption), making downstream diversification (industrial sugar, confectionery, ethanol, co-generation) the priority rather than more raw sugar (Uganda Sugar Manufacturers' Association; sector data).</a:t>
            </a:r>
          </a:p>
          <a:p>
            <a:pPr/>
            <a:r>
              <a:rPr sz="1600" b="0">
                <a:solidFill>
                  <a:srgbClr val="333333"/>
                </a:solidFill>
              </a:rPr>
              <a:t>•  Plastics &amp; Packaging — Uganda imports ~150,000 t of plastics a year and is a net importer of packaging, while facing a 2025 policy shift toward a single-use-plastic ban and circularity (NEMA).</a:t>
            </a:r>
          </a:p>
          <a:p>
            <a:pPr/>
            <a:r>
              <a:rPr sz="1600" b="0">
                <a:solidFill>
                  <a:srgbClr val="333333"/>
                </a:solidFill>
              </a:rPr>
              <a:t>•  Cement &amp; Building Materials — a domestic-production success with a market of USD 707 million (2024), but dependent on imported clinker (&gt;50%) — the clear value-addition and import-substitution target (IndexBox; CemNet).</a:t>
            </a:r>
          </a:p>
          <a:p>
            <a:pPr/>
            <a:r>
              <a:rPr sz="1600" b="0">
                <a:solidFill>
                  <a:srgbClr val="333333"/>
                </a:solidFill>
              </a:rPr>
              <a:t>•  The analytical question is identical across all six: which 3–4 products or sub-sectors offer the most credible path to competitive manufacturing at scale?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2.5 NDP IV and Tenfold Targets Relevant to This Report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Indicator</a:t>
                      </a:r>
                    </a:p>
                  </a:txBody>
                  <a:tcPr>
                    <a:solidFill>
                      <a:srgbClr val="002B5B"/>
                    </a:solidFill>
                  </a:tcPr>
                </a:tc>
                <a:tc>
                  <a:txBody>
                    <a:bodyPr/>
                    <a:lstStyle/>
                    <a:p>
                      <a:pPr algn="l"/>
                      <a:r>
                        <a:rPr sz="1300" b="1">
                          <a:solidFill>
                            <a:srgbClr val="FFFFFF"/>
                          </a:solidFill>
                        </a:rPr>
                        <a:t>Current Baseline</a:t>
                      </a:r>
                    </a:p>
                  </a:txBody>
                  <a:tcPr>
                    <a:solidFill>
                      <a:srgbClr val="002B5B"/>
                    </a:solidFill>
                  </a:tcPr>
                </a:tc>
                <a:tc>
                  <a:txBody>
                    <a:bodyPr/>
                    <a:lstStyle/>
                    <a:p>
                      <a:pPr algn="l"/>
                      <a:r>
                        <a:rPr sz="1300" b="1">
                          <a:solidFill>
                            <a:srgbClr val="FFFFFF"/>
                          </a:solidFill>
                        </a:rPr>
                        <a:t>NDP IV / NIP direction</a:t>
                      </a:r>
                    </a:p>
                  </a:txBody>
                  <a:tcPr>
                    <a:solidFill>
                      <a:srgbClr val="002B5B"/>
                    </a:solidFill>
                  </a:tcPr>
                </a:tc>
                <a:tc>
                  <a:txBody>
                    <a:bodyPr/>
                    <a:lstStyle/>
                    <a:p>
                      <a:pPr algn="l"/>
                      <a:r>
                        <a:rPr sz="1300" b="1">
                          <a:solidFill>
                            <a:srgbClr val="FFFFFF"/>
                          </a:solidFill>
                        </a:rPr>
                        <a:t>Tenfold horizon (2040)</a:t>
                      </a:r>
                    </a:p>
                  </a:txBody>
                  <a:tcPr>
                    <a:solidFill>
                      <a:srgbClr val="002B5B"/>
                    </a:solidFill>
                  </a:tcPr>
                </a:tc>
              </a:tr>
              <a:tr h="770708">
                <a:tc>
                  <a:txBody>
                    <a:bodyPr/>
                    <a:lstStyle/>
                    <a:p>
                      <a:pPr algn="l"/>
                      <a:r>
                        <a:rPr sz="1200" b="0">
                          <a:solidFill>
                            <a:srgbClr val="333333"/>
                          </a:solidFill>
                        </a:rPr>
                        <a:t>Manufacturing share of GDP</a:t>
                      </a:r>
                    </a:p>
                  </a:txBody>
                  <a:tcPr>
                    <a:solidFill>
                      <a:srgbClr val="D6E8F7"/>
                    </a:solidFill>
                  </a:tcPr>
                </a:tc>
                <a:tc>
                  <a:txBody>
                    <a:bodyPr/>
                    <a:lstStyle/>
                    <a:p>
                      <a:pPr algn="l"/>
                      <a:r>
                        <a:rPr sz="1200" b="0">
                          <a:solidFill>
                            <a:srgbClr val="333333"/>
                          </a:solidFill>
                        </a:rPr>
                        <a:t>15.2% (2024, World Bank)</a:t>
                      </a:r>
                    </a:p>
                  </a:txBody>
                  <a:tcPr>
                    <a:solidFill>
                      <a:srgbClr val="D6E8F7"/>
                    </a:solidFill>
                  </a:tcPr>
                </a:tc>
                <a:tc>
                  <a:txBody>
                    <a:bodyPr/>
                    <a:lstStyle/>
                    <a:p>
                      <a:pPr algn="l"/>
                      <a:r>
                        <a:rPr sz="1200" b="0">
                          <a:solidFill>
                            <a:srgbClr val="333333"/>
                          </a:solidFill>
                        </a:rPr>
                        <a:t>toward 16%+ by FY29/30 (NIP)</a:t>
                      </a:r>
                    </a:p>
                  </a:txBody>
                  <a:tcPr>
                    <a:solidFill>
                      <a:srgbClr val="D6E8F7"/>
                    </a:solidFill>
                  </a:tcPr>
                </a:tc>
                <a:tc>
                  <a:txBody>
                    <a:bodyPr/>
                    <a:lstStyle/>
                    <a:p>
                      <a:pPr algn="l"/>
                      <a:r>
                        <a:rPr sz="1200" b="0">
                          <a:solidFill>
                            <a:srgbClr val="333333"/>
                          </a:solidFill>
                        </a:rPr>
                        <a:t>20%+ (Vision 2040)</a:t>
                      </a:r>
                    </a:p>
                  </a:txBody>
                  <a:tcPr>
                    <a:solidFill>
                      <a:srgbClr val="D6E8F7"/>
                    </a:solidFill>
                  </a:tcPr>
                </a:tc>
              </a:tr>
              <a:tr h="770708">
                <a:tc>
                  <a:txBody>
                    <a:bodyPr/>
                    <a:lstStyle/>
                    <a:p>
                      <a:pPr algn="l"/>
                      <a:r>
                        <a:rPr sz="1200" b="0">
                          <a:solidFill>
                            <a:srgbClr val="333333"/>
                          </a:solidFill>
                        </a:rPr>
                        <a:t>GDP</a:t>
                      </a:r>
                    </a:p>
                  </a:txBody>
                  <a:tcPr>
                    <a:solidFill>
                      <a:srgbClr val="FFFFFF"/>
                    </a:solidFill>
                  </a:tcPr>
                </a:tc>
                <a:tc>
                  <a:txBody>
                    <a:bodyPr/>
                    <a:lstStyle/>
                    <a:p>
                      <a:pPr algn="l"/>
                      <a:r>
                        <a:rPr sz="1200" b="0">
                          <a:solidFill>
                            <a:srgbClr val="333333"/>
                          </a:solidFill>
                        </a:rPr>
                        <a:t>USD 53.2bn (FY23/24)</a:t>
                      </a:r>
                    </a:p>
                  </a:txBody>
                  <a:tcPr>
                    <a:solidFill>
                      <a:srgbClr val="FFFFFF"/>
                    </a:solidFill>
                  </a:tcPr>
                </a:tc>
                <a:tc>
                  <a:txBody>
                    <a:bodyPr/>
                    <a:lstStyle/>
                    <a:p>
                      <a:pPr algn="l"/>
                      <a:r>
                        <a:rPr sz="1200" b="0">
                          <a:solidFill>
                            <a:srgbClr val="333333"/>
                          </a:solidFill>
                        </a:rPr>
                        <a:t>USD 158bn by FY29/30 (NDP IV)</a:t>
                      </a:r>
                    </a:p>
                  </a:txBody>
                  <a:tcPr>
                    <a:solidFill>
                      <a:srgbClr val="FFFFFF"/>
                    </a:solidFill>
                  </a:tcPr>
                </a:tc>
                <a:tc>
                  <a:txBody>
                    <a:bodyPr/>
                    <a:lstStyle/>
                    <a:p>
                      <a:pPr algn="l"/>
                      <a:r>
                        <a:rPr sz="1200" b="0">
                          <a:solidFill>
                            <a:srgbClr val="333333"/>
                          </a:solidFill>
                        </a:rPr>
                        <a:t>~USD 500bn (Tenfold)</a:t>
                      </a:r>
                    </a:p>
                  </a:txBody>
                  <a:tcPr>
                    <a:solidFill>
                      <a:srgbClr val="FFFFFF"/>
                    </a:solidFill>
                  </a:tcPr>
                </a:tc>
              </a:tr>
              <a:tr h="770708">
                <a:tc>
                  <a:txBody>
                    <a:bodyPr/>
                    <a:lstStyle/>
                    <a:p>
                      <a:pPr algn="l"/>
                      <a:r>
                        <a:rPr sz="1200" b="0">
                          <a:solidFill>
                            <a:srgbClr val="333333"/>
                          </a:solidFill>
                        </a:rPr>
                        <a:t>Per capita income</a:t>
                      </a:r>
                    </a:p>
                  </a:txBody>
                  <a:tcPr>
                    <a:solidFill>
                      <a:srgbClr val="D6E8F7"/>
                    </a:solidFill>
                  </a:tcPr>
                </a:tc>
                <a:tc>
                  <a:txBody>
                    <a:bodyPr/>
                    <a:lstStyle/>
                    <a:p>
                      <a:pPr algn="l"/>
                      <a:r>
                        <a:rPr sz="1200" b="0">
                          <a:solidFill>
                            <a:srgbClr val="333333"/>
                          </a:solidFill>
                        </a:rPr>
                        <a:t>USD 1,146 (FY23/24)</a:t>
                      </a:r>
                    </a:p>
                  </a:txBody>
                  <a:tcPr>
                    <a:solidFill>
                      <a:srgbClr val="D6E8F7"/>
                    </a:solidFill>
                  </a:tcPr>
                </a:tc>
                <a:tc>
                  <a:txBody>
                    <a:bodyPr/>
                    <a:lstStyle/>
                    <a:p>
                      <a:pPr algn="l"/>
                      <a:r>
                        <a:rPr sz="1200" b="0">
                          <a:solidFill>
                            <a:srgbClr val="333333"/>
                          </a:solidFill>
                        </a:rPr>
                        <a:t>USD 2,008 by FY29/30 (NDP IV)</a:t>
                      </a:r>
                    </a:p>
                  </a:txBody>
                  <a:tcPr>
                    <a:solidFill>
                      <a:srgbClr val="D6E8F7"/>
                    </a:solidFill>
                  </a:tcPr>
                </a:tc>
                <a:tc>
                  <a:txBody>
                    <a:bodyPr/>
                    <a:lstStyle/>
                    <a:p>
                      <a:pPr algn="l"/>
                      <a:r>
                        <a:rPr sz="1200" b="0">
                          <a:solidFill>
                            <a:srgbClr val="333333"/>
                          </a:solidFill>
                        </a:rPr>
                        <a:t>USD 9,500 (Vision 2040)</a:t>
                      </a:r>
                    </a:p>
                  </a:txBody>
                  <a:tcPr>
                    <a:solidFill>
                      <a:srgbClr val="D6E8F7"/>
                    </a:solidFill>
                  </a:tcPr>
                </a:tc>
              </a:tr>
              <a:tr h="770708">
                <a:tc>
                  <a:txBody>
                    <a:bodyPr/>
                    <a:lstStyle/>
                    <a:p>
                      <a:pPr algn="l"/>
                      <a:r>
                        <a:rPr sz="1200" b="0">
                          <a:solidFill>
                            <a:srgbClr val="333333"/>
                          </a:solidFill>
                        </a:rPr>
                        <a:t>Manufactured exports to region</a:t>
                      </a:r>
                    </a:p>
                  </a:txBody>
                  <a:tcPr>
                    <a:solidFill>
                      <a:srgbClr val="FFFFFF"/>
                    </a:solidFill>
                  </a:tcPr>
                </a:tc>
                <a:tc>
                  <a:txBody>
                    <a:bodyPr/>
                    <a:lstStyle/>
                    <a:p>
                      <a:pPr algn="l"/>
                      <a:r>
                        <a:rPr sz="1200" b="0">
                          <a:solidFill>
                            <a:srgbClr val="333333"/>
                          </a:solidFill>
                        </a:rPr>
                        <a:t>&gt;70% regional (UIA 2025)</a:t>
                      </a:r>
                    </a:p>
                  </a:txBody>
                  <a:tcPr>
                    <a:solidFill>
                      <a:srgbClr val="FFFFFF"/>
                    </a:solidFill>
                  </a:tcPr>
                </a:tc>
                <a:tc>
                  <a:txBody>
                    <a:bodyPr/>
                    <a:lstStyle/>
                    <a:p>
                      <a:pPr algn="l"/>
                      <a:r>
                        <a:rPr sz="1200" b="0">
                          <a:solidFill>
                            <a:srgbClr val="333333"/>
                          </a:solidFill>
                        </a:rPr>
                        <a:t>rising</a:t>
                      </a:r>
                    </a:p>
                  </a:txBody>
                  <a:tcPr>
                    <a:solidFill>
                      <a:srgbClr val="FFFFFF"/>
                    </a:solidFill>
                  </a:tcPr>
                </a:tc>
                <a:tc>
                  <a:txBody>
                    <a:bodyPr/>
                    <a:lstStyle/>
                    <a:p>
                      <a:pPr algn="l"/>
                      <a:r>
                        <a:rPr sz="1200" b="0">
                          <a:solidFill>
                            <a:srgbClr val="333333"/>
                          </a:solidFill>
                        </a:rPr>
                        <a:t>dominant</a:t>
                      </a:r>
                    </a:p>
                  </a:txBody>
                  <a:tcPr>
                    <a:solidFill>
                      <a:srgbClr val="FFFFFF"/>
                    </a:solidFill>
                  </a:tcPr>
                </a:tc>
              </a:tr>
              <a:tr h="770708">
                <a:tc>
                  <a:txBody>
                    <a:bodyPr/>
                    <a:lstStyle/>
                    <a:p>
                      <a:pPr algn="l"/>
                      <a:r>
                        <a:rPr sz="1200" b="0">
                          <a:solidFill>
                            <a:srgbClr val="333333"/>
                          </a:solidFill>
                        </a:rPr>
                        <a:t>Cotton lint value addition</a:t>
                      </a:r>
                    </a:p>
                  </a:txBody>
                  <a:tcPr>
                    <a:solidFill>
                      <a:srgbClr val="D6E8F7"/>
                    </a:solidFill>
                  </a:tcPr>
                </a:tc>
                <a:tc>
                  <a:txBody>
                    <a:bodyPr/>
                    <a:lstStyle/>
                    <a:p>
                      <a:pPr algn="l"/>
                      <a:r>
                        <a:rPr sz="1200" b="0">
                          <a:solidFill>
                            <a:srgbClr val="333333"/>
                          </a:solidFill>
                        </a:rPr>
                        <a:t>~10% processed domestically</a:t>
                      </a:r>
                    </a:p>
                  </a:txBody>
                  <a:tcPr>
                    <a:solidFill>
                      <a:srgbClr val="D6E8F7"/>
                    </a:solidFill>
                  </a:tcPr>
                </a:tc>
                <a:tc>
                  <a:txBody>
                    <a:bodyPr/>
                    <a:lstStyle/>
                    <a:p>
                      <a:pPr algn="l"/>
                      <a:r>
                        <a:rPr sz="1200" b="0">
                          <a:solidFill>
                            <a:srgbClr val="333333"/>
                          </a:solidFill>
                        </a:rPr>
                        <a:t>rising</a:t>
                      </a:r>
                    </a:p>
                  </a:txBody>
                  <a:tcPr>
                    <a:solidFill>
                      <a:srgbClr val="D6E8F7"/>
                    </a:solidFill>
                  </a:tcPr>
                </a:tc>
                <a:tc>
                  <a:txBody>
                    <a:bodyPr/>
                    <a:lstStyle/>
                    <a:p>
                      <a:pPr algn="l"/>
                      <a:r>
                        <a:rPr sz="1200" b="0">
                          <a:solidFill>
                            <a:srgbClr val="333333"/>
                          </a:solidFill>
                        </a:rPr>
                        <a:t>majority processed</a:t>
                      </a:r>
                    </a:p>
                  </a:txBody>
                  <a:tcPr>
                    <a:solidFill>
                      <a:srgbClr val="D6E8F7"/>
                    </a:solidFill>
                  </a:tcPr>
                </a:tc>
              </a:tr>
              <a:tr h="770712">
                <a:tc>
                  <a:txBody>
                    <a:bodyPr/>
                    <a:lstStyle/>
                    <a:p>
                      <a:pPr algn="l"/>
                      <a:r>
                        <a:rPr sz="1200" b="0">
                          <a:solidFill>
                            <a:srgbClr val="333333"/>
                          </a:solidFill>
                        </a:rPr>
                        <a:t>Pharmaceutical local production</a:t>
                      </a:r>
                    </a:p>
                  </a:txBody>
                  <a:tcPr>
                    <a:solidFill>
                      <a:srgbClr val="FFFFFF"/>
                    </a:solidFill>
                  </a:tcPr>
                </a:tc>
                <a:tc>
                  <a:txBody>
                    <a:bodyPr/>
                    <a:lstStyle/>
                    <a:p>
                      <a:pPr algn="l"/>
                      <a:r>
                        <a:rPr sz="1200" b="0">
                          <a:solidFill>
                            <a:srgbClr val="333333"/>
                          </a:solidFill>
                        </a:rPr>
                        <a:t>~10% of market</a:t>
                      </a:r>
                    </a:p>
                  </a:txBody>
                  <a:tcPr>
                    <a:solidFill>
                      <a:srgbClr val="FFFFFF"/>
                    </a:solidFill>
                  </a:tcPr>
                </a:tc>
                <a:tc>
                  <a:txBody>
                    <a:bodyPr/>
                    <a:lstStyle/>
                    <a:p>
                      <a:pPr algn="l"/>
                      <a:r>
                        <a:rPr sz="1200" b="0">
                          <a:solidFill>
                            <a:srgbClr val="333333"/>
                          </a:solidFill>
                        </a:rPr>
                        <a:t>rising</a:t>
                      </a:r>
                    </a:p>
                  </a:txBody>
                  <a:tcPr>
                    <a:solidFill>
                      <a:srgbClr val="FFFFFF"/>
                    </a:solidFill>
                  </a:tcPr>
                </a:tc>
                <a:tc>
                  <a:txBody>
                    <a:bodyPr/>
                    <a:lstStyle/>
                    <a:p>
                      <a:pPr algn="l"/>
                      <a:r>
                        <a:rPr sz="1200" b="0">
                          <a:solidFill>
                            <a:srgbClr val="333333"/>
                          </a:solidFill>
                        </a:rPr>
                        <a:t>substantial</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2.5 NDP IV and Tenfold Targets Relevant to This Report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Achieving these targets requires moving from raw-commodity export and finished-goods import toward domestic value addition. Chapters 4–9 provide the chain-by-chain prioritization.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National Planning Authority, Uganda Vision 2040; NDP IV (FY2025/26–2029/30). https://npa.go.ug/national-development-plan/</a:t>
            </a:r>
          </a:p>
          <a:p>
            <a:pPr/>
            <a:r>
              <a:rPr sz="1600" b="0">
                <a:solidFill>
                  <a:srgbClr val="333333"/>
                </a:solidFill>
              </a:rPr>
              <a:t>•  Parliament of Uganda, NDP IV launch. https://www.parliament.go.ug/news/3724/president-launches-ndp-iv-drive-ugandas-economic-transformation</a:t>
            </a:r>
          </a:p>
          <a:p>
            <a:pPr/>
            <a:r>
              <a:rPr sz="1600" b="0">
                <a:solidFill>
                  <a:srgbClr val="333333"/>
                </a:solidFill>
              </a:rPr>
              <a:t>•  MTIC, National Industrial Policy 2020. https://www.mtic.go.ug/</a:t>
            </a:r>
          </a:p>
          <a:p>
            <a:pPr/>
            <a:r>
              <a:rPr sz="1600" b="0">
                <a:solidFill>
                  <a:srgbClr val="333333"/>
                </a:solidFill>
              </a:rPr>
              <a:t>•  UNIDO, Programme for Country Partnership. https://www.unido.org/programme-country-partnership</a:t>
            </a:r>
          </a:p>
          <a:p>
            <a:pPr/>
            <a:r>
              <a:rPr sz="1600" b="0">
                <a:solidFill>
                  <a:srgbClr val="333333"/>
                </a:solidFill>
              </a:rPr>
              <a:t>•  World Bank, World Development Indicators. https://data.worldbank.org/indicator/NV.IND.MANF.ZS?locations=UG</a:t>
            </a:r>
          </a:p>
          <a:p>
            <a:pPr/>
            <a:r>
              <a:rPr sz="1600" b="0">
                <a:solidFill>
                  <a:srgbClr val="333333"/>
                </a:solidFill>
              </a:rPr>
              <a:t>•  Cotton Development Organisation. https://www.cdouga.org/</a:t>
            </a:r>
          </a:p>
          <a:p>
            <a:pPr/>
            <a:r>
              <a:rPr sz="1600" b="0">
                <a:solidFill>
                  <a:srgbClr val="333333"/>
                </a:solidFill>
              </a:rPr>
              <a:t>•  UNIDO, Pharmaceutical Sector Profile — Uganda. https://open.unido.org/</a:t>
            </a:r>
          </a:p>
          <a:p>
            <a:pPr/>
            <a:r>
              <a:rPr sz="1600" b="0">
                <a:solidFill>
                  <a:srgbClr val="333333"/>
                </a:solidFill>
              </a:rPr>
              <a:t>•  Uganda Investment Authority (2025). https://ugandainvest.go.ug/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2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ITC TradeMap.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3</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3: Methodology and Analytical Framework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3.1 Overview of the Research Approach</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is a desk-based diagnostic. Its findings are built from a structured review of government and sector documents provided by MTIC, official Ugandan data sources, live international trade data, and current published evidence — not from primary fieldwork. This is stated plainly because the credibility of a diagnostic that will inform national investment decisions depends on an honest account of how it was produced.</a:t>
            </a:r>
          </a:p>
          <a:p>
            <a:pPr/>
            <a:r>
              <a:rPr sz="1600" b="0">
                <a:solidFill>
                  <a:srgbClr val="333333"/>
                </a:solidFill>
              </a:rPr>
              <a:t>•  The study was preceded by an Inception Report documenting the study design, diagnostic framework, data plan, and stakeholder-consultation plan, submitted to the Technical Working Group (TWG) prior to the diagnostic phase. The work proceeded in three phases: (1) evidence assembly; (2) value-chain analysis and prioritization scoring; and (3) validation (planned, post-submission).</a:t>
            </a:r>
          </a:p>
          <a:p>
            <a:pPr/>
            <a:r>
              <a:rPr sz="1600" b="0">
                <a:solidFill>
                  <a:srgbClr val="333333"/>
                </a:solidFill>
              </a:rPr>
              <a:t>•  The findings in this report are presented for validation. Where the report states a finding, it reflects the best available desk evidence at the time of writing and is subject to the validation step in Section 3.7.</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3.2 Evidence Base and Data Sources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Government policy and planning — Vision 2040; NDP IV (FY2025/26–2029/30); NIP 2020; MTIC Strategic Plan; Tenfold Growth Strategy.</a:t>
            </a:r>
          </a:p>
          <a:p>
            <a:pPr/>
            <a:r>
              <a:rPr sz="1600" b="0">
                <a:solidFill>
                  <a:srgbClr val="333333"/>
                </a:solidFill>
              </a:rPr>
              <a:t>•  Sector studies and regulator data provided by or sourced for MTIC — Cotton Development Organisation (CDO) data; National Drug Authority (NDA) National Drug Register (June 2024) and reports; Uganda Sugar Manufacturers' Association (USMA) data; NEMA plastics strategy; cement and fertilizer sector records.</a:t>
            </a:r>
          </a:p>
          <a:p>
            <a:pPr/>
            <a:r>
              <a:rPr sz="1600" b="0">
                <a:solidFill>
                  <a:srgbClr val="333333"/>
                </a:solidFill>
              </a:rPr>
              <a:t>•  Official Ugandan data sources — UBOS (production, employment, national accounts); UNBS (standards and certified-manufacturer registers); NEMA (environmental standards and plastics circularity); ERA (energy tariffs); UIA (investment pipeline); UNOC and the Petroleum Authority of Uganda (PAU) for the refinery/petrochemical programme.</a:t>
            </a:r>
          </a:p>
          <a:p>
            <a:pPr/>
            <a:r>
              <a:rPr sz="1600" b="0">
                <a:solidFill>
                  <a:srgbClr val="333333"/>
                </a:solidFill>
              </a:rPr>
              <a:t>•  Trade data — ITC TradeMap is the source for all import/export values, partner breakdowns, and time series, drawing on the same underlying data as UN Comtrade. TradeMap figures are pulled directly and cited inline with HS code and year.</a:t>
            </a:r>
          </a:p>
          <a:p>
            <a:pPr/>
            <a:r>
              <a:rPr sz="1600" b="0">
                <a:solidFill>
                  <a:srgbClr val="333333"/>
                </a:solidFill>
              </a:rPr>
              <a:t>•  Global benchmarks — UNIDO and WHO (pharmaceuticals); World Cement Association / CemNet (cement); IFA and AfricaFertilizer (fertilizer); and reputable market-intelligence sources, cited where used.</a:t>
            </a:r>
          </a:p>
          <a:p>
            <a:pPr/>
            <a:r>
              <a:rPr sz="1600" b="0">
                <a:solidFill>
                  <a:srgbClr val="333333"/>
                </a:solidFill>
              </a:rPr>
              <a:t>•  Estimates, proxies, and currency caveats are flagged in each chapter; material gaps are marked DATA NEEDED for the validation step to target.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3.3 Analytical Framework</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Each of the six value chains was analysed using a consistent six-part framework:</a:t>
            </a:r>
          </a:p>
          <a:p>
            <a:pPr/>
            <a:r>
              <a:rPr sz="1600" b="0">
                <a:solidFill>
                  <a:srgbClr val="333333"/>
                </a:solidFill>
              </a:rPr>
              <a:t>•  a. Value Chain Mapping — from primary inputs through processing to final products, identifying where Uganda participates, where value leaks (raw-commodity export / finished-goods import), and where opportunities lie. Each chain is also rendered in the accompanying interactive Value Chains application.</a:t>
            </a:r>
          </a:p>
          <a:p>
            <a:pPr/>
            <a:r>
              <a:rPr sz="1600" b="0">
                <a:solidFill>
                  <a:srgbClr val="333333"/>
                </a:solidFill>
              </a:rPr>
              <a:t>•  b. Current State Assessment — production, firms, employment, capacity utilization, and import/export values, with key players identified.</a:t>
            </a:r>
          </a:p>
          <a:p>
            <a:pPr/>
            <a:r>
              <a:rPr sz="1600" b="0">
                <a:solidFill>
                  <a:srgbClr val="333333"/>
                </a:solidFill>
              </a:rPr>
              <a:t>•  c. Binding Constraints Analysis — ten dimensions (Section 3.4).</a:t>
            </a:r>
          </a:p>
          <a:p>
            <a:pPr/>
            <a:r>
              <a:rPr sz="1600" b="0">
                <a:solidFill>
                  <a:srgbClr val="333333"/>
                </a:solidFill>
              </a:rPr>
              <a:t>•  d. Market Assessment — domestic, regional (EAC/COMESA), and global levels.</a:t>
            </a:r>
          </a:p>
          <a:p>
            <a:pPr/>
            <a:r>
              <a:rPr sz="1600" b="0">
                <a:solidFill>
                  <a:srgbClr val="333333"/>
                </a:solidFill>
              </a:rPr>
              <a:t>•  e. Prioritization Scoring — five weighted criteria (Section 3.5) → 3–4 priorities per chain.</a:t>
            </a:r>
          </a:p>
          <a:p>
            <a:pPr/>
            <a:r>
              <a:rPr sz="1600" b="0">
                <a:solidFill>
                  <a:srgbClr val="333333"/>
                </a:solidFill>
              </a:rPr>
              <a:t>•  f. Priority Action Matrix — quick wins (0–12m), reforms (1–3y), investments (3–5y).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3.4 Binding-Constraints Dimensions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Primary evidence used</a:t>
                      </a:r>
                    </a:p>
                  </a:txBody>
                  <a:tcPr>
                    <a:solidFill>
                      <a:srgbClr val="002B5B"/>
                    </a:solidFill>
                  </a:tcPr>
                </a:tc>
              </a:tr>
              <a:tr h="490450">
                <a:tc>
                  <a:txBody>
                    <a:bodyPr/>
                    <a:lstStyle/>
                    <a:p>
                      <a:pPr algn="l"/>
                      <a:r>
                        <a:rPr sz="1200" b="0">
                          <a:solidFill>
                            <a:srgbClr val="333333"/>
                          </a:solidFill>
                        </a:rPr>
                        <a:t>Inputs and raw materials</a:t>
                      </a:r>
                    </a:p>
                  </a:txBody>
                  <a:tcPr>
                    <a:solidFill>
                      <a:srgbClr val="D6E8F7"/>
                    </a:solidFill>
                  </a:tcPr>
                </a:tc>
                <a:tc>
                  <a:txBody>
                    <a:bodyPr/>
                    <a:lstStyle/>
                    <a:p>
                      <a:pPr algn="l"/>
                      <a:r>
                        <a:rPr sz="1200" b="0">
                          <a:solidFill>
                            <a:srgbClr val="333333"/>
                          </a:solidFill>
                        </a:rPr>
                        <a:t>Sector studies; agricultural data (cotton, cane); TradeMap</a:t>
                      </a:r>
                    </a:p>
                  </a:txBody>
                  <a:tcPr>
                    <a:solidFill>
                      <a:srgbClr val="D6E8F7"/>
                    </a:solidFill>
                  </a:tcPr>
                </a:tc>
              </a:tr>
              <a:tr h="490450">
                <a:tc>
                  <a:txBody>
                    <a:bodyPr/>
                    <a:lstStyle/>
                    <a:p>
                      <a:pPr algn="l"/>
                      <a:r>
                        <a:rPr sz="1200" b="0">
                          <a:solidFill>
                            <a:srgbClr val="333333"/>
                          </a:solidFill>
                        </a:rPr>
                        <a:t>Technology and productivity</a:t>
                      </a:r>
                    </a:p>
                  </a:txBody>
                  <a:tcPr>
                    <a:solidFill>
                      <a:srgbClr val="FFFFFF"/>
                    </a:solidFill>
                  </a:tcPr>
                </a:tc>
                <a:tc>
                  <a:txBody>
                    <a:bodyPr/>
                    <a:lstStyle/>
                    <a:p>
                      <a:pPr algn="l"/>
                      <a:r>
                        <a:rPr sz="1200" b="0">
                          <a:solidFill>
                            <a:srgbClr val="333333"/>
                          </a:solidFill>
                        </a:rPr>
                        <a:t>Sector studies; global benchmarks</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ERA tariffs 2025 (cement especially energy-intensive)</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NWSC; NEMA (textiles wet-processing, sugar)</a:t>
                      </a:r>
                    </a:p>
                  </a:txBody>
                  <a:tcPr>
                    <a:solidFill>
                      <a:srgbClr val="FFFFFF"/>
                    </a:solidFill>
                  </a:tcPr>
                </a:tc>
              </a:tr>
              <a:tr h="490450">
                <a:tc>
                  <a:txBody>
                    <a:bodyPr/>
                    <a:lstStyle/>
                    <a:p>
                      <a:pPr algn="l"/>
                      <a:r>
                        <a:rPr sz="1200" b="0">
                          <a:solidFill>
                            <a:srgbClr val="333333"/>
                          </a:solidFill>
                        </a:rPr>
                        <a:t>Logistics and transport</a:t>
                      </a:r>
                    </a:p>
                  </a:txBody>
                  <a:tcPr>
                    <a:solidFill>
                      <a:srgbClr val="D6E8F7"/>
                    </a:solidFill>
                  </a:tcPr>
                </a:tc>
                <a:tc>
                  <a:txBody>
                    <a:bodyPr/>
                    <a:lstStyle/>
                    <a:p>
                      <a:pPr algn="l"/>
                      <a:r>
                        <a:rPr sz="1200" b="0">
                          <a:solidFill>
                            <a:srgbClr val="333333"/>
                          </a:solidFill>
                        </a:rPr>
                        <a:t>Sector analyses (logistics ≈18–20% of sale price)</a:t>
                      </a:r>
                    </a:p>
                  </a:txBody>
                  <a:tcPr>
                    <a:solidFill>
                      <a:srgbClr val="D6E8F7"/>
                    </a:solidFill>
                  </a:tcPr>
                </a:tc>
              </a:tr>
              <a:tr h="490450">
                <a:tc>
                  <a:txBody>
                    <a:bodyPr/>
                    <a:lstStyle/>
                    <a:p>
                      <a:pPr algn="l"/>
                      <a:r>
                        <a:rPr sz="1200" b="0">
                          <a:solidFill>
                            <a:srgbClr val="333333"/>
                          </a:solidFill>
                        </a:rPr>
                        <a:t>Waste and effluent management</a:t>
                      </a:r>
                    </a:p>
                  </a:txBody>
                  <a:tcPr>
                    <a:solidFill>
                      <a:srgbClr val="FFFFFF"/>
                    </a:solidFill>
                  </a:tcPr>
                </a:tc>
                <a:tc>
                  <a:txBody>
                    <a:bodyPr/>
                    <a:lstStyle/>
                    <a:p>
                      <a:pPr algn="l"/>
                      <a:r>
                        <a:rPr sz="1200" b="0">
                          <a:solidFill>
                            <a:srgbClr val="333333"/>
                          </a:solidFill>
                        </a:rPr>
                        <a:t>NEMA Effluent Regulations 2020; Plastics Circularity Strategy 2023–2028</a:t>
                      </a:r>
                    </a:p>
                  </a:txBody>
                  <a:tcPr>
                    <a:solidFill>
                      <a:srgbClr val="FFFFFF"/>
                    </a:solidFill>
                  </a:tcPr>
                </a:tc>
              </a:tr>
              <a:tr h="490450">
                <a:tc>
                  <a:txBody>
                    <a:bodyPr/>
                    <a:lstStyle/>
                    <a:p>
                      <a:pPr algn="l"/>
                      <a:r>
                        <a:rPr sz="1200" b="0">
                          <a:solidFill>
                            <a:srgbClr val="333333"/>
                          </a:solidFill>
                        </a:rPr>
                        <a:t>Finance and investment</a:t>
                      </a:r>
                    </a:p>
                  </a:txBody>
                  <a:tcPr>
                    <a:solidFill>
                      <a:srgbClr val="D6E8F7"/>
                    </a:solidFill>
                  </a:tcPr>
                </a:tc>
                <a:tc>
                  <a:txBody>
                    <a:bodyPr/>
                    <a:lstStyle/>
                    <a:p>
                      <a:pPr algn="l"/>
                      <a:r>
                        <a:rPr sz="1200" b="0">
                          <a:solidFill>
                            <a:srgbClr val="333333"/>
                          </a:solidFill>
                        </a:rPr>
                        <a:t>KPMG Budget Brief 2025/26; UDB</a:t>
                      </a:r>
                    </a:p>
                  </a:txBody>
                  <a:tcPr>
                    <a:solidFill>
                      <a:srgbClr val="D6E8F7"/>
                    </a:solidFill>
                  </a:tcPr>
                </a:tc>
              </a:tr>
              <a:tr h="490450">
                <a:tc>
                  <a:txBody>
                    <a:bodyPr/>
                    <a:lstStyle/>
                    <a:p>
                      <a:pPr algn="l"/>
                      <a:r>
                        <a:rPr sz="1200" b="0">
                          <a:solidFill>
                            <a:srgbClr val="333333"/>
                          </a:solidFill>
                        </a:rPr>
                        <a:t>Skills and workforce</a:t>
                      </a:r>
                    </a:p>
                  </a:txBody>
                  <a:tcPr>
                    <a:solidFill>
                      <a:srgbClr val="FFFFFF"/>
                    </a:solidFill>
                  </a:tcPr>
                </a:tc>
                <a:tc>
                  <a:txBody>
                    <a:bodyPr/>
                    <a:lstStyle/>
                    <a:p>
                      <a:pPr algn="l"/>
                      <a:r>
                        <a:rPr sz="1200" b="0">
                          <a:solidFill>
                            <a:srgbClr val="333333"/>
                          </a:solidFill>
                        </a:rPr>
                        <a:t>UMA/UNIDO skills evidence</a:t>
                      </a:r>
                    </a:p>
                  </a:txBody>
                  <a:tcPr>
                    <a:solidFill>
                      <a:srgbClr val="FFFFFF"/>
                    </a:solidFill>
                  </a:tcPr>
                </a:tc>
              </a:tr>
              <a:tr h="490450">
                <a:tc>
                  <a:txBody>
                    <a:bodyPr/>
                    <a:lstStyle/>
                    <a:p>
                      <a:pPr algn="l"/>
                      <a:r>
                        <a:rPr sz="1200" b="0">
                          <a:solidFill>
                            <a:srgbClr val="333333"/>
                          </a:solidFill>
                        </a:rPr>
                        <a:t>Standards and quality</a:t>
                      </a:r>
                    </a:p>
                  </a:txBody>
                  <a:tcPr>
                    <a:solidFill>
                      <a:srgbClr val="D6E8F7"/>
                    </a:solidFill>
                  </a:tcPr>
                </a:tc>
                <a:tc>
                  <a:txBody>
                    <a:bodyPr/>
                    <a:lstStyle/>
                    <a:p>
                      <a:pPr algn="l"/>
                      <a:r>
                        <a:rPr sz="1200" b="0">
                          <a:solidFill>
                            <a:srgbClr val="333333"/>
                          </a:solidFill>
                        </a:rPr>
                        <a:t>UNBS; NDA/WHO-GMP for pharmaceuticals</a:t>
                      </a:r>
                    </a:p>
                  </a:txBody>
                  <a:tcPr>
                    <a:solidFill>
                      <a:srgbClr val="D6E8F7"/>
                    </a:solidFill>
                  </a:tcPr>
                </a:tc>
              </a:tr>
              <a:tr h="490460">
                <a:tc>
                  <a:txBody>
                    <a:bodyPr/>
                    <a:lstStyle/>
                    <a:p>
                      <a:pPr algn="l"/>
                      <a:r>
                        <a:rPr sz="1200" b="0">
                          <a:solidFill>
                            <a:srgbClr val="333333"/>
                          </a:solidFill>
                        </a:rPr>
                        <a:t>Policy and regulatory</a:t>
                      </a:r>
                    </a:p>
                  </a:txBody>
                  <a:tcPr>
                    <a:solidFill>
                      <a:srgbClr val="FFFFFF"/>
                    </a:solidFill>
                  </a:tcPr>
                </a:tc>
                <a:tc>
                  <a:txBody>
                    <a:bodyPr/>
                    <a:lstStyle/>
                    <a:p>
                      <a:pPr algn="l"/>
                      <a:r>
                        <a:rPr sz="1200" b="0">
                          <a:solidFill>
                            <a:srgbClr val="333333"/>
                          </a:solidFill>
                        </a:rPr>
                        <a:t>NIP 2020; sector Acts; EAC CET; NEMA plastics policy 2025</a:t>
                      </a:r>
                    </a:p>
                  </a:txBody>
                  <a:tcP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3.5 Prioritization Framework</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4062984"/>
                <a:gridCol w="4062984"/>
                <a:gridCol w="4062984"/>
              </a:tblGrid>
              <a:tr h="899160">
                <a:tc>
                  <a:txBody>
                    <a:bodyPr/>
                    <a:lstStyle/>
                    <a:p>
                      <a:pPr algn="l"/>
                      <a:r>
                        <a:rPr sz="1300" b="1">
                          <a:solidFill>
                            <a:srgbClr val="FFFFFF"/>
                          </a:solidFill>
                        </a:rPr>
                        <a:t>Criterion</a:t>
                      </a:r>
                    </a:p>
                  </a:txBody>
                  <a:tcPr>
                    <a:solidFill>
                      <a:srgbClr val="002B5B"/>
                    </a:solidFill>
                  </a:tcPr>
                </a:tc>
                <a:tc>
                  <a:txBody>
                    <a:bodyPr/>
                    <a:lstStyle/>
                    <a:p>
                      <a:pPr algn="l"/>
                      <a:r>
                        <a:rPr sz="1300" b="1">
                          <a:solidFill>
                            <a:srgbClr val="FFFFFF"/>
                          </a:solidFill>
                        </a:rPr>
                        <a:t>Description</a:t>
                      </a:r>
                    </a:p>
                  </a:txBody>
                  <a:tcPr>
                    <a:solidFill>
                      <a:srgbClr val="002B5B"/>
                    </a:solidFill>
                  </a:tcPr>
                </a:tc>
                <a:tc>
                  <a:txBody>
                    <a:bodyPr/>
                    <a:lstStyle/>
                    <a:p>
                      <a:pPr algn="l"/>
                      <a:r>
                        <a:rPr sz="1300" b="1">
                          <a:solidFill>
                            <a:srgbClr val="FFFFFF"/>
                          </a:solidFill>
                        </a:rPr>
                        <a:t>Weight</a:t>
                      </a:r>
                    </a:p>
                  </a:txBody>
                  <a:tcPr>
                    <a:solidFill>
                      <a:srgbClr val="002B5B"/>
                    </a:solidFill>
                  </a:tcPr>
                </a:tc>
              </a:tr>
              <a:tr h="899160">
                <a:tc>
                  <a:txBody>
                    <a:bodyPr/>
                    <a:lstStyle/>
                    <a:p>
                      <a:pPr algn="l"/>
                      <a:r>
                        <a:rPr sz="1200" b="0">
                          <a:solidFill>
                            <a:srgbClr val="333333"/>
                          </a:solidFill>
                        </a:rPr>
                        <a:t>1. Accessible market size</a:t>
                      </a:r>
                    </a:p>
                  </a:txBody>
                  <a:tcPr>
                    <a:solidFill>
                      <a:srgbClr val="D6E8F7"/>
                    </a:solidFill>
                  </a:tcPr>
                </a:tc>
                <a:tc>
                  <a:txBody>
                    <a:bodyPr/>
                    <a:lstStyle/>
                    <a:p>
                      <a:pPr algn="l"/>
                      <a:r>
                        <a:rPr sz="1200" b="0">
                          <a:solidFill>
                            <a:srgbClr val="333333"/>
                          </a:solidFill>
                        </a:rPr>
                        <a:t>Domestic, regional, export market realistically accessible</a:t>
                      </a:r>
                    </a:p>
                  </a:txBody>
                  <a:tcPr>
                    <a:solidFill>
                      <a:srgbClr val="D6E8F7"/>
                    </a:solidFill>
                  </a:tcPr>
                </a:tc>
                <a:tc>
                  <a:txBody>
                    <a:bodyPr/>
                    <a:lstStyle/>
                    <a:p>
                      <a:pPr algn="l"/>
                      <a:r>
                        <a:rPr sz="1200" b="0">
                          <a:solidFill>
                            <a:srgbClr val="333333"/>
                          </a:solidFill>
                        </a:rPr>
                        <a:t>25%</a:t>
                      </a:r>
                    </a:p>
                  </a:txBody>
                  <a:tcPr>
                    <a:solidFill>
                      <a:srgbClr val="D6E8F7"/>
                    </a:solidFill>
                  </a:tcPr>
                </a:tc>
              </a:tr>
              <a:tr h="899160">
                <a:tc>
                  <a:txBody>
                    <a:bodyPr/>
                    <a:lstStyle/>
                    <a:p>
                      <a:pPr algn="l"/>
                      <a:r>
                        <a:rPr sz="1200" b="0">
                          <a:solidFill>
                            <a:srgbClr val="333333"/>
                          </a:solidFill>
                        </a:rPr>
                        <a:t>2. Uganda's comparative advantage</a:t>
                      </a:r>
                    </a:p>
                  </a:txBody>
                  <a:tcPr>
                    <a:solidFill>
                      <a:srgbClr val="FFFFFF"/>
                    </a:solidFill>
                  </a:tcPr>
                </a:tc>
                <a:tc>
                  <a:txBody>
                    <a:bodyPr/>
                    <a:lstStyle/>
                    <a:p>
                      <a:pPr algn="l"/>
                      <a:r>
                        <a:rPr sz="1200" b="0">
                          <a:solidFill>
                            <a:srgbClr val="333333"/>
                          </a:solidFill>
                        </a:rPr>
                        <a:t>Inputs, existing base, proximity</a:t>
                      </a:r>
                    </a:p>
                  </a:txBody>
                  <a:tcPr>
                    <a:solidFill>
                      <a:srgbClr val="FFFFFF"/>
                    </a:solidFill>
                  </a:tcPr>
                </a:tc>
                <a:tc>
                  <a:txBody>
                    <a:bodyPr/>
                    <a:lstStyle/>
                    <a:p>
                      <a:pPr algn="l"/>
                      <a:r>
                        <a:rPr sz="1200" b="0">
                          <a:solidFill>
                            <a:srgbClr val="333333"/>
                          </a:solidFill>
                        </a:rPr>
                        <a:t>25%</a:t>
                      </a:r>
                    </a:p>
                  </a:txBody>
                  <a:tcPr>
                    <a:solidFill>
                      <a:srgbClr val="FFFFFF"/>
                    </a:solidFill>
                  </a:tcPr>
                </a:tc>
              </a:tr>
              <a:tr h="899160">
                <a:tc>
                  <a:txBody>
                    <a:bodyPr/>
                    <a:lstStyle/>
                    <a:p>
                      <a:pPr algn="l"/>
                      <a:r>
                        <a:rPr sz="1200" b="0">
                          <a:solidFill>
                            <a:srgbClr val="333333"/>
                          </a:solidFill>
                        </a:rPr>
                        <a:t>3. Feasibility</a:t>
                      </a:r>
                    </a:p>
                  </a:txBody>
                  <a:tcPr>
                    <a:solidFill>
                      <a:srgbClr val="D6E8F7"/>
                    </a:solidFill>
                  </a:tcPr>
                </a:tc>
                <a:tc>
                  <a:txBody>
                    <a:bodyPr/>
                    <a:lstStyle/>
                    <a:p>
                      <a:pPr algn="l"/>
                      <a:r>
                        <a:rPr sz="1200" b="0">
                          <a:solidFill>
                            <a:srgbClr val="333333"/>
                          </a:solidFill>
                        </a:rPr>
                        <a:t>Capital, technology readiness, lead time, management</a:t>
                      </a:r>
                    </a:p>
                  </a:txBody>
                  <a:tcPr>
                    <a:solidFill>
                      <a:srgbClr val="D6E8F7"/>
                    </a:solidFill>
                  </a:tcPr>
                </a:tc>
                <a:tc>
                  <a:txBody>
                    <a:bodyPr/>
                    <a:lstStyle/>
                    <a:p>
                      <a:pPr algn="l"/>
                      <a:r>
                        <a:rPr sz="1200" b="0">
                          <a:solidFill>
                            <a:srgbClr val="333333"/>
                          </a:solidFill>
                        </a:rPr>
                        <a:t>20%</a:t>
                      </a:r>
                    </a:p>
                  </a:txBody>
                  <a:tcPr>
                    <a:solidFill>
                      <a:srgbClr val="D6E8F7"/>
                    </a:solidFill>
                  </a:tcPr>
                </a:tc>
              </a:tr>
              <a:tr h="899160">
                <a:tc>
                  <a:txBody>
                    <a:bodyPr/>
                    <a:lstStyle/>
                    <a:p>
                      <a:pPr algn="l"/>
                      <a:r>
                        <a:rPr sz="1200" b="0">
                          <a:solidFill>
                            <a:srgbClr val="333333"/>
                          </a:solidFill>
                        </a:rPr>
                        <a:t>4. Job creation and income potential</a:t>
                      </a:r>
                    </a:p>
                  </a:txBody>
                  <a:tcPr>
                    <a:solidFill>
                      <a:srgbClr val="FFFFFF"/>
                    </a:solidFill>
                  </a:tcPr>
                </a:tc>
                <a:tc>
                  <a:txBody>
                    <a:bodyPr/>
                    <a:lstStyle/>
                    <a:p>
                      <a:pPr algn="l"/>
                      <a:r>
                        <a:rPr sz="1200" b="0">
                          <a:solidFill>
                            <a:srgbClr val="333333"/>
                          </a:solidFill>
                        </a:rPr>
                        <a:t>Direct/indirect employment, wages, linkages</a:t>
                      </a:r>
                    </a:p>
                  </a:txBody>
                  <a:tcPr>
                    <a:solidFill>
                      <a:srgbClr val="FFFFFF"/>
                    </a:solidFill>
                  </a:tcPr>
                </a:tc>
                <a:tc>
                  <a:txBody>
                    <a:bodyPr/>
                    <a:lstStyle/>
                    <a:p>
                      <a:pPr algn="l"/>
                      <a:r>
                        <a:rPr sz="1200" b="0">
                          <a:solidFill>
                            <a:srgbClr val="333333"/>
                          </a:solidFill>
                        </a:rPr>
                        <a:t>15%</a:t>
                      </a:r>
                    </a:p>
                  </a:txBody>
                  <a:tcPr>
                    <a:solidFill>
                      <a:srgbClr val="FFFFFF"/>
                    </a:solidFill>
                  </a:tcPr>
                </a:tc>
              </a:tr>
              <a:tr h="899160">
                <a:tc>
                  <a:txBody>
                    <a:bodyPr/>
                    <a:lstStyle/>
                    <a:p>
                      <a:pPr algn="l"/>
                      <a:r>
                        <a:rPr sz="1200" b="0">
                          <a:solidFill>
                            <a:srgbClr val="333333"/>
                          </a:solidFill>
                        </a:rPr>
                        <a:t>5. Import substitution impact</a:t>
                      </a:r>
                    </a:p>
                  </a:txBody>
                  <a:tcPr>
                    <a:solidFill>
                      <a:srgbClr val="D6E8F7"/>
                    </a:solidFill>
                  </a:tcPr>
                </a:tc>
                <a:tc>
                  <a:txBody>
                    <a:bodyPr/>
                    <a:lstStyle/>
                    <a:p>
                      <a:pPr algn="l"/>
                      <a:r>
                        <a:rPr sz="1200" b="0">
                          <a:solidFill>
                            <a:srgbClr val="333333"/>
                          </a:solidFill>
                        </a:rPr>
                        <a:t>Imports domestic production could displace</a:t>
                      </a:r>
                    </a:p>
                  </a:txBody>
                  <a:tcPr>
                    <a:solidFill>
                      <a:srgbClr val="D6E8F7"/>
                    </a:solidFill>
                  </a:tcPr>
                </a:tc>
                <a:tc>
                  <a:txBody>
                    <a:bodyPr/>
                    <a:lstStyle/>
                    <a:p>
                      <a:pPr algn="l"/>
                      <a:r>
                        <a:rPr sz="1200" b="0">
                          <a:solidFill>
                            <a:srgbClr val="333333"/>
                          </a:solidFill>
                        </a:rPr>
                        <a:t>15%</a:t>
                      </a:r>
                    </a:p>
                  </a:txBody>
                  <a:tcPr>
                    <a:solidFill>
                      <a:srgbClr val="D6E8F7"/>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3.5 Prioritization Framework</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 transparent, criteria-based scoring framework was applied consistently across all six chains, reflecting the study's core principle: successful industrial economies are built around a small number of products done exceptionally well. With six chains in scope, this discipline is especially important — the risk of recommending too many products across too many chains is high.</a:t>
            </a:r>
          </a:p>
          <a:p>
            <a:pPr/>
            <a:r>
              <a:rPr sz="1600" b="0">
                <a:solidFill>
                  <a:srgbClr val="333333"/>
                </a:solidFill>
              </a:rPr>
              <a:t>•  Each product/sub-sector is scored 1–5 per criterion and weighted. Above 3.5 = priority; below 2.5 = explicitly deprioritized; in between = conditional. Explicit deprioritization is a required output for each chain.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3.6 The Value Chains Application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Each chain is modelled as a single underlying data graph that drives both this report and an interactive Value Chains application, in which every node carries its function, HS codes, live ITC TradeMap trade data, and sources. The analysis is produced once and presented in both forms, keeping report and tool consistent.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3.7 Validation (Planned)</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Validation follows submission. Key informant interviews are planned with public-sector institutions (MTIC, UIA, URA, UBOS, UNBS, NDA, CDO, USMA/Uganda Sugar Board, NEMA, Ministry of Energy/PAU/UNOC), private-sector manufacturers across the six chains, industry associations (UMA, Uganda Pharmaceutical Manufacturers Association), financial institutions, and research institutions. A stakeholder validation workshop (which may be held jointly with the Report 1 workshop) will test the prioritization findings and action matrices. Inputs will be incorporated into the final version.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3.8 Limitations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These limitations define where validation and monitoring will most strengthen the evidence base; they do not alter the direction of the conclusions.</a:t>
            </a:r>
          </a:p>
          <a:p>
            <a:pPr/>
            <a:r>
              <a:rPr sz="1600" b="0">
                <a:solidFill>
                  <a:srgbClr val="333333"/>
                </a:solidFill>
              </a:rPr>
              <a:t>•  Desk-based scope — findings rest on documentary and statistical evidence; the planned KIIs and workshop are how firm-level realities will be tested.</a:t>
            </a:r>
          </a:p>
          <a:p>
            <a:pPr/>
            <a:r>
              <a:rPr sz="1600" b="0">
                <a:solidFill>
                  <a:srgbClr val="333333"/>
                </a:solidFill>
              </a:rPr>
              <a:t>•  Uneven data depth — sugar, cement, and pharmaceuticals are relatively well-documented; petrochemicals (pre-production) and parts of plastics rely on programme documents and proxies.</a:t>
            </a:r>
          </a:p>
          <a:p>
            <a:pPr/>
            <a:r>
              <a:rPr sz="1600" b="0">
                <a:solidFill>
                  <a:srgbClr val="333333"/>
                </a:solidFill>
              </a:rPr>
              <a:t>•  Firm-level statistics — comprehensive current firm-level production/employment data are not uniformly available; figures are triangulated and flagged.</a:t>
            </a:r>
          </a:p>
          <a:p>
            <a:pPr/>
            <a:r>
              <a:rPr sz="1600" b="0">
                <a:solidFill>
                  <a:srgbClr val="333333"/>
                </a:solidFill>
              </a:rPr>
              <a:t>•  Indicative investment figures — CAPEX/OPEX in the investment chapter are indicative planning estimates, labelled as such.</a:t>
            </a:r>
          </a:p>
          <a:p>
            <a:pPr/>
            <a:r>
              <a:rPr sz="1600" b="0">
                <a:solidFill>
                  <a:srgbClr val="333333"/>
                </a:solidFill>
              </a:rPr>
              <a:t>•  Trade-data basis — figures are ITC TradeMap, latest available year (generally 2024); some partner cells are suppressed or lag.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3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National Planning Authority, Vision 2040; NDP IV. https://npa.go.ug/national-development-plan/</a:t>
            </a:r>
          </a:p>
          <a:p>
            <a:pPr/>
            <a:r>
              <a:rPr sz="1600" b="0">
                <a:solidFill>
                  <a:srgbClr val="333333"/>
                </a:solidFill>
              </a:rPr>
              <a:t>•  MTIC, National Industrial Policy 2020. https://www.mtic.go.ug/</a:t>
            </a:r>
          </a:p>
          <a:p>
            <a:pPr/>
            <a:r>
              <a:rPr sz="1600" b="0">
                <a:solidFill>
                  <a:srgbClr val="333333"/>
                </a:solidFill>
              </a:rPr>
              <a:t>•  National Drug Authority, National Drug Register (June 2024). https://www.nda.or.ug/</a:t>
            </a:r>
          </a:p>
          <a:p>
            <a:pPr/>
            <a:r>
              <a:rPr sz="1600" b="0">
                <a:solidFill>
                  <a:srgbClr val="333333"/>
                </a:solidFill>
              </a:rPr>
              <a:t>•  NEMA, National Strategy for Plastics Circularity 2023–2028; Effluent Discharge Regulations 2020. https://www.nema.go.ug/</a:t>
            </a:r>
          </a:p>
          <a:p>
            <a:pPr/>
            <a:r>
              <a:rPr sz="1600" b="0">
                <a:solidFill>
                  <a:srgbClr val="333333"/>
                </a:solidFill>
              </a:rPr>
              <a:t>•  Electricity Regulatory Authority, tariffs 2025. https://www.era.go.ug/</a:t>
            </a:r>
          </a:p>
          <a:p>
            <a:pPr/>
            <a:r>
              <a:rPr sz="1600" b="0">
                <a:solidFill>
                  <a:srgbClr val="333333"/>
                </a:solidFill>
              </a:rPr>
              <a:t>•  World Bank, World Development Indicators. https://data.worldbank.org/country/UG</a:t>
            </a:r>
          </a:p>
          <a:p>
            <a:pPr/>
            <a:r>
              <a:rPr sz="1600" b="0">
                <a:solidFill>
                  <a:srgbClr val="333333"/>
                </a:solidFill>
              </a:rPr>
              <a:t>•  ITC TradeMap.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4</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4: Textiles &amp; Garments Value Chain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770708">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Cotton growing</a:t>
                      </a:r>
                    </a:p>
                  </a:txBody>
                  <a:tcPr>
                    <a:solidFill>
                      <a:srgbClr val="D6E8F7"/>
                    </a:solidFill>
                  </a:tcPr>
                </a:tc>
                <a:tc>
                  <a:txBody>
                    <a:bodyPr/>
                    <a:lstStyle/>
                    <a:p>
                      <a:pPr algn="l"/>
                      <a:r>
                        <a:rPr sz="1200" b="0">
                          <a:solidFill>
                            <a:srgbClr val="333333"/>
                          </a:solidFill>
                        </a:rPr>
                        <a:t>Seed, inputs</a:t>
                      </a:r>
                    </a:p>
                  </a:txBody>
                  <a:tcPr>
                    <a:solidFill>
                      <a:srgbClr val="D6E8F7"/>
                    </a:solidFill>
                  </a:tcPr>
                </a:tc>
                <a:tc>
                  <a:txBody>
                    <a:bodyPr/>
                    <a:lstStyle/>
                    <a:p>
                      <a:pPr algn="l"/>
                      <a:r>
                        <a:rPr sz="1200" b="0">
                          <a:solidFill>
                            <a:srgbClr val="333333"/>
                          </a:solidFill>
                        </a:rPr>
                        <a:t>Seed cotton</a:t>
                      </a:r>
                    </a:p>
                  </a:txBody>
                  <a:tcPr>
                    <a:solidFill>
                      <a:srgbClr val="D6E8F7"/>
                    </a:solidFill>
                  </a:tcPr>
                </a:tc>
              </a:tr>
              <a:tr h="770708">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Ginning</a:t>
                      </a:r>
                    </a:p>
                  </a:txBody>
                  <a:tcPr>
                    <a:solidFill>
                      <a:srgbClr val="FFFFFF"/>
                    </a:solidFill>
                  </a:tcPr>
                </a:tc>
                <a:tc>
                  <a:txBody>
                    <a:bodyPr/>
                    <a:lstStyle/>
                    <a:p>
                      <a:pPr algn="l"/>
                      <a:r>
                        <a:rPr sz="1200" b="0">
                          <a:solidFill>
                            <a:srgbClr val="333333"/>
                          </a:solidFill>
                        </a:rPr>
                        <a:t>Seed cotton</a:t>
                      </a:r>
                    </a:p>
                  </a:txBody>
                  <a:tcPr>
                    <a:solidFill>
                      <a:srgbClr val="FFFFFF"/>
                    </a:solidFill>
                  </a:tcPr>
                </a:tc>
                <a:tc>
                  <a:txBody>
                    <a:bodyPr/>
                    <a:lstStyle/>
                    <a:p>
                      <a:pPr algn="l"/>
                      <a:r>
                        <a:rPr sz="1200" b="0">
                          <a:solidFill>
                            <a:srgbClr val="333333"/>
                          </a:solidFill>
                        </a:rPr>
                        <a:t>Lint + cottonseed</a:t>
                      </a:r>
                    </a:p>
                  </a:txBody>
                  <a:tcPr>
                    <a:solidFill>
                      <a:srgbClr val="FFFFFF"/>
                    </a:solidFill>
                  </a:tcPr>
                </a:tc>
              </a:tr>
              <a:tr h="770708">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Spinning</a:t>
                      </a:r>
                    </a:p>
                  </a:txBody>
                  <a:tcPr>
                    <a:solidFill>
                      <a:srgbClr val="D6E8F7"/>
                    </a:solidFill>
                  </a:tcPr>
                </a:tc>
                <a:tc>
                  <a:txBody>
                    <a:bodyPr/>
                    <a:lstStyle/>
                    <a:p>
                      <a:pPr algn="l"/>
                      <a:r>
                        <a:rPr sz="1200" b="0">
                          <a:solidFill>
                            <a:srgbClr val="333333"/>
                          </a:solidFill>
                        </a:rPr>
                        <a:t>Lint</a:t>
                      </a:r>
                    </a:p>
                  </a:txBody>
                  <a:tcPr>
                    <a:solidFill>
                      <a:srgbClr val="D6E8F7"/>
                    </a:solidFill>
                  </a:tcPr>
                </a:tc>
                <a:tc>
                  <a:txBody>
                    <a:bodyPr/>
                    <a:lstStyle/>
                    <a:p>
                      <a:pPr algn="l"/>
                      <a:r>
                        <a:rPr sz="1200" b="0">
                          <a:solidFill>
                            <a:srgbClr val="333333"/>
                          </a:solidFill>
                        </a:rPr>
                        <a:t>Yarn</a:t>
                      </a:r>
                    </a:p>
                  </a:txBody>
                  <a:tcPr>
                    <a:solidFill>
                      <a:srgbClr val="D6E8F7"/>
                    </a:solidFill>
                  </a:tcPr>
                </a:tc>
              </a:tr>
              <a:tr h="770708">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Weaving / knitting</a:t>
                      </a:r>
                    </a:p>
                  </a:txBody>
                  <a:tcPr>
                    <a:solidFill>
                      <a:srgbClr val="FFFFFF"/>
                    </a:solidFill>
                  </a:tcPr>
                </a:tc>
                <a:tc>
                  <a:txBody>
                    <a:bodyPr/>
                    <a:lstStyle/>
                    <a:p>
                      <a:pPr algn="l"/>
                      <a:r>
                        <a:rPr sz="1200" b="0">
                          <a:solidFill>
                            <a:srgbClr val="333333"/>
                          </a:solidFill>
                        </a:rPr>
                        <a:t>Yarn</a:t>
                      </a:r>
                    </a:p>
                  </a:txBody>
                  <a:tcPr>
                    <a:solidFill>
                      <a:srgbClr val="FFFFFF"/>
                    </a:solidFill>
                  </a:tcPr>
                </a:tc>
                <a:tc>
                  <a:txBody>
                    <a:bodyPr/>
                    <a:lstStyle/>
                    <a:p>
                      <a:pPr algn="l"/>
                      <a:r>
                        <a:rPr sz="1200" b="0">
                          <a:solidFill>
                            <a:srgbClr val="333333"/>
                          </a:solidFill>
                        </a:rPr>
                        <a:t>Fabric</a:t>
                      </a:r>
                    </a:p>
                  </a:txBody>
                  <a:tcPr>
                    <a:solidFill>
                      <a:srgbClr val="FFFFFF"/>
                    </a:solidFill>
                  </a:tcPr>
                </a:tc>
              </a:tr>
              <a:tr h="770708">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Wet processing &amp; finishing</a:t>
                      </a:r>
                    </a:p>
                  </a:txBody>
                  <a:tcPr>
                    <a:solidFill>
                      <a:srgbClr val="D6E8F7"/>
                    </a:solidFill>
                  </a:tcPr>
                </a:tc>
                <a:tc>
                  <a:txBody>
                    <a:bodyPr/>
                    <a:lstStyle/>
                    <a:p>
                      <a:pPr algn="l"/>
                      <a:r>
                        <a:rPr sz="1200" b="0">
                          <a:solidFill>
                            <a:srgbClr val="333333"/>
                          </a:solidFill>
                        </a:rPr>
                        <a:t>Fabric</a:t>
                      </a:r>
                    </a:p>
                  </a:txBody>
                  <a:tcPr>
                    <a:solidFill>
                      <a:srgbClr val="D6E8F7"/>
                    </a:solidFill>
                  </a:tcPr>
                </a:tc>
                <a:tc>
                  <a:txBody>
                    <a:bodyPr/>
                    <a:lstStyle/>
                    <a:p>
                      <a:pPr algn="l"/>
                      <a:r>
                        <a:rPr sz="1200" b="0">
                          <a:solidFill>
                            <a:srgbClr val="333333"/>
                          </a:solidFill>
                        </a:rPr>
                        <a:t>Dyed/finished fabric</a:t>
                      </a:r>
                    </a:p>
                  </a:txBody>
                  <a:tcPr>
                    <a:solidFill>
                      <a:srgbClr val="D6E8F7"/>
                    </a:solidFill>
                  </a:tcPr>
                </a:tc>
              </a:tr>
              <a:tr h="770712">
                <a:tc>
                  <a:txBody>
                    <a:bodyPr/>
                    <a:lstStyle/>
                    <a:p>
                      <a:pPr algn="l"/>
                      <a:r>
                        <a:rPr sz="1200" b="0">
                          <a:solidFill>
                            <a:srgbClr val="333333"/>
                          </a:solidFill>
                        </a:rPr>
                        <a:t>VI</a:t>
                      </a:r>
                    </a:p>
                  </a:txBody>
                  <a:tcPr>
                    <a:solidFill>
                      <a:srgbClr val="FFFFFF"/>
                    </a:solidFill>
                  </a:tcPr>
                </a:tc>
                <a:tc>
                  <a:txBody>
                    <a:bodyPr/>
                    <a:lstStyle/>
                    <a:p>
                      <a:pPr algn="l"/>
                      <a:r>
                        <a:rPr sz="1200" b="0">
                          <a:solidFill>
                            <a:srgbClr val="333333"/>
                          </a:solidFill>
                        </a:rPr>
                        <a:t>Garment manufacture</a:t>
                      </a:r>
                    </a:p>
                  </a:txBody>
                  <a:tcPr>
                    <a:solidFill>
                      <a:srgbClr val="FFFFFF"/>
                    </a:solidFill>
                  </a:tcPr>
                </a:tc>
                <a:tc>
                  <a:txBody>
                    <a:bodyPr/>
                    <a:lstStyle/>
                    <a:p>
                      <a:pPr algn="l"/>
                      <a:r>
                        <a:rPr sz="1200" b="0">
                          <a:solidFill>
                            <a:srgbClr val="333333"/>
                          </a:solidFill>
                        </a:rPr>
                        <a:t>Fabric</a:t>
                      </a:r>
                    </a:p>
                  </a:txBody>
                  <a:tcPr>
                    <a:solidFill>
                      <a:srgbClr val="FFFFFF"/>
                    </a:solidFill>
                  </a:tcPr>
                </a:tc>
                <a:tc>
                  <a:txBody>
                    <a:bodyPr/>
                    <a:lstStyle/>
                    <a:p>
                      <a:pPr algn="l"/>
                      <a:r>
                        <a:rPr sz="1200" b="0">
                          <a:solidFill>
                            <a:srgbClr val="333333"/>
                          </a:solidFill>
                        </a:rPr>
                        <a:t>Garments, apparel, home textiles</a:t>
                      </a:r>
                    </a:p>
                  </a:txBody>
                  <a:tcP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textiles and garments chain runs from cotton cultivation through ginning, spinning, weaving/knitting, and finishing to garment manufacture. Uganda participates strongly at the raw end (cotton growing and ginning) and the finished end (limited integrated mills), but exports most of its lint raw — the defining value-leak of the chain.</a:t>
            </a:r>
          </a:p>
          <a:p>
            <a:pPr/>
            <a:r>
              <a:rPr sz="1600" b="0">
                <a:solidFill>
                  <a:srgbClr val="333333"/>
                </a:solidFill>
              </a:rPr>
              <a:t>•  Where value is captured and lost. Uganda exports roughly 90% of its cotton lint raw at under USD 1/kg — exporting about USD 11.3 million of cotton (HS 5201) in 2024 (ITC TradeMap) — while only two vertically integrated mills consume the remaining ~10% domestically (CDO; EPRC). The country then imports finished textiles and garments. The opportunity is to move lint into domestic yarn, fabric, and garments.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Cotton production. Uganda produced about 116,000 bales in 2023 (≈200 kg lint each), with ~130,000 bales anticipated for 2024, against a good-year potential of up to 250,000 bales (CDO; sector reporting). There are 39 ginneries with installed capacity near one million bales/year — operating at only ~10% of capacity (CDO), a striking measure of under-utilization.</a:t>
            </a:r>
          </a:p>
          <a:p>
            <a:pPr/>
            <a:r>
              <a:rPr sz="1600" b="0">
                <a:solidFill>
                  <a:srgbClr val="333333"/>
                </a:solidFill>
              </a:rPr>
              <a:t>•  Mills and value addition. Uganda has two vertically integrated mills: Southern Range Nyanza (Nytil) and Fine Spinners Ltd, together consuming ~10% of national lint and generating around USD 50 million annual turnover; Fine Spinners alone is associated with ~18,000 jobs across its operations and outgrower base (ChimpReports; UIA). New investment includes the Lira spinning facility under the cotton-development programme.</a:t>
            </a:r>
          </a:p>
          <a:p>
            <a:pPr/>
            <a:r>
              <a:rPr sz="1600" b="0">
                <a:solidFill>
                  <a:srgbClr val="333333"/>
                </a:solidFill>
              </a:rPr>
              <a:t>•  Trade position (ITC TradeMap, 2024). Cotton lint exports ~USD 11.3m; imports of knitted T-shirts (HS 6109) ~USD 6.7m, alongside broader apparel and fabric imports. Uganda is a net exporter of raw lint and a net importer of finished textiles/garments — the inverse of a value-adding industry.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Cotton output is volatile and well below capacity; seed quality and agronomy limit yields. Lint is abundant relative to domestic processing.</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Spinning/weaving capacity is small; much equipment is dated; wet-processing (dyeing/finishing) is a particular gap.</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Spinning and wet-processing are energy- and water-intensive; tariff/reliability matter.</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Wet-processing needs reliable, treatable water; effluent compliance (NEMA) is a constraint and cost.</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Landlocked costs (~18–20% of sale price) erode competitiveness against Asian textile exporters.</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Dyeing effluent regulated under NEMA 2020; treatment capacity needed for scale-up.</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Spinning/weaving mills are capital-intensive; long-term finance scarce.</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Textile-engineering and garment-supervisory skills limited; garment work is trainable and job-rich.</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Standards and consistency needed to access export and regional markets.</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EAC used-clothing (mivumba) policy, cotton-sector regulation (CDO), and incentives shape the chain. Used-clothing imports compete directly with domestic garments.</a:t>
                      </a:r>
                    </a:p>
                  </a:txBody>
                  <a:tcP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Growing demand for apparel, uniforms, and home textiles, currently met substantially by imports and used clothing. Institutional demand (uniforms for schools, security, health) is an addressable anchor.</a:t>
            </a:r>
          </a:p>
          <a:p>
            <a:pPr/>
            <a:r>
              <a:rPr sz="1600" b="0">
                <a:solidFill>
                  <a:srgbClr val="333333"/>
                </a:solidFill>
              </a:rPr>
              <a:t>•  Regional (EAC/COMESA). Regional apparel and fabric markets are accessible; Uganda's cotton base is a comparative advantage if processed. AGOA/EU access has historically supported garment export, subject to policy continuity.</a:t>
            </a:r>
          </a:p>
          <a:p>
            <a:pPr/>
            <a:r>
              <a:rPr sz="1600" b="0">
                <a:solidFill>
                  <a:srgbClr val="333333"/>
                </a:solidFill>
              </a:rPr>
              <a:t>•  Global. Commodity textile export is highly competitive (Asia dominates); Uganda's realistic global niche is organic/traceable cotton and specialty apparel, not commodity volume.</a:t>
            </a:r>
          </a:p>
          <a:p>
            <a:pPr/>
            <a:r>
              <a:rPr sz="1600" b="0">
                <a:solidFill>
                  <a:srgbClr val="333333"/>
                </a:solidFill>
              </a:rPr>
              <a:t>•  Accessible market conclusion. Prioritize domestic and regional garments/home textiles and yarn/fabric for those markets, anchored on Uganda's own cotton; plus a premium organic-cotton export niche.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**Garments &amp; apparel (incl. institutional uniforms)**</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Very 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**Yarn &amp; fabric (spinning/weaving)**</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High (lint)</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**Priority**</a:t>
                      </a:r>
                    </a:p>
                  </a:txBody>
                  <a:tcPr>
                    <a:solidFill>
                      <a:srgbClr val="FFFFFF"/>
                    </a:solidFill>
                  </a:tcPr>
                </a:tc>
              </a:tr>
              <a:tr h="899160">
                <a:tc>
                  <a:txBody>
                    <a:bodyPr/>
                    <a:lstStyle/>
                    <a:p>
                      <a:pPr algn="l"/>
                      <a:r>
                        <a:rPr sz="1200" b="0">
                          <a:solidFill>
                            <a:srgbClr val="333333"/>
                          </a:solidFill>
                        </a:rPr>
                        <a:t>**Cottonseed oil &amp; cake (by-products)**</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Organic/traceable cotton (premium export)</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n/a</a:t>
                      </a:r>
                    </a:p>
                  </a:txBody>
                  <a:tcPr>
                    <a:solidFill>
                      <a:srgbClr val="FFFFFF"/>
                    </a:solidFill>
                  </a:tcPr>
                </a:tc>
                <a:tc>
                  <a:txBody>
                    <a:bodyPr/>
                    <a:lstStyle/>
                    <a:p>
                      <a:pPr algn="l"/>
                      <a:r>
                        <a:rPr sz="1200" b="0">
                          <a:solidFill>
                            <a:srgbClr val="333333"/>
                          </a:solidFill>
                        </a:rPr>
                        <a:t>Conditional</a:t>
                      </a:r>
                    </a:p>
                  </a:txBody>
                  <a:tcPr>
                    <a:solidFill>
                      <a:srgbClr val="FFFFFF"/>
                    </a:solidFill>
                  </a:tcPr>
                </a:tc>
              </a:tr>
              <a:tr h="899160">
                <a:tc>
                  <a:txBody>
                    <a:bodyPr/>
                    <a:lstStyle/>
                    <a:p>
                      <a:pPr algn="l"/>
                      <a:r>
                        <a:rPr sz="1200" b="0">
                          <a:solidFill>
                            <a:srgbClr val="333333"/>
                          </a:solidFill>
                        </a:rPr>
                        <a:t>Commodity textile export to global market</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Deprioritize</a:t>
                      </a:r>
                    </a:p>
                  </a:txBody>
                  <a:tcPr>
                    <a:solidFill>
                      <a:srgbClr val="D6E8F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three-to-four priorities for Textiles &amp; Garments:</a:t>
            </a:r>
          </a:p>
          <a:p>
            <a:pPr/>
            <a:r>
              <a:rPr sz="1600" b="0">
                <a:solidFill>
                  <a:srgbClr val="333333"/>
                </a:solidFill>
              </a:rPr>
              <a:t>•  Explicit deprioritization. Uganda should not chase commodity textile export to global markets against Asian scale. Focus on domestic/regional garments and fabric from Ugandan cotton, with organic cotton as a premium niche.</a:t>
            </a:r>
          </a:p>
          <a:p>
            <a:pPr/>
            <a:r>
              <a:rPr sz="1600" b="0">
                <a:solidFill>
                  <a:srgbClr val="333333"/>
                </a:solidFill>
              </a:rPr>
              <a:t>1. Garments &amp; apparel — the most job-rich step, anchored by institutional/uniform demand and regional markets; converts fabric into the highest-value, highest-employment product.</a:t>
            </a:r>
          </a:p>
          <a:p>
            <a:pPr/>
            <a:r>
              <a:rPr sz="1600" b="0">
                <a:solidFill>
                  <a:srgbClr val="333333"/>
                </a:solidFill>
              </a:rPr>
              <a:t>2. Yarn &amp; fabric (spinning/weaving) — process domestic lint instead of exporting it raw; the core value-addition move. Build on Nytil, Fine Spinners, and the Lira facility.</a:t>
            </a:r>
          </a:p>
          <a:p>
            <a:pPr/>
            <a:r>
              <a:rPr sz="1600" b="0">
                <a:solidFill>
                  <a:srgbClr val="333333"/>
                </a:solidFill>
              </a:rPr>
              <a:t>3. Cottonseed oil &amp; cake — capture ginning by-products (edible oil, animal feed), a feasible quick value-add.</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4.F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770708">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Institutional-uniform procurement from domestic garment makers; review used-clothing policy</a:t>
                      </a:r>
                    </a:p>
                  </a:txBody>
                  <a:tcPr>
                    <a:solidFill>
                      <a:srgbClr val="D6E8F7"/>
                    </a:solidFill>
                  </a:tcPr>
                </a:tc>
                <a:tc>
                  <a:txBody>
                    <a:bodyPr/>
                    <a:lstStyle/>
                    <a:p>
                      <a:pPr algn="l"/>
                      <a:r>
                        <a:rPr sz="1200" b="0">
                          <a:solidFill>
                            <a:srgbClr val="333333"/>
                          </a:solidFill>
                        </a:rPr>
                        <a:t>MTIC, MoFPED, MDAs</a:t>
                      </a:r>
                    </a:p>
                  </a:txBody>
                  <a:tcPr>
                    <a:solidFill>
                      <a:srgbClr val="D6E8F7"/>
                    </a:solidFill>
                  </a:tcPr>
                </a:tc>
                <a:tc>
                  <a:txBody>
                    <a:bodyPr/>
                    <a:lstStyle/>
                    <a:p>
                      <a:pPr algn="l"/>
                      <a:r>
                        <a:rPr sz="1200" b="0">
                          <a:solidFill>
                            <a:srgbClr val="333333"/>
                          </a:solidFill>
                        </a:rPr>
                        <a:t>Procurement</a:t>
                      </a:r>
                    </a:p>
                  </a:txBody>
                  <a:tcPr>
                    <a:solidFill>
                      <a:srgbClr val="D6E8F7"/>
                    </a:solidFill>
                  </a:tcPr>
                </a:tc>
              </a:tr>
              <a:tr h="770708">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Cotton agronomy/seed programme to raise yields and ginnery utilization</a:t>
                      </a:r>
                    </a:p>
                  </a:txBody>
                  <a:tcPr>
                    <a:solidFill>
                      <a:srgbClr val="FFFFFF"/>
                    </a:solidFill>
                  </a:tcPr>
                </a:tc>
                <a:tc>
                  <a:txBody>
                    <a:bodyPr/>
                    <a:lstStyle/>
                    <a:p>
                      <a:pPr algn="l"/>
                      <a:r>
                        <a:rPr sz="1200" b="0">
                          <a:solidFill>
                            <a:srgbClr val="333333"/>
                          </a:solidFill>
                        </a:rPr>
                        <a:t>CDO, MAAIF</a:t>
                      </a:r>
                    </a:p>
                  </a:txBody>
                  <a:tcPr>
                    <a:solidFill>
                      <a:srgbClr val="FFFFFF"/>
                    </a:solidFill>
                  </a:tcPr>
                </a:tc>
                <a:tc>
                  <a:txBody>
                    <a:bodyPr/>
                    <a:lstStyle/>
                    <a:p>
                      <a:pPr algn="l"/>
                      <a:r>
                        <a:rPr sz="1200" b="0">
                          <a:solidFill>
                            <a:srgbClr val="333333"/>
                          </a:solidFill>
                        </a:rPr>
                        <a:t>Low–Medium</a:t>
                      </a:r>
                    </a:p>
                  </a:txBody>
                  <a:tcPr>
                    <a:solidFill>
                      <a:srgbClr val="FFFFFF"/>
                    </a:solidFill>
                  </a:tcPr>
                </a:tc>
              </a:tr>
              <a:tr h="770708">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Wet-processing/effluent infrastructure for textile parks</a:t>
                      </a:r>
                    </a:p>
                  </a:txBody>
                  <a:tcPr>
                    <a:solidFill>
                      <a:srgbClr val="D6E8F7"/>
                    </a:solidFill>
                  </a:tcPr>
                </a:tc>
                <a:tc>
                  <a:txBody>
                    <a:bodyPr/>
                    <a:lstStyle/>
                    <a:p>
                      <a:pPr algn="l"/>
                      <a:r>
                        <a:rPr sz="1200" b="0">
                          <a:solidFill>
                            <a:srgbClr val="333333"/>
                          </a:solidFill>
                        </a:rPr>
                        <a:t>NEMA, MTIC, UIA</a:t>
                      </a:r>
                    </a:p>
                  </a:txBody>
                  <a:tcPr>
                    <a:solidFill>
                      <a:srgbClr val="D6E8F7"/>
                    </a:solidFill>
                  </a:tcPr>
                </a:tc>
                <a:tc>
                  <a:txBody>
                    <a:bodyPr/>
                    <a:lstStyle/>
                    <a:p>
                      <a:pPr algn="l"/>
                      <a:r>
                        <a:rPr sz="1200" b="0">
                          <a:solidFill>
                            <a:srgbClr val="333333"/>
                          </a:solidFill>
                        </a:rPr>
                        <a:t>Medium</a:t>
                      </a:r>
                    </a:p>
                  </a:txBody>
                  <a:tcPr>
                    <a:solidFill>
                      <a:srgbClr val="D6E8F7"/>
                    </a:solidFill>
                  </a:tcPr>
                </a:tc>
              </a:tr>
              <a:tr h="770708">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Textile/garment skills programme</a:t>
                      </a:r>
                    </a:p>
                  </a:txBody>
                  <a:tcPr>
                    <a:solidFill>
                      <a:srgbClr val="FFFFFF"/>
                    </a:solidFill>
                  </a:tcPr>
                </a:tc>
                <a:tc>
                  <a:txBody>
                    <a:bodyPr/>
                    <a:lstStyle/>
                    <a:p>
                      <a:pPr algn="l"/>
                      <a:r>
                        <a:rPr sz="1200" b="0">
                          <a:solidFill>
                            <a:srgbClr val="333333"/>
                          </a:solidFill>
                        </a:rPr>
                        <a:t>MoES, mills</a:t>
                      </a:r>
                    </a:p>
                  </a:txBody>
                  <a:tcPr>
                    <a:solidFill>
                      <a:srgbClr val="FFFFFF"/>
                    </a:solidFill>
                  </a:tcPr>
                </a:tc>
                <a:tc>
                  <a:txBody>
                    <a:bodyPr/>
                    <a:lstStyle/>
                    <a:p>
                      <a:pPr algn="l"/>
                      <a:r>
                        <a:rPr sz="1200" b="0">
                          <a:solidFill>
                            <a:srgbClr val="333333"/>
                          </a:solidFill>
                        </a:rPr>
                        <a:t>Medium</a:t>
                      </a:r>
                    </a:p>
                  </a:txBody>
                  <a:tcPr>
                    <a:solidFill>
                      <a:srgbClr val="FFFFFF"/>
                    </a:solidFill>
                  </a:tcPr>
                </a:tc>
              </a:tr>
              <a:tr h="770708">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Spinning/weaving capacity expansion (Nytil, Fine Spinners, Lira)</a:t>
                      </a:r>
                    </a:p>
                  </a:txBody>
                  <a:tcPr>
                    <a:solidFill>
                      <a:srgbClr val="D6E8F7"/>
                    </a:solidFill>
                  </a:tcPr>
                </a:tc>
                <a:tc>
                  <a:txBody>
                    <a:bodyPr/>
                    <a:lstStyle/>
                    <a:p>
                      <a:pPr algn="l"/>
                      <a:r>
                        <a:rPr sz="1200" b="0">
                          <a:solidFill>
                            <a:srgbClr val="333333"/>
                          </a:solidFill>
                        </a:rPr>
                        <a:t>Private-led + PPP</a:t>
                      </a:r>
                    </a:p>
                  </a:txBody>
                  <a:tcPr>
                    <a:solidFill>
                      <a:srgbClr val="D6E8F7"/>
                    </a:solidFill>
                  </a:tcPr>
                </a:tc>
                <a:tc>
                  <a:txBody>
                    <a:bodyPr/>
                    <a:lstStyle/>
                    <a:p>
                      <a:pPr algn="l"/>
                      <a:r>
                        <a:rPr sz="1200" b="0">
                          <a:solidFill>
                            <a:srgbClr val="333333"/>
                          </a:solidFill>
                        </a:rPr>
                        <a:t>Indicative (see Ch.11)</a:t>
                      </a:r>
                    </a:p>
                  </a:txBody>
                  <a:tcPr>
                    <a:solidFill>
                      <a:srgbClr val="D6E8F7"/>
                    </a:solidFill>
                  </a:tcPr>
                </a:tc>
              </a:tr>
              <a:tr h="770712">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Integrated garment park (institutional + regional export)</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Indicative (see Ch.11)</a:t>
                      </a:r>
                    </a:p>
                  </a:txBody>
                  <a:tcP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4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Cotton Development Organisation. https://www.cdouga.org/ ; World Business Journal, "CDO Leads Way for Increased Cotton Subsector Growth." https://worldbusinessjournal.com/cdo-leads-way/</a:t>
            </a:r>
          </a:p>
          <a:p>
            <a:pPr/>
            <a:r>
              <a:rPr sz="1600" b="0">
                <a:solidFill>
                  <a:srgbClr val="333333"/>
                </a:solidFill>
              </a:rPr>
              <a:t>•  Economic Policy Research Centre, Upgrading the cotton value chain for textile industry development. https://eprcug.org/publication/upgrading-the-cotton-value-chain-for-textile-industry-development/</a:t>
            </a:r>
          </a:p>
          <a:p>
            <a:pPr/>
            <a:r>
              <a:rPr sz="1600" b="0">
                <a:solidFill>
                  <a:srgbClr val="333333"/>
                </a:solidFill>
              </a:rPr>
              <a:t>•  ChimpReports, "Inside Fine Spinners: spinning Uganda's cotton to European garment stores." https://chimpreports.com/inside-fine-spinners-spinning-ugandas-cotton-to-european-garment-stores/</a:t>
            </a:r>
          </a:p>
          <a:p>
            <a:pPr/>
            <a:r>
              <a:rPr sz="1600" b="0">
                <a:solidFill>
                  <a:srgbClr val="333333"/>
                </a:solidFill>
              </a:rPr>
              <a:t>•  Uganda Investment Authority, "UIA, CDO team up to boost import substitution in cotton sector." https://www.ugandainvest.go.ug/uia-cdo-team-up-to-boost-import-substitution-in-cotton-sector/</a:t>
            </a:r>
          </a:p>
          <a:p>
            <a:pPr/>
            <a:r>
              <a:rPr sz="1600" b="0">
                <a:solidFill>
                  <a:srgbClr val="333333"/>
                </a:solidFill>
              </a:rPr>
              <a:t>•  ITC TradeMap, trade statistics — HS 5201, 6109, Uganda, 2024. https://www.trademap.org</a:t>
            </a:r>
          </a:p>
          <a:p>
            <a:pPr/>
            <a:r>
              <a:rPr sz="1600" b="0">
                <a:solidFill>
                  <a:srgbClr val="333333"/>
                </a:solidFill>
              </a:rPr>
              <a:t>•  NEMA, Effluent Discharge Regulations 2020. https://www.nema.go.ug/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5</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5: Pharmaceuticals Value Chain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899160">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899160">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API &amp; excipient supply</a:t>
                      </a:r>
                    </a:p>
                  </a:txBody>
                  <a:tcPr>
                    <a:solidFill>
                      <a:srgbClr val="D6E8F7"/>
                    </a:solidFill>
                  </a:tcPr>
                </a:tc>
                <a:tc>
                  <a:txBody>
                    <a:bodyPr/>
                    <a:lstStyle/>
                    <a:p>
                      <a:pPr algn="l"/>
                      <a:r>
                        <a:rPr sz="1200" b="0">
                          <a:solidFill>
                            <a:srgbClr val="333333"/>
                          </a:solidFill>
                        </a:rPr>
                        <a:t>Chemicals</a:t>
                      </a:r>
                    </a:p>
                  </a:txBody>
                  <a:tcPr>
                    <a:solidFill>
                      <a:srgbClr val="D6E8F7"/>
                    </a:solidFill>
                  </a:tcPr>
                </a:tc>
                <a:tc>
                  <a:txBody>
                    <a:bodyPr/>
                    <a:lstStyle/>
                    <a:p>
                      <a:pPr algn="l"/>
                      <a:r>
                        <a:rPr sz="1200" b="0">
                          <a:solidFill>
                            <a:srgbClr val="333333"/>
                          </a:solidFill>
                        </a:rPr>
                        <a:t>APIs, excipients (almost all imported)</a:t>
                      </a:r>
                    </a:p>
                  </a:txBody>
                  <a:tcPr>
                    <a:solidFill>
                      <a:srgbClr val="D6E8F7"/>
                    </a:solidFill>
                  </a:tcPr>
                </a:tc>
              </a:tr>
              <a:tr h="899160">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Formulation / manufacturing</a:t>
                      </a:r>
                    </a:p>
                  </a:txBody>
                  <a:tcPr>
                    <a:solidFill>
                      <a:srgbClr val="FFFFFF"/>
                    </a:solidFill>
                  </a:tcPr>
                </a:tc>
                <a:tc>
                  <a:txBody>
                    <a:bodyPr/>
                    <a:lstStyle/>
                    <a:p>
                      <a:pPr algn="l"/>
                      <a:r>
                        <a:rPr sz="1200" b="0">
                          <a:solidFill>
                            <a:srgbClr val="333333"/>
                          </a:solidFill>
                        </a:rPr>
                        <a:t>APIs, excipients</a:t>
                      </a:r>
                    </a:p>
                  </a:txBody>
                  <a:tcPr>
                    <a:solidFill>
                      <a:srgbClr val="FFFFFF"/>
                    </a:solidFill>
                  </a:tcPr>
                </a:tc>
                <a:tc>
                  <a:txBody>
                    <a:bodyPr/>
                    <a:lstStyle/>
                    <a:p>
                      <a:pPr algn="l"/>
                      <a:r>
                        <a:rPr sz="1200" b="0">
                          <a:solidFill>
                            <a:srgbClr val="333333"/>
                          </a:solidFill>
                        </a:rPr>
                        <a:t>Tablets, capsules, syrups, injectables</a:t>
                      </a:r>
                    </a:p>
                  </a:txBody>
                  <a:tcPr>
                    <a:solidFill>
                      <a:srgbClr val="FFFFFF"/>
                    </a:solidFill>
                  </a:tcPr>
                </a:tc>
              </a:tr>
              <a:tr h="899160">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Packaging</a:t>
                      </a:r>
                    </a:p>
                  </a:txBody>
                  <a:tcPr>
                    <a:solidFill>
                      <a:srgbClr val="D6E8F7"/>
                    </a:solidFill>
                  </a:tcPr>
                </a:tc>
                <a:tc>
                  <a:txBody>
                    <a:bodyPr/>
                    <a:lstStyle/>
                    <a:p>
                      <a:pPr algn="l"/>
                      <a:r>
                        <a:rPr sz="1200" b="0">
                          <a:solidFill>
                            <a:srgbClr val="333333"/>
                          </a:solidFill>
                        </a:rPr>
                        <a:t>Bulk product</a:t>
                      </a:r>
                    </a:p>
                  </a:txBody>
                  <a:tcPr>
                    <a:solidFill>
                      <a:srgbClr val="D6E8F7"/>
                    </a:solidFill>
                  </a:tcPr>
                </a:tc>
                <a:tc>
                  <a:txBody>
                    <a:bodyPr/>
                    <a:lstStyle/>
                    <a:p>
                      <a:pPr algn="l"/>
                      <a:r>
                        <a:rPr sz="1200" b="0">
                          <a:solidFill>
                            <a:srgbClr val="333333"/>
                          </a:solidFill>
                        </a:rPr>
                        <a:t>Packaged medicines</a:t>
                      </a:r>
                    </a:p>
                  </a:txBody>
                  <a:tcPr>
                    <a:solidFill>
                      <a:srgbClr val="D6E8F7"/>
                    </a:solidFill>
                  </a:tcPr>
                </a:tc>
              </a:tr>
              <a:tr h="899160">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Distribution</a:t>
                      </a:r>
                    </a:p>
                  </a:txBody>
                  <a:tcPr>
                    <a:solidFill>
                      <a:srgbClr val="FFFFFF"/>
                    </a:solidFill>
                  </a:tcPr>
                </a:tc>
                <a:tc>
                  <a:txBody>
                    <a:bodyPr/>
                    <a:lstStyle/>
                    <a:p>
                      <a:pPr algn="l"/>
                      <a:r>
                        <a:rPr sz="1200" b="0">
                          <a:solidFill>
                            <a:srgbClr val="333333"/>
                          </a:solidFill>
                        </a:rPr>
                        <a:t>Medicines</a:t>
                      </a:r>
                    </a:p>
                  </a:txBody>
                  <a:tcPr>
                    <a:solidFill>
                      <a:srgbClr val="FFFFFF"/>
                    </a:solidFill>
                  </a:tcPr>
                </a:tc>
                <a:tc>
                  <a:txBody>
                    <a:bodyPr/>
                    <a:lstStyle/>
                    <a:p>
                      <a:pPr algn="l"/>
                      <a:r>
                        <a:rPr sz="1200" b="0">
                          <a:solidFill>
                            <a:srgbClr val="333333"/>
                          </a:solidFill>
                        </a:rPr>
                        <a:t>Wholesale/NMS/JMS supply</a:t>
                      </a:r>
                    </a:p>
                  </a:txBody>
                  <a:tcPr>
                    <a:solidFill>
                      <a:srgbClr val="FFFFFF"/>
                    </a:solidFill>
                  </a:tcPr>
                </a:tc>
              </a:tr>
              <a:tr h="899160">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Dispensing</a:t>
                      </a:r>
                    </a:p>
                  </a:txBody>
                  <a:tcPr>
                    <a:solidFill>
                      <a:srgbClr val="D6E8F7"/>
                    </a:solidFill>
                  </a:tcPr>
                </a:tc>
                <a:tc>
                  <a:txBody>
                    <a:bodyPr/>
                    <a:lstStyle/>
                    <a:p>
                      <a:pPr algn="l"/>
                      <a:r>
                        <a:rPr sz="1200" b="0">
                          <a:solidFill>
                            <a:srgbClr val="333333"/>
                          </a:solidFill>
                        </a:rPr>
                        <a:t>Medicines</a:t>
                      </a:r>
                    </a:p>
                  </a:txBody>
                  <a:tcPr>
                    <a:solidFill>
                      <a:srgbClr val="D6E8F7"/>
                    </a:solidFill>
                  </a:tcPr>
                </a:tc>
                <a:tc>
                  <a:txBody>
                    <a:bodyPr/>
                    <a:lstStyle/>
                    <a:p>
                      <a:pPr algn="l"/>
                      <a:r>
                        <a:rPr sz="1200" b="0">
                          <a:solidFill>
                            <a:srgbClr val="333333"/>
                          </a:solidFill>
                        </a:rPr>
                        <a:t>Pharmacies, hospitals, patients</a:t>
                      </a:r>
                    </a:p>
                  </a:txBody>
                  <a:tcPr>
                    <a:solidFill>
                      <a:srgbClr val="D6E8F7"/>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pharmaceuticals chain runs from active pharmaceutical ingredients (APIs) and excipients through formulation/manufacturing to packaging, distribution, and dispensing. Uganda participates mainly at the formulation and packaging stage, importing nearly all APIs, and imports the large majority of finished medicines.</a:t>
            </a:r>
          </a:p>
          <a:p>
            <a:pPr/>
            <a:r>
              <a:rPr sz="1600" b="0">
                <a:solidFill>
                  <a:srgbClr val="333333"/>
                </a:solidFill>
              </a:rPr>
              <a:t>•  Where value is captured and lost. Uganda imports roughly 90% of its medicines (down from 96% in 2016), with the medical and pharmaceutical import bill at about USD 534 million in 2023 and medicaments (HS 3004) imports of USD 263.4 million in 2024 (ITC TradeMap; sector data). The domestic market is around USD 221 million (2023). Local manufacturing adds value at the formulation/packaging stage but depends entirely on imported APIs.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Market and import dependence. Uganda's pharmaceutical market is estimated at ~USD 221 million (2023), growing ~9.4%/year, with ~90% of medicines imported (Statista; sector analyses). The improvement from 96% (2016) to ~90% reflects deliberate local-production support.</a:t>
            </a:r>
          </a:p>
          <a:p>
            <a:pPr/>
            <a:r>
              <a:rPr sz="1600" b="0">
                <a:solidFill>
                  <a:srgbClr val="333333"/>
                </a:solidFill>
              </a:rPr>
              <a:t>•  Local manufacturing base. Uganda has six WHO-GMP-aligned manufacturing facilities / local manufacturers producing NDA-registered drugs (NDA; UNIDO). The flagship is Cipla Quality Chemical Industries Ltd (QCIL) — established 2005, with capacity of about 1.2 billion tablets/capsules per year, producing antiretrovirals (ARVs), antimalarials, and a growing non-communicable-disease portfolio, exporting across African markets; FY24/25 revenue was about UGX 267 billion (QCIL; Cipla). Other significant manufacturers include Kampala Pharmaceutical Industries (KPI), Rene Industries, and Abacus Pharma. Local pharmaceutical employment rose ~42% between 2017 and 2019 (UNIDO sector data).</a:t>
            </a:r>
          </a:p>
          <a:p>
            <a:pPr/>
            <a:r>
              <a:rPr sz="1600" b="0">
                <a:solidFill>
                  <a:srgbClr val="333333"/>
                </a:solidFill>
              </a:rPr>
              <a:t>•  Regulation. The National Drug Authority (NDA) regulates registration, importation, manufacturing standards, and pharmacovigilance; the National Drug Register (June 2024) is the manufacturer/product reference.</a:t>
            </a:r>
          </a:p>
          <a:p>
            <a:pPr/>
            <a:r>
              <a:rPr sz="1600" b="0">
                <a:solidFill>
                  <a:srgbClr val="333333"/>
                </a:solidFill>
              </a:rPr>
              <a:t>•  Trade position (ITC TradeMap, 2024). Medicaments (HS 3004) imports USD 263.4m — the dominant line — sourced widely (India, Kenya, Europe). Exports exist (QCIL serves regional markets) but are small relative to imports.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Near-total dependence on imported APIs and excipients — the deepest structural constraint and a supply-security risk.</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WHO-GMP capability exists (QCIL) but is concentrated; broader industry needs technology and quality-systems upgrading.</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Reliable power and clean utilities essential for GMP; backup adds cost.</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Pharmaceutical-grade water systems required; a capital and compliance item.</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Cold-chain and reliable distribution needed; landlocked import costs raise API costs.</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Pharmaceutical waste regulated (NEMA/NDA); incineration and effluent handling required.</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GMP plants are capital-intensive with long regulatory lead times; patient capital scarce.</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Pharmacists, QA/QC, and regulatory-affairs specialists in short supply.</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WHO-GMP and NDA registration are the gatekeepers; meeting them is the core competitiveness challenge — and Uganda's proven strength via QCIL.</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NDA verification fees, preferential public procurement for local manufacturers, and EAC harmonization shape the local-production trajectory.</a:t>
                      </a:r>
                    </a:p>
                  </a:txBody>
                  <a:tcPr>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A ~USD 221m market growing ~9.4%/year, dominated by imports — a large substitution opportunity, anchored by guaranteed public demand (National Medical Stores, Joint Medical Store).</a:t>
            </a:r>
          </a:p>
          <a:p>
            <a:pPr/>
            <a:r>
              <a:rPr sz="1600" b="0">
                <a:solidFill>
                  <a:srgbClr val="333333"/>
                </a:solidFill>
              </a:rPr>
              <a:t>•  Regional (EAC/COMESA). QCIL already exports ARVs and antimalarials across African markets and holds approvals in many countries — proof that Uganda can compete regionally in selected GMP products. Donor-funded disease programmes (HIV, malaria, TB) are a structured regional market.</a:t>
            </a:r>
          </a:p>
          <a:p>
            <a:pPr/>
            <a:r>
              <a:rPr sz="1600" b="0">
                <a:solidFill>
                  <a:srgbClr val="333333"/>
                </a:solidFill>
              </a:rPr>
              <a:t>•  Global. WHO-prequalification opens global donor procurement for specific products (as QCIL has demonstrated); this is the realistic global niche — prequalified essential medicines, not broad-spectrum manufacture.</a:t>
            </a:r>
          </a:p>
          <a:p>
            <a:pPr/>
            <a:r>
              <a:rPr sz="1600" b="0">
                <a:solidFill>
                  <a:srgbClr val="333333"/>
                </a:solidFill>
              </a:rPr>
              <a:t>•  Accessible market conclusion. Prioritize essential generics for domestic + donor/regional markets (ARVs, antimalarials, anti-TB, key NCD drugs), backed by guaranteed public procurement.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**Essential generics (ARVs, antimalarials, anti-TB, NCD)**</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 (QCIL base)</a:t>
                      </a:r>
                    </a:p>
                  </a:txBody>
                  <a:tcPr>
                    <a:solidFill>
                      <a:srgbClr val="D6E8F7"/>
                    </a:solidFill>
                  </a:tcPr>
                </a:tc>
                <a:tc>
                  <a:txBody>
                    <a:bodyPr/>
                    <a:lstStyle/>
                    <a:p>
                      <a:pPr algn="l"/>
                      <a:r>
                        <a:rPr sz="1200" b="0">
                          <a:solidFill>
                            <a:srgbClr val="333333"/>
                          </a:solidFill>
                        </a:rPr>
                        <a:t>Medium–High</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Very 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**Medical consumables &amp; basic formulations**</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**Priority**</a:t>
                      </a:r>
                    </a:p>
                  </a:txBody>
                  <a:tcPr>
                    <a:solidFill>
                      <a:srgbClr val="FFFFFF"/>
                    </a:solidFill>
                  </a:tcPr>
                </a:tc>
              </a:tr>
              <a:tr h="899160">
                <a:tc>
                  <a:txBody>
                    <a:bodyPr/>
                    <a:lstStyle/>
                    <a:p>
                      <a:pPr algn="l"/>
                      <a:r>
                        <a:rPr sz="1200" b="0">
                          <a:solidFill>
                            <a:srgbClr val="333333"/>
                          </a:solidFill>
                        </a:rPr>
                        <a:t>**Local API / excipient (selective)**</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Low–Med</a:t>
                      </a:r>
                    </a:p>
                  </a:txBody>
                  <a:tcPr>
                    <a:solidFill>
                      <a:srgbClr val="D6E8F7"/>
                    </a:solidFill>
                  </a:tcPr>
                </a:tc>
                <a:tc>
                  <a:txBody>
                    <a:bodyPr/>
                    <a:lstStyle/>
                    <a:p>
                      <a:pPr algn="l"/>
                      <a:r>
                        <a:rPr sz="1200" b="0">
                          <a:solidFill>
                            <a:srgbClr val="333333"/>
                          </a:solidFill>
                        </a:rPr>
                        <a:t>Low–Med</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 (supply security)</a:t>
                      </a:r>
                    </a:p>
                  </a:txBody>
                  <a:tcPr>
                    <a:solidFill>
                      <a:srgbClr val="D6E8F7"/>
                    </a:solidFill>
                  </a:tcPr>
                </a:tc>
                <a:tc>
                  <a:txBody>
                    <a:bodyPr/>
                    <a:lstStyle/>
                    <a:p>
                      <a:pPr algn="l"/>
                      <a:r>
                        <a:rPr sz="1200" b="0">
                          <a:solidFill>
                            <a:srgbClr val="333333"/>
                          </a:solidFill>
                        </a:rPr>
                        <a:t>**Priority (strategic, longer-term)**</a:t>
                      </a:r>
                    </a:p>
                  </a:txBody>
                  <a:tcPr>
                    <a:solidFill>
                      <a:srgbClr val="D6E8F7"/>
                    </a:solidFill>
                  </a:tcPr>
                </a:tc>
              </a:tr>
              <a:tr h="899160">
                <a:tc>
                  <a:txBody>
                    <a:bodyPr/>
                    <a:lstStyle/>
                    <a:p>
                      <a:pPr algn="l"/>
                      <a:r>
                        <a:rPr sz="1200" b="0">
                          <a:solidFill>
                            <a:srgbClr val="333333"/>
                          </a:solidFill>
                        </a:rPr>
                        <a:t>Biologics / vaccines (fill-finish)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Low–Med</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Conditional</a:t>
                      </a:r>
                    </a:p>
                  </a:txBody>
                  <a:tcPr>
                    <a:solidFill>
                      <a:srgbClr val="FFFFFF"/>
                    </a:solidFill>
                  </a:tcPr>
                </a:tc>
              </a:tr>
              <a:tr h="899160">
                <a:tc>
                  <a:txBody>
                    <a:bodyPr/>
                    <a:lstStyle/>
                    <a:p>
                      <a:pPr algn="l"/>
                      <a:r>
                        <a:rPr sz="1200" b="0">
                          <a:solidFill>
                            <a:srgbClr val="333333"/>
                          </a:solidFill>
                        </a:rPr>
                        <a:t>Full API synthesis at scale</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Deprioritize (for now)</a:t>
                      </a:r>
                    </a:p>
                  </a:txBody>
                  <a:tcPr>
                    <a:solidFill>
                      <a:srgbClr val="D6E8F7"/>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Pharmaceuticals:</a:t>
            </a:r>
          </a:p>
          <a:p>
            <a:pPr/>
            <a:r>
              <a:rPr sz="1600" b="0">
                <a:solidFill>
                  <a:srgbClr val="333333"/>
                </a:solidFill>
              </a:rPr>
              <a:t>•  Explicit deprioritization. Uganda should not attempt broad-spectrum API synthesis at scale now — it is capital- and chemistry-intensive beyond current competitiveness. Vaccine fill-finish is conditional (tied to regional initiatives). Focus on finished essential generics where Uganda already competes.</a:t>
            </a:r>
          </a:p>
          <a:p>
            <a:pPr/>
            <a:r>
              <a:rPr sz="1600" b="0">
                <a:solidFill>
                  <a:srgbClr val="333333"/>
                </a:solidFill>
              </a:rPr>
              <a:t>1. Essential generics (ARVs, antimalarials, anti-TB, priority NCD medicines) — build on QCIL's proven WHO-GMP base and guaranteed domestic + donor/regional demand. The clearest, highest-impact substitution.</a:t>
            </a:r>
          </a:p>
          <a:p>
            <a:pPr/>
            <a:r>
              <a:rPr sz="1600" b="0">
                <a:solidFill>
                  <a:srgbClr val="333333"/>
                </a:solidFill>
              </a:rPr>
              <a:t>2. Medical consumables and basic formulations — feasible, job-creating, and substitutes a broad import line.</a:t>
            </a:r>
          </a:p>
          <a:p>
            <a:pPr/>
            <a:r>
              <a:rPr sz="1600" b="0">
                <a:solidFill>
                  <a:srgbClr val="333333"/>
                </a:solidFill>
              </a:rPr>
              <a:t>3. Selective local API/excipient production — a strategic, longer-term move to reduce the deepest dependency (imported APIs), pursued selectively where volumes justify it.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5.F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770708">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Preferential public procurement (NMS/JMS) for locally made essential medicines</a:t>
                      </a:r>
                    </a:p>
                  </a:txBody>
                  <a:tcPr>
                    <a:solidFill>
                      <a:srgbClr val="D6E8F7"/>
                    </a:solidFill>
                  </a:tcPr>
                </a:tc>
                <a:tc>
                  <a:txBody>
                    <a:bodyPr/>
                    <a:lstStyle/>
                    <a:p>
                      <a:pPr algn="l"/>
                      <a:r>
                        <a:rPr sz="1200" b="0">
                          <a:solidFill>
                            <a:srgbClr val="333333"/>
                          </a:solidFill>
                        </a:rPr>
                        <a:t>MoH, NMS, MoFPED</a:t>
                      </a:r>
                    </a:p>
                  </a:txBody>
                  <a:tcPr>
                    <a:solidFill>
                      <a:srgbClr val="D6E8F7"/>
                    </a:solidFill>
                  </a:tcPr>
                </a:tc>
                <a:tc>
                  <a:txBody>
                    <a:bodyPr/>
                    <a:lstStyle/>
                    <a:p>
                      <a:pPr algn="l"/>
                      <a:r>
                        <a:rPr sz="1200" b="0">
                          <a:solidFill>
                            <a:srgbClr val="333333"/>
                          </a:solidFill>
                        </a:rPr>
                        <a:t>Procurement</a:t>
                      </a:r>
                    </a:p>
                  </a:txBody>
                  <a:tcPr>
                    <a:solidFill>
                      <a:srgbClr val="D6E8F7"/>
                    </a:solidFill>
                  </a:tcPr>
                </a:tc>
              </a:tr>
              <a:tr h="770708">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Streamline NDA registration/fees for local manufacturers</a:t>
                      </a:r>
                    </a:p>
                  </a:txBody>
                  <a:tcPr>
                    <a:solidFill>
                      <a:srgbClr val="FFFFFF"/>
                    </a:solidFill>
                  </a:tcPr>
                </a:tc>
                <a:tc>
                  <a:txBody>
                    <a:bodyPr/>
                    <a:lstStyle/>
                    <a:p>
                      <a:pPr algn="l"/>
                      <a:r>
                        <a:rPr sz="1200" b="0">
                          <a:solidFill>
                            <a:srgbClr val="333333"/>
                          </a:solidFill>
                        </a:rPr>
                        <a:t>NDA, MTIC</a:t>
                      </a:r>
                    </a:p>
                  </a:txBody>
                  <a:tcPr>
                    <a:solidFill>
                      <a:srgbClr val="FFFFFF"/>
                    </a:solidFill>
                  </a:tcPr>
                </a:tc>
                <a:tc>
                  <a:txBody>
                    <a:bodyPr/>
                    <a:lstStyle/>
                    <a:p>
                      <a:pPr algn="l"/>
                      <a:r>
                        <a:rPr sz="1200" b="0">
                          <a:solidFill>
                            <a:srgbClr val="333333"/>
                          </a:solidFill>
                        </a:rPr>
                        <a:t>Low</a:t>
                      </a:r>
                    </a:p>
                  </a:txBody>
                  <a:tcPr>
                    <a:solidFill>
                      <a:srgbClr val="FFFFFF"/>
                    </a:solidFill>
                  </a:tcPr>
                </a:tc>
              </a:tr>
              <a:tr h="770708">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GMP-upgrade support fund for local manufacturers seeking WHO-prequalification</a:t>
                      </a:r>
                    </a:p>
                  </a:txBody>
                  <a:tcPr>
                    <a:solidFill>
                      <a:srgbClr val="D6E8F7"/>
                    </a:solidFill>
                  </a:tcPr>
                </a:tc>
                <a:tc>
                  <a:txBody>
                    <a:bodyPr/>
                    <a:lstStyle/>
                    <a:p>
                      <a:pPr algn="l"/>
                      <a:r>
                        <a:rPr sz="1200" b="0">
                          <a:solidFill>
                            <a:srgbClr val="333333"/>
                          </a:solidFill>
                        </a:rPr>
                        <a:t>MTIC, UDB, partners</a:t>
                      </a:r>
                    </a:p>
                  </a:txBody>
                  <a:tcPr>
                    <a:solidFill>
                      <a:srgbClr val="D6E8F7"/>
                    </a:solidFill>
                  </a:tcPr>
                </a:tc>
                <a:tc>
                  <a:txBody>
                    <a:bodyPr/>
                    <a:lstStyle/>
                    <a:p>
                      <a:pPr algn="l"/>
                      <a:r>
                        <a:rPr sz="1200" b="0">
                          <a:solidFill>
                            <a:srgbClr val="333333"/>
                          </a:solidFill>
                        </a:rPr>
                        <a:t>Medium</a:t>
                      </a:r>
                    </a:p>
                  </a:txBody>
                  <a:tcPr>
                    <a:solidFill>
                      <a:srgbClr val="D6E8F7"/>
                    </a:solidFill>
                  </a:tcPr>
                </a:tc>
              </a:tr>
              <a:tr h="770708">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Pharma skills programme (QA/QC, regulatory affairs) with Makerere</a:t>
                      </a:r>
                    </a:p>
                  </a:txBody>
                  <a:tcPr>
                    <a:solidFill>
                      <a:srgbClr val="FFFFFF"/>
                    </a:solidFill>
                  </a:tcPr>
                </a:tc>
                <a:tc>
                  <a:txBody>
                    <a:bodyPr/>
                    <a:lstStyle/>
                    <a:p>
                      <a:pPr algn="l"/>
                      <a:r>
                        <a:rPr sz="1200" b="0">
                          <a:solidFill>
                            <a:srgbClr val="333333"/>
                          </a:solidFill>
                        </a:rPr>
                        <a:t>MoES, NDA</a:t>
                      </a:r>
                    </a:p>
                  </a:txBody>
                  <a:tcPr>
                    <a:solidFill>
                      <a:srgbClr val="FFFFFF"/>
                    </a:solidFill>
                  </a:tcPr>
                </a:tc>
                <a:tc>
                  <a:txBody>
                    <a:bodyPr/>
                    <a:lstStyle/>
                    <a:p>
                      <a:pPr algn="l"/>
                      <a:r>
                        <a:rPr sz="1200" b="0">
                          <a:solidFill>
                            <a:srgbClr val="333333"/>
                          </a:solidFill>
                        </a:rPr>
                        <a:t>Medium</a:t>
                      </a:r>
                    </a:p>
                  </a:txBody>
                  <a:tcPr>
                    <a:solidFill>
                      <a:srgbClr val="FFFFFF"/>
                    </a:solidFill>
                  </a:tcPr>
                </a:tc>
              </a:tr>
              <a:tr h="770708">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Expansion of GMP generics capacity (QCIL and others)</a:t>
                      </a:r>
                    </a:p>
                  </a:txBody>
                  <a:tcPr>
                    <a:solidFill>
                      <a:srgbClr val="D6E8F7"/>
                    </a:solidFill>
                  </a:tcPr>
                </a:tc>
                <a:tc>
                  <a:txBody>
                    <a:bodyPr/>
                    <a:lstStyle/>
                    <a:p>
                      <a:pPr algn="l"/>
                      <a:r>
                        <a:rPr sz="1200" b="0">
                          <a:solidFill>
                            <a:srgbClr val="333333"/>
                          </a:solidFill>
                        </a:rPr>
                        <a:t>Private-led + PPP</a:t>
                      </a:r>
                    </a:p>
                  </a:txBody>
                  <a:tcPr>
                    <a:solidFill>
                      <a:srgbClr val="D6E8F7"/>
                    </a:solidFill>
                  </a:tcPr>
                </a:tc>
                <a:tc>
                  <a:txBody>
                    <a:bodyPr/>
                    <a:lstStyle/>
                    <a:p>
                      <a:pPr algn="l"/>
                      <a:r>
                        <a:rPr sz="1200" b="0">
                          <a:solidFill>
                            <a:srgbClr val="333333"/>
                          </a:solidFill>
                        </a:rPr>
                        <a:t>Indicative (see Ch.11)</a:t>
                      </a:r>
                    </a:p>
                  </a:txBody>
                  <a:tcPr>
                    <a:solidFill>
                      <a:srgbClr val="D6E8F7"/>
                    </a:solidFill>
                  </a:tcPr>
                </a:tc>
              </a:tr>
              <a:tr h="770712">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Selective API/excipient plant where volumes justify</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Indicative (see Ch.11)</a:t>
                      </a:r>
                    </a:p>
                  </a:txBody>
                  <a:tcPr>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5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National Drug Authority, National Drug Register of Uganda — Human Medicines (June 2024). https://www.nda.or.ug/</a:t>
            </a:r>
          </a:p>
          <a:p>
            <a:pPr/>
            <a:r>
              <a:rPr sz="1600" b="0">
                <a:solidFill>
                  <a:srgbClr val="333333"/>
                </a:solidFill>
              </a:rPr>
              <a:t>•  UNIDO, Pharmaceutical Sector Profile — Uganda. https://open.unido.org/api/documents/4699932/download/Pharmaceutical%20Sector%20Profile%20-%20Uganda</a:t>
            </a:r>
          </a:p>
          <a:p>
            <a:pPr/>
            <a:r>
              <a:rPr sz="1600" b="0">
                <a:solidFill>
                  <a:srgbClr val="333333"/>
                </a:solidFill>
              </a:rPr>
              <a:t>•  Statista, Pharmaceuticals — Uganda. https://www.statista.com/outlook/hmo/pharmaceuticals/uganda</a:t>
            </a:r>
          </a:p>
          <a:p>
            <a:pPr/>
            <a:r>
              <a:rPr sz="1600" b="0">
                <a:solidFill>
                  <a:srgbClr val="333333"/>
                </a:solidFill>
              </a:rPr>
              <a:t>•  Quality Chemical Industries Limited (Wikipedia summary); Cipla Uganda. https://en.wikipedia.org/wiki/Quality_Chemical_Industries_Limited ; https://www.cipla.com/our-presence/uganda</a:t>
            </a:r>
          </a:p>
          <a:p>
            <a:pPr/>
            <a:r>
              <a:rPr sz="1600" b="0">
                <a:solidFill>
                  <a:srgbClr val="333333"/>
                </a:solidFill>
              </a:rPr>
              <a:t>•  ITC TradeMap, trade statistics — HS 3004, Uganda, 2024.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6</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6: Petrochemicals &amp; Fertilizers Value Chain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899160">
                <a:tc>
                  <a:txBody>
                    <a:bodyPr/>
                    <a:lstStyle/>
                    <a:p>
                      <a:pPr algn="l"/>
                      <a:r>
                        <a:rPr sz="1300" b="1">
                          <a:solidFill>
                            <a:srgbClr val="FFFFFF"/>
                          </a:solidFill>
                        </a:rPr>
                        <a:t>Strand</a:t>
                      </a:r>
                    </a:p>
                  </a:txBody>
                  <a:tcPr>
                    <a:solidFill>
                      <a:srgbClr val="002B5B"/>
                    </a:solidFill>
                  </a:tcPr>
                </a:tc>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Inputs</a:t>
                      </a:r>
                    </a:p>
                  </a:txBody>
                  <a:tcPr>
                    <a:solidFill>
                      <a:srgbClr val="002B5B"/>
                    </a:solidFill>
                  </a:tcPr>
                </a:tc>
                <a:tc>
                  <a:txBody>
                    <a:bodyPr/>
                    <a:lstStyle/>
                    <a:p>
                      <a:pPr algn="l"/>
                      <a:r>
                        <a:rPr sz="1300" b="1">
                          <a:solidFill>
                            <a:srgbClr val="FFFFFF"/>
                          </a:solidFill>
                        </a:rPr>
                        <a:t>Output</a:t>
                      </a:r>
                    </a:p>
                  </a:txBody>
                  <a:tcPr>
                    <a:solidFill>
                      <a:srgbClr val="002B5B"/>
                    </a:solidFill>
                  </a:tcPr>
                </a:tc>
              </a:tr>
              <a:tr h="899160">
                <a:tc>
                  <a:txBody>
                    <a:bodyPr/>
                    <a:lstStyle/>
                    <a:p>
                      <a:pPr algn="l"/>
                      <a:r>
                        <a:rPr sz="1200" b="0">
                          <a:solidFill>
                            <a:srgbClr val="333333"/>
                          </a:solidFill>
                        </a:rPr>
                        <a:t>Petrochemicals</a:t>
                      </a:r>
                    </a:p>
                  </a:txBody>
                  <a:tcPr>
                    <a:solidFill>
                      <a:srgbClr val="D6E8F7"/>
                    </a:solidFill>
                  </a:tcPr>
                </a:tc>
                <a:tc>
                  <a:txBody>
                    <a:bodyPr/>
                    <a:lstStyle/>
                    <a:p>
                      <a:pPr algn="l"/>
                      <a:r>
                        <a:rPr sz="1200" b="0">
                          <a:solidFill>
                            <a:srgbClr val="333333"/>
                          </a:solidFill>
                        </a:rPr>
                        <a:t>Refining</a:t>
                      </a:r>
                    </a:p>
                  </a:txBody>
                  <a:tcPr>
                    <a:solidFill>
                      <a:srgbClr val="D6E8F7"/>
                    </a:solidFill>
                  </a:tcPr>
                </a:tc>
                <a:tc>
                  <a:txBody>
                    <a:bodyPr/>
                    <a:lstStyle/>
                    <a:p>
                      <a:pPr algn="l"/>
                      <a:r>
                        <a:rPr sz="1200" b="0">
                          <a:solidFill>
                            <a:srgbClr val="333333"/>
                          </a:solidFill>
                        </a:rPr>
                        <a:t>Crude oil</a:t>
                      </a:r>
                    </a:p>
                  </a:txBody>
                  <a:tcPr>
                    <a:solidFill>
                      <a:srgbClr val="D6E8F7"/>
                    </a:solidFill>
                  </a:tcPr>
                </a:tc>
                <a:tc>
                  <a:txBody>
                    <a:bodyPr/>
                    <a:lstStyle/>
                    <a:p>
                      <a:pPr algn="l"/>
                      <a:r>
                        <a:rPr sz="1200" b="0">
                          <a:solidFill>
                            <a:srgbClr val="333333"/>
                          </a:solidFill>
                        </a:rPr>
                        <a:t>Fuels, LPG, naphtha, base chemicals</a:t>
                      </a:r>
                    </a:p>
                  </a:txBody>
                  <a:tcPr>
                    <a:solidFill>
                      <a:srgbClr val="D6E8F7"/>
                    </a:solidFill>
                  </a:tcPr>
                </a:tc>
              </a:tr>
              <a:tr h="899160">
                <a:tc>
                  <a:txBody>
                    <a:bodyPr/>
                    <a:lstStyle/>
                    <a:p>
                      <a:pPr algn="l"/>
                      <a:r>
                        <a:rPr sz="1200" b="0">
                          <a:solidFill>
                            <a:srgbClr val="333333"/>
                          </a:solidFill>
                        </a:rPr>
                        <a:t>Petrochemicals</a:t>
                      </a:r>
                    </a:p>
                  </a:txBody>
                  <a:tcPr>
                    <a:solidFill>
                      <a:srgbClr val="FFFFFF"/>
                    </a:solidFill>
                  </a:tcPr>
                </a:tc>
                <a:tc>
                  <a:txBody>
                    <a:bodyPr/>
                    <a:lstStyle/>
                    <a:p>
                      <a:pPr algn="l"/>
                      <a:r>
                        <a:rPr sz="1200" b="0">
                          <a:solidFill>
                            <a:srgbClr val="333333"/>
                          </a:solidFill>
                        </a:rPr>
                        <a:t>Petrochemical processing</a:t>
                      </a:r>
                    </a:p>
                  </a:txBody>
                  <a:tcPr>
                    <a:solidFill>
                      <a:srgbClr val="FFFFFF"/>
                    </a:solidFill>
                  </a:tcPr>
                </a:tc>
                <a:tc>
                  <a:txBody>
                    <a:bodyPr/>
                    <a:lstStyle/>
                    <a:p>
                      <a:pPr algn="l"/>
                      <a:r>
                        <a:rPr sz="1200" b="0">
                          <a:solidFill>
                            <a:srgbClr val="333333"/>
                          </a:solidFill>
                        </a:rPr>
                        <a:t>Naphtha/gas</a:t>
                      </a:r>
                    </a:p>
                  </a:txBody>
                  <a:tcPr>
                    <a:solidFill>
                      <a:srgbClr val="FFFFFF"/>
                    </a:solidFill>
                  </a:tcPr>
                </a:tc>
                <a:tc>
                  <a:txBody>
                    <a:bodyPr/>
                    <a:lstStyle/>
                    <a:p>
                      <a:pPr algn="l"/>
                      <a:r>
                        <a:rPr sz="1200" b="0">
                          <a:solidFill>
                            <a:srgbClr val="333333"/>
                          </a:solidFill>
                        </a:rPr>
                        <a:t>Polymers, solvents, intermediates</a:t>
                      </a:r>
                    </a:p>
                  </a:txBody>
                  <a:tcPr>
                    <a:solidFill>
                      <a:srgbClr val="FFFFFF"/>
                    </a:solidFill>
                  </a:tcPr>
                </a:tc>
              </a:tr>
              <a:tr h="899160">
                <a:tc>
                  <a:txBody>
                    <a:bodyPr/>
                    <a:lstStyle/>
                    <a:p>
                      <a:pPr algn="l"/>
                      <a:r>
                        <a:rPr sz="1200" b="0">
                          <a:solidFill>
                            <a:srgbClr val="333333"/>
                          </a:solidFill>
                        </a:rPr>
                        <a:t>Fertilizers</a:t>
                      </a:r>
                    </a:p>
                  </a:txBody>
                  <a:tcPr>
                    <a:solidFill>
                      <a:srgbClr val="D6E8F7"/>
                    </a:solidFill>
                  </a:tcPr>
                </a:tc>
                <a:tc>
                  <a:txBody>
                    <a:bodyPr/>
                    <a:lstStyle/>
                    <a:p>
                      <a:pPr algn="l"/>
                      <a:r>
                        <a:rPr sz="1200" b="0">
                          <a:solidFill>
                            <a:srgbClr val="333333"/>
                          </a:solidFill>
                        </a:rPr>
                        <a:t>Phosphate mining &amp; processing</a:t>
                      </a:r>
                    </a:p>
                  </a:txBody>
                  <a:tcPr>
                    <a:solidFill>
                      <a:srgbClr val="D6E8F7"/>
                    </a:solidFill>
                  </a:tcPr>
                </a:tc>
                <a:tc>
                  <a:txBody>
                    <a:bodyPr/>
                    <a:lstStyle/>
                    <a:p>
                      <a:pPr algn="l"/>
                      <a:r>
                        <a:rPr sz="1200" b="0">
                          <a:solidFill>
                            <a:srgbClr val="333333"/>
                          </a:solidFill>
                        </a:rPr>
                        <a:t>Phosphate rock, sulphur</a:t>
                      </a:r>
                    </a:p>
                  </a:txBody>
                  <a:tcPr>
                    <a:solidFill>
                      <a:srgbClr val="D6E8F7"/>
                    </a:solidFill>
                  </a:tcPr>
                </a:tc>
                <a:tc>
                  <a:txBody>
                    <a:bodyPr/>
                    <a:lstStyle/>
                    <a:p>
                      <a:pPr algn="l"/>
                      <a:r>
                        <a:rPr sz="1200" b="0">
                          <a:solidFill>
                            <a:srgbClr val="333333"/>
                          </a:solidFill>
                        </a:rPr>
                        <a:t>Phosphate fertilizer, sulphuric acid</a:t>
                      </a:r>
                    </a:p>
                  </a:txBody>
                  <a:tcPr>
                    <a:solidFill>
                      <a:srgbClr val="D6E8F7"/>
                    </a:solidFill>
                  </a:tcPr>
                </a:tc>
              </a:tr>
              <a:tr h="899160">
                <a:tc>
                  <a:txBody>
                    <a:bodyPr/>
                    <a:lstStyle/>
                    <a:p>
                      <a:pPr algn="l"/>
                      <a:r>
                        <a:rPr sz="1200" b="0">
                          <a:solidFill>
                            <a:srgbClr val="333333"/>
                          </a:solidFill>
                        </a:rPr>
                        <a:t>Fertilizers</a:t>
                      </a:r>
                    </a:p>
                  </a:txBody>
                  <a:tcPr>
                    <a:solidFill>
                      <a:srgbClr val="FFFFFF"/>
                    </a:solidFill>
                  </a:tcPr>
                </a:tc>
                <a:tc>
                  <a:txBody>
                    <a:bodyPr/>
                    <a:lstStyle/>
                    <a:p>
                      <a:pPr algn="l"/>
                      <a:r>
                        <a:rPr sz="1200" b="0">
                          <a:solidFill>
                            <a:srgbClr val="333333"/>
                          </a:solidFill>
                        </a:rPr>
                        <a:t>Blending</a:t>
                      </a:r>
                    </a:p>
                  </a:txBody>
                  <a:tcPr>
                    <a:solidFill>
                      <a:srgbClr val="FFFFFF"/>
                    </a:solidFill>
                  </a:tcPr>
                </a:tc>
                <a:tc>
                  <a:txBody>
                    <a:bodyPr/>
                    <a:lstStyle/>
                    <a:p>
                      <a:pPr algn="l"/>
                      <a:r>
                        <a:rPr sz="1200" b="0">
                          <a:solidFill>
                            <a:srgbClr val="333333"/>
                          </a:solidFill>
                        </a:rPr>
                        <a:t>Imported/local nutrients</a:t>
                      </a:r>
                    </a:p>
                  </a:txBody>
                  <a:tcPr>
                    <a:solidFill>
                      <a:srgbClr val="FFFFFF"/>
                    </a:solidFill>
                  </a:tcPr>
                </a:tc>
                <a:tc>
                  <a:txBody>
                    <a:bodyPr/>
                    <a:lstStyle/>
                    <a:p>
                      <a:pPr algn="l"/>
                      <a:r>
                        <a:rPr sz="1200" b="0">
                          <a:solidFill>
                            <a:srgbClr val="333333"/>
                          </a:solidFill>
                        </a:rPr>
                        <a:t>NPK blends</a:t>
                      </a:r>
                    </a:p>
                  </a:txBody>
                  <a:tcPr>
                    <a:solidFill>
                      <a:srgbClr val="FFFFFF"/>
                    </a:solidFill>
                  </a:tcPr>
                </a:tc>
              </a:tr>
              <a:tr h="899160">
                <a:tc>
                  <a:txBody>
                    <a:bodyPr/>
                    <a:lstStyle/>
                    <a:p>
                      <a:pPr algn="l"/>
                      <a:r>
                        <a:rPr sz="1200" b="0">
                          <a:solidFill>
                            <a:srgbClr val="333333"/>
                          </a:solidFill>
                        </a:rPr>
                        <a:t>Both</a:t>
                      </a:r>
                    </a:p>
                  </a:txBody>
                  <a:tcPr>
                    <a:solidFill>
                      <a:srgbClr val="D6E8F7"/>
                    </a:solidFill>
                  </a:tcPr>
                </a:tc>
                <a:tc>
                  <a:txBody>
                    <a:bodyPr/>
                    <a:lstStyle/>
                    <a:p>
                      <a:pPr algn="l"/>
                      <a:r>
                        <a:rPr sz="1200" b="0">
                          <a:solidFill>
                            <a:srgbClr val="333333"/>
                          </a:solidFill>
                        </a:rPr>
                        <a:t>Market</a:t>
                      </a:r>
                    </a:p>
                  </a:txBody>
                  <a:tcPr>
                    <a:solidFill>
                      <a:srgbClr val="D6E8F7"/>
                    </a:solidFill>
                  </a:tcPr>
                </a:tc>
                <a:tc>
                  <a:txBody>
                    <a:bodyPr/>
                    <a:lstStyle/>
                    <a:p>
                      <a:pPr algn="l"/>
                      <a:r>
                        <a:rPr sz="1200" b="0">
                          <a:solidFill>
                            <a:srgbClr val="333333"/>
                          </a:solidFill>
                        </a:rPr>
                        <a:t>Products</a:t>
                      </a:r>
                    </a:p>
                  </a:txBody>
                  <a:tcPr>
                    <a:solidFill>
                      <a:srgbClr val="D6E8F7"/>
                    </a:solidFill>
                  </a:tcPr>
                </a:tc>
                <a:tc>
                  <a:txBody>
                    <a:bodyPr/>
                    <a:lstStyle/>
                    <a:p>
                      <a:pPr algn="l"/>
                      <a:r>
                        <a:rPr sz="1200" b="0">
                          <a:solidFill>
                            <a:srgbClr val="333333"/>
                          </a:solidFill>
                        </a:rPr>
                        <a:t>Fuel, plastics feedstock, fertilizer</a:t>
                      </a:r>
                    </a:p>
                  </a:txBody>
                  <a:tcPr>
                    <a:solidFill>
                      <a:srgbClr val="D6E8F7"/>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chain has two related but distinct strands: petrochemicals (derived from oil and gas) and fertilizers (mineral- and chemical-based agricultural inputs). Uganda is pre-production in petrochemicals (refinery under development) and has stalled domestic fertilizer production, importing most chemical fertilizer.</a:t>
            </a:r>
          </a:p>
          <a:p>
            <a:pPr/>
            <a:r>
              <a:rPr sz="1600" b="0">
                <a:solidFill>
                  <a:srgbClr val="333333"/>
                </a:solidFill>
              </a:rPr>
              <a:t>•  Where value is captured and lost. Uganda currently imports refined fuels, plastics feedstock (Chapter 8 linkage), and most fertilizer. Phosphatic/other mineral fertilizer imports (HS 3105) were about USD 32.1 million in 2024 (ITC TradeMap), and total fertilizer need vastly exceeds domestic supply. The future petrochemical base depends on the Kabaale refinery reaching production.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Petrochemicals (pre-production). Uganda's petrochemical future is anchored on the Kabaale (Hoima) refinery and the Kabalega Petrochemical Industrial Park. The refinery is designed for 60,000 barrels per day; in March 2025 an implementation agreement was signed with the UAE's Alpha MBM Investments (with Government holding ~40% via UNOC), at an estimated USD 4 billion, with operations targeted for around 2029–2030 (UNOC; PAU; Hydrocarbon Engineering, 2025). Until then, Uganda has no domestic refining or petrochemical feedstock; all polymers and refined products are imported.</a:t>
            </a:r>
          </a:p>
          <a:p>
            <a:pPr/>
            <a:r>
              <a:rPr sz="1600" b="0">
                <a:solidFill>
                  <a:srgbClr val="333333"/>
                </a:solidFill>
              </a:rPr>
              <a:t>•  Fertilizers (stalled domestic production). The Sukulu / Osukuru Industrial Complex in Tororo (operated by Guangzhou Dongsong) was commissioned in 2018 with a design phosphate-fertilizer capacity of ~100,000 t/year (and associated sulphuric-acid and steel units). However, the plant shut in 2021 after losing financing, resumed only briefly in 2023, and then halted again — so domestic fertilizer output is far below both design capacity and national need (Osukuru complex records; Milling Middle East &amp; Africa, 2023). Uganda imports about 50,000 t of fertilizer against an estimated need approaching 1 million tonnes for effective agricultural intensification.</a:t>
            </a:r>
          </a:p>
          <a:p>
            <a:pPr/>
            <a:r>
              <a:rPr sz="1600" b="0">
                <a:solidFill>
                  <a:srgbClr val="333333"/>
                </a:solidFill>
              </a:rPr>
              <a:t>•  Trade position (ITC TradeMap, 2024). Mineral/chemical fertilizer (HS 3105) imports ~USD 32.1m; broader fertilizer and refined-product imports add to this. Uganda is a net importer across the chain.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Petrochemical feedstock awaits the refinery (≥2029); phosphate rock exists at Sukulu but the plant is stalled; nutrient inputs for blending are imported.</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Refinery/petrochemical technology is world-class-capital-intensive and investor-supplied; Sukulu's processing has under-performed.</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Both strands are energy-intensive; the refinery will be self-supplying; fertilizer processing needs reliable power.</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Process water needed; managed under NEMA.</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Refinery linked to the crude pipeline and product distribution; fertilizer distribution to farmers is a rural-logistics challenge.</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Significant environmental management (refinery emissions, phosphogypsum from phosphate processing); NEMA-regulated.</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Very large capital needs; refinery financed via the Alpha MBM agreement; Sukulu's collapse shows financing fragility.</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Chemical/process-engineering skills scarce; the oil sector is building some capacity.</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Fertilizer quality standards (UNBS) and fuel specifications critical; sub-standard/adulterated fertilizer is a market problem.</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Oil-sector governance (PAU, UNOC), fertilizer subsidy/quality policy, and agricultural-input programmes are decisive.</a:t>
                      </a:r>
                    </a:p>
                  </a:txBody>
                  <a:tcP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Large unmet fertilizer demand (need approaching 1m t vs ~50,000 t imported) is the clearest immediate market — an agricultural-productivity imperative. Refined-product and plastics-feedstock demand is also large but awaits the refinery.</a:t>
            </a:r>
          </a:p>
          <a:p>
            <a:pPr/>
            <a:r>
              <a:rPr sz="1600" b="0">
                <a:solidFill>
                  <a:srgbClr val="333333"/>
                </a:solidFill>
              </a:rPr>
              <a:t>•  Regional (EAC/COMESA). A functioning refinery would supply regional fuel and petrochemical markets; fertilizer blending could serve regional agriculture. These are post-2029 prospects for petrochemicals.</a:t>
            </a:r>
          </a:p>
          <a:p>
            <a:pPr/>
            <a:r>
              <a:rPr sz="1600" b="0">
                <a:solidFill>
                  <a:srgbClr val="333333"/>
                </a:solidFill>
              </a:rPr>
              <a:t>•  Global. Not relevant in the medium term; the chain is about domestic/regional substitution.</a:t>
            </a:r>
          </a:p>
          <a:p>
            <a:pPr/>
            <a:r>
              <a:rPr sz="1600" b="0">
                <a:solidFill>
                  <a:srgbClr val="333333"/>
                </a:solidFill>
              </a:rPr>
              <a:t>•  Accessible market conclusion. In the near term, prioritize fertilizer supply for domestic agriculture (revive/replace Sukulu; expand blending). In the medium term, the Kabalega petrochemical park becomes the anchor once the refinery is operational.</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**Fertilizer (blending + phosphate revival)**</a:t>
                      </a:r>
                    </a:p>
                  </a:txBody>
                  <a:tcPr>
                    <a:solidFill>
                      <a:srgbClr val="D6E8F7"/>
                    </a:solidFill>
                  </a:tcPr>
                </a:tc>
                <a:tc>
                  <a:txBody>
                    <a:bodyPr/>
                    <a:lstStyle/>
                    <a:p>
                      <a:pPr algn="l"/>
                      <a:r>
                        <a:rPr sz="1200" b="0">
                          <a:solidFill>
                            <a:srgbClr val="333333"/>
                          </a:solidFill>
                        </a:rPr>
                        <a:t>Very high (unmet demand)</a:t>
                      </a:r>
                    </a:p>
                  </a:txBody>
                  <a:tcPr>
                    <a:solidFill>
                      <a:srgbClr val="D6E8F7"/>
                    </a:solidFill>
                  </a:tcPr>
                </a:tc>
                <a:tc>
                  <a:txBody>
                    <a:bodyPr/>
                    <a:lstStyle/>
                    <a:p>
                      <a:pPr algn="l"/>
                      <a:r>
                        <a:rPr sz="1200" b="0">
                          <a:solidFill>
                            <a:srgbClr val="333333"/>
                          </a:solidFill>
                        </a:rPr>
                        <a:t>Medium (phosphate rock)</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**Sulphuric acid &amp; industrial chemicals**</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**Priority (paired with fertilizer)**</a:t>
                      </a:r>
                    </a:p>
                  </a:txBody>
                  <a:tcPr>
                    <a:solidFill>
                      <a:srgbClr val="FFFFFF"/>
                    </a:solidFill>
                  </a:tcPr>
                </a:tc>
              </a:tr>
              <a:tr h="899160">
                <a:tc>
                  <a:txBody>
                    <a:bodyPr/>
                    <a:lstStyle/>
                    <a:p>
                      <a:pPr algn="l"/>
                      <a:r>
                        <a:rPr sz="1200" b="0">
                          <a:solidFill>
                            <a:srgbClr val="333333"/>
                          </a:solidFill>
                        </a:rPr>
                        <a:t>**Petrochemicals / polymers (Kabalega park)**</a:t>
                      </a:r>
                    </a:p>
                  </a:txBody>
                  <a:tcPr>
                    <a:solidFill>
                      <a:srgbClr val="D6E8F7"/>
                    </a:solidFill>
                  </a:tcPr>
                </a:tc>
                <a:tc>
                  <a:txBody>
                    <a:bodyPr/>
                    <a:lstStyle/>
                    <a:p>
                      <a:pPr algn="l"/>
                      <a:r>
                        <a:rPr sz="1200" b="0">
                          <a:solidFill>
                            <a:srgbClr val="333333"/>
                          </a:solidFill>
                        </a:rPr>
                        <a:t>High (post-2029)</a:t>
                      </a:r>
                    </a:p>
                  </a:txBody>
                  <a:tcPr>
                    <a:solidFill>
                      <a:srgbClr val="D6E8F7"/>
                    </a:solidFill>
                  </a:tcPr>
                </a:tc>
                <a:tc>
                  <a:txBody>
                    <a:bodyPr/>
                    <a:lstStyle/>
                    <a:p>
                      <a:pPr algn="l"/>
                      <a:r>
                        <a:rPr sz="1200" b="0">
                          <a:solidFill>
                            <a:srgbClr val="333333"/>
                          </a:solidFill>
                        </a:rPr>
                        <a:t>High (future feedstock)</a:t>
                      </a:r>
                    </a:p>
                  </a:txBody>
                  <a:tcPr>
                    <a:solidFill>
                      <a:srgbClr val="D6E8F7"/>
                    </a:solidFill>
                  </a:tcPr>
                </a:tc>
                <a:tc>
                  <a:txBody>
                    <a:bodyPr/>
                    <a:lstStyle/>
                    <a:p>
                      <a:pPr algn="l"/>
                      <a:r>
                        <a:rPr sz="1200" b="0">
                          <a:solidFill>
                            <a:srgbClr val="333333"/>
                          </a:solidFill>
                        </a:rPr>
                        <a:t>Low now</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Very high</a:t>
                      </a:r>
                    </a:p>
                  </a:txBody>
                  <a:tcPr>
                    <a:solidFill>
                      <a:srgbClr val="D6E8F7"/>
                    </a:solidFill>
                  </a:tcPr>
                </a:tc>
                <a:tc>
                  <a:txBody>
                    <a:bodyPr/>
                    <a:lstStyle/>
                    <a:p>
                      <a:pPr algn="l"/>
                      <a:r>
                        <a:rPr sz="1200" b="0">
                          <a:solidFill>
                            <a:srgbClr val="333333"/>
                          </a:solidFill>
                        </a:rPr>
                        <a:t>**Priority (medium-term, sequenced)**</a:t>
                      </a:r>
                    </a:p>
                  </a:txBody>
                  <a:tcPr>
                    <a:solidFill>
                      <a:srgbClr val="D6E8F7"/>
                    </a:solidFill>
                  </a:tcPr>
                </a:tc>
              </a:tr>
              <a:tr h="899160">
                <a:tc>
                  <a:txBody>
                    <a:bodyPr/>
                    <a:lstStyle/>
                    <a:p>
                      <a:pPr algn="l"/>
                      <a:r>
                        <a:rPr sz="1200" b="0">
                          <a:solidFill>
                            <a:srgbClr val="333333"/>
                          </a:solidFill>
                        </a:rPr>
                        <a:t>Large-scale refined-product export</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Low now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Conditional (post-refinery)</a:t>
                      </a:r>
                    </a:p>
                  </a:txBody>
                  <a:tcPr>
                    <a:solidFill>
                      <a:srgbClr val="FFFFFF"/>
                    </a:solidFill>
                  </a:tcPr>
                </a:tc>
              </a:tr>
              <a:tr h="899160">
                <a:tc>
                  <a:txBody>
                    <a:bodyPr/>
                    <a:lstStyle/>
                    <a:p>
                      <a:pPr algn="l"/>
                      <a:r>
                        <a:rPr sz="1200" b="0">
                          <a:solidFill>
                            <a:srgbClr val="333333"/>
                          </a:solidFill>
                        </a:rPr>
                        <a:t>Greenfield API/specialty chemicals</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Deprioritize</a:t>
                      </a:r>
                    </a:p>
                  </a:txBody>
                  <a:tcPr>
                    <a:solidFill>
                      <a:srgbClr val="D6E8F7"/>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Petrochemicals &amp; Fertilizers:</a:t>
            </a:r>
          </a:p>
          <a:p>
            <a:pPr/>
            <a:r>
              <a:rPr sz="1600" b="0">
                <a:solidFill>
                  <a:srgbClr val="333333"/>
                </a:solidFill>
              </a:rPr>
              <a:t>•  Explicit deprioritization. Uganda should not pursue greenfield specialty-chemical or large-scale refined-product export ambitions ahead of the refinery. Near-term focus belongs on fertilizer for domestic agriculture; petrochemicals are real but must be sequenced to the refinery timeline rather than pursued prematurely.</a:t>
            </a:r>
          </a:p>
          <a:p>
            <a:pPr/>
            <a:r>
              <a:rPr sz="1600" b="0">
                <a:solidFill>
                  <a:srgbClr val="333333"/>
                </a:solidFill>
              </a:rPr>
              <a:t>1. Fertilizer — blending plus revival/replacement of phosphate processing — the highest-urgency, highest-impact near-term opportunity, tied directly to agricultural productivity and the agro-industrialization agenda. Resolve the Sukulu stall or enable alternative blending capacity.</a:t>
            </a:r>
          </a:p>
          <a:p>
            <a:pPr/>
            <a:r>
              <a:rPr sz="1600" b="0">
                <a:solidFill>
                  <a:srgbClr val="333333"/>
                </a:solidFill>
              </a:rPr>
              <a:t>2. Sulphuric acid and basic industrial chemicals — naturally paired with phosphate processing and useful across industry.</a:t>
            </a:r>
          </a:p>
          <a:p>
            <a:pPr/>
            <a:r>
              <a:rPr sz="1600" b="0">
                <a:solidFill>
                  <a:srgbClr val="333333"/>
                </a:solidFill>
              </a:rPr>
              <a:t>3. Petrochemicals/polymers at the Kabalega park — the transformational medium-term prize, sequenced to the refinery (~2029–30); preparing the park, skills, and downstream plastics linkage now (Chapter 8).</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6.F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770708">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Resolve Sukulu status (restructure, re-finance, or re-tender); expand fertilizer blending &amp; quality enforcement</a:t>
                      </a:r>
                    </a:p>
                  </a:txBody>
                  <a:tcPr>
                    <a:solidFill>
                      <a:srgbClr val="D6E8F7"/>
                    </a:solidFill>
                  </a:tcPr>
                </a:tc>
                <a:tc>
                  <a:txBody>
                    <a:bodyPr/>
                    <a:lstStyle/>
                    <a:p>
                      <a:pPr algn="l"/>
                      <a:r>
                        <a:rPr sz="1200" b="0">
                          <a:solidFill>
                            <a:srgbClr val="333333"/>
                          </a:solidFill>
                        </a:rPr>
                        <a:t>MTIC, MEMD, MAAIF, UNBS</a:t>
                      </a:r>
                    </a:p>
                  </a:txBody>
                  <a:tcPr>
                    <a:solidFill>
                      <a:srgbClr val="D6E8F7"/>
                    </a:solidFill>
                  </a:tcPr>
                </a:tc>
                <a:tc>
                  <a:txBody>
                    <a:bodyPr/>
                    <a:lstStyle/>
                    <a:p>
                      <a:pPr algn="l"/>
                      <a:r>
                        <a:rPr sz="1200" b="0">
                          <a:solidFill>
                            <a:srgbClr val="333333"/>
                          </a:solidFill>
                        </a:rPr>
                        <a:t>Low–Medium</a:t>
                      </a:r>
                    </a:p>
                  </a:txBody>
                  <a:tcPr>
                    <a:solidFill>
                      <a:srgbClr val="D6E8F7"/>
                    </a:solidFill>
                  </a:tcPr>
                </a:tc>
              </a:tr>
              <a:tr h="770708">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Fertilizer quality enforcement against adulteration (UNBS)</a:t>
                      </a:r>
                    </a:p>
                  </a:txBody>
                  <a:tcPr>
                    <a:solidFill>
                      <a:srgbClr val="FFFFFF"/>
                    </a:solidFill>
                  </a:tcPr>
                </a:tc>
                <a:tc>
                  <a:txBody>
                    <a:bodyPr/>
                    <a:lstStyle/>
                    <a:p>
                      <a:pPr algn="l"/>
                      <a:r>
                        <a:rPr sz="1200" b="0">
                          <a:solidFill>
                            <a:srgbClr val="333333"/>
                          </a:solidFill>
                        </a:rPr>
                        <a:t>UNBS, MAAIF</a:t>
                      </a:r>
                    </a:p>
                  </a:txBody>
                  <a:tcPr>
                    <a:solidFill>
                      <a:srgbClr val="FFFFFF"/>
                    </a:solidFill>
                  </a:tcPr>
                </a:tc>
                <a:tc>
                  <a:txBody>
                    <a:bodyPr/>
                    <a:lstStyle/>
                    <a:p>
                      <a:pPr algn="l"/>
                      <a:r>
                        <a:rPr sz="1200" b="0">
                          <a:solidFill>
                            <a:srgbClr val="333333"/>
                          </a:solidFill>
                        </a:rPr>
                        <a:t>Low</a:t>
                      </a:r>
                    </a:p>
                  </a:txBody>
                  <a:tcPr>
                    <a:solidFill>
                      <a:srgbClr val="FFFFFF"/>
                    </a:solidFill>
                  </a:tcPr>
                </a:tc>
              </a:tr>
              <a:tr h="770708">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Fertilizer strategy + targeted subsidy/agro-input programme to lift application rates</a:t>
                      </a:r>
                    </a:p>
                  </a:txBody>
                  <a:tcPr>
                    <a:solidFill>
                      <a:srgbClr val="D6E8F7"/>
                    </a:solidFill>
                  </a:tcPr>
                </a:tc>
                <a:tc>
                  <a:txBody>
                    <a:bodyPr/>
                    <a:lstStyle/>
                    <a:p>
                      <a:pPr algn="l"/>
                      <a:r>
                        <a:rPr sz="1200" b="0">
                          <a:solidFill>
                            <a:srgbClr val="333333"/>
                          </a:solidFill>
                        </a:rPr>
                        <a:t>MAAIF, MoFPED</a:t>
                      </a:r>
                    </a:p>
                  </a:txBody>
                  <a:tcPr>
                    <a:solidFill>
                      <a:srgbClr val="D6E8F7"/>
                    </a:solidFill>
                  </a:tcPr>
                </a:tc>
                <a:tc>
                  <a:txBody>
                    <a:bodyPr/>
                    <a:lstStyle/>
                    <a:p>
                      <a:pPr algn="l"/>
                      <a:r>
                        <a:rPr sz="1200" b="0">
                          <a:solidFill>
                            <a:srgbClr val="333333"/>
                          </a:solidFill>
                        </a:rPr>
                        <a:t>Medium</a:t>
                      </a:r>
                    </a:p>
                  </a:txBody>
                  <a:tcPr>
                    <a:solidFill>
                      <a:srgbClr val="D6E8F7"/>
                    </a:solidFill>
                  </a:tcPr>
                </a:tc>
              </a:tr>
              <a:tr h="770708">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Kabalega Petrochemical Park readiness (infrastructure, downstream plastics linkage, skills)</a:t>
                      </a:r>
                    </a:p>
                  </a:txBody>
                  <a:tcPr>
                    <a:solidFill>
                      <a:srgbClr val="FFFFFF"/>
                    </a:solidFill>
                  </a:tcPr>
                </a:tc>
                <a:tc>
                  <a:txBody>
                    <a:bodyPr/>
                    <a:lstStyle/>
                    <a:p>
                      <a:pPr algn="l"/>
                      <a:r>
                        <a:rPr sz="1200" b="0">
                          <a:solidFill>
                            <a:srgbClr val="333333"/>
                          </a:solidFill>
                        </a:rPr>
                        <a:t>PAU, UNOC, MTIC</a:t>
                      </a:r>
                    </a:p>
                  </a:txBody>
                  <a:tcPr>
                    <a:solidFill>
                      <a:srgbClr val="FFFFFF"/>
                    </a:solidFill>
                  </a:tcPr>
                </a:tc>
                <a:tc>
                  <a:txBody>
                    <a:bodyPr/>
                    <a:lstStyle/>
                    <a:p>
                      <a:pPr algn="l"/>
                      <a:r>
                        <a:rPr sz="1200" b="0">
                          <a:solidFill>
                            <a:srgbClr val="333333"/>
                          </a:solidFill>
                        </a:rPr>
                        <a:t>Medium</a:t>
                      </a:r>
                    </a:p>
                  </a:txBody>
                  <a:tcPr>
                    <a:solidFill>
                      <a:srgbClr val="FFFFFF"/>
                    </a:solidFill>
                  </a:tcPr>
                </a:tc>
              </a:tr>
              <a:tr h="770708">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Refinery + petrochemical park build-out (Alpha MBM agreement)</a:t>
                      </a:r>
                    </a:p>
                  </a:txBody>
                  <a:tcPr>
                    <a:solidFill>
                      <a:srgbClr val="D6E8F7"/>
                    </a:solidFill>
                  </a:tcPr>
                </a:tc>
                <a:tc>
                  <a:txBody>
                    <a:bodyPr/>
                    <a:lstStyle/>
                    <a:p>
                      <a:pPr algn="l"/>
                      <a:r>
                        <a:rPr sz="1200" b="0">
                          <a:solidFill>
                            <a:srgbClr val="333333"/>
                          </a:solidFill>
                        </a:rPr>
                        <a:t>Investor + UNOC (PPP)</a:t>
                      </a:r>
                    </a:p>
                  </a:txBody>
                  <a:tcPr>
                    <a:solidFill>
                      <a:srgbClr val="D6E8F7"/>
                    </a:solidFill>
                  </a:tcPr>
                </a:tc>
                <a:tc>
                  <a:txBody>
                    <a:bodyPr/>
                    <a:lstStyle/>
                    <a:p>
                      <a:pPr algn="l"/>
                      <a:r>
                        <a:rPr sz="1200" b="0">
                          <a:solidFill>
                            <a:srgbClr val="333333"/>
                          </a:solidFill>
                        </a:rPr>
                        <a:t>~USD 4bn (announced)</a:t>
                      </a:r>
                    </a:p>
                  </a:txBody>
                  <a:tcPr>
                    <a:solidFill>
                      <a:srgbClr val="D6E8F7"/>
                    </a:solidFill>
                  </a:tcPr>
                </a:tc>
              </a:tr>
              <a:tr h="770712">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Phosphate processing revival / new blending capacity</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Indicative (see Ch.11)</a:t>
                      </a:r>
                    </a:p>
                  </a:txBody>
                  <a:tcPr>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6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Uganda National Oil Company, "The Uganda Refinery Project." https://www.unoc.co.ug/midstream/the-uganda-refinery-project/</a:t>
            </a:r>
          </a:p>
          <a:p>
            <a:pPr/>
            <a:r>
              <a:rPr sz="1600" b="0">
                <a:solidFill>
                  <a:srgbClr val="333333"/>
                </a:solidFill>
              </a:rPr>
              <a:t>•  Petroleum Authority of Uganda, "The Uganda Refinery Project." https://www.pau.go.ug/the-uganda-refinery-project/</a:t>
            </a:r>
          </a:p>
          <a:p>
            <a:pPr/>
            <a:r>
              <a:rPr sz="1600" b="0">
                <a:solidFill>
                  <a:srgbClr val="333333"/>
                </a:solidFill>
              </a:rPr>
              <a:t>•  Hydrocarbon Engineering, "Uganda refinery to start operations by early 2030" (Oct 2025). https://www.hydrocarbonengineering.com/refining/13102025/uganda-refinery-to-start-operations-by-early-2030/</a:t>
            </a:r>
          </a:p>
          <a:p>
            <a:pPr/>
            <a:r>
              <a:rPr sz="1600" b="0">
                <a:solidFill>
                  <a:srgbClr val="333333"/>
                </a:solidFill>
              </a:rPr>
              <a:t>•  Osukuru Industrial Complex (Wikipedia). https://en.wikipedia.org/wiki/Osukuru_Industrial_Complex</a:t>
            </a:r>
          </a:p>
          <a:p>
            <a:pPr/>
            <a:r>
              <a:rPr sz="1600" b="0">
                <a:solidFill>
                  <a:srgbClr val="333333"/>
                </a:solidFill>
              </a:rPr>
              <a:t>•  Free Zones Authority, "President commissions Tororo Sukulu Phosphate Project." https://freezones.go.ug/president-commissions-tororo-sukulu-phosphate-project/</a:t>
            </a:r>
          </a:p>
          <a:p>
            <a:pPr/>
            <a:r>
              <a:rPr sz="1600" b="0">
                <a:solidFill>
                  <a:srgbClr val="333333"/>
                </a:solidFill>
              </a:rPr>
              <a:t>•  Milling Middle East &amp; Africa, "Tororo Fertiliser Factory in limbo five months after resuming operations" (2023). https://www.millingmea.com/tororo-fertiliser-factory-in-limbo-five-months-after-resuming-operations/</a:t>
            </a:r>
          </a:p>
          <a:p>
            <a:pPr/>
            <a:r>
              <a:rPr sz="1600" b="0">
                <a:solidFill>
                  <a:srgbClr val="333333"/>
                </a:solidFill>
              </a:rPr>
              <a:t>•  ITC TradeMap, trade statistics — HS 3105, Uganda, 2024.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7</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7: Sugar &amp; Confectionery Value Chain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899160">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899160">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Cane growing</a:t>
                      </a:r>
                    </a:p>
                  </a:txBody>
                  <a:tcPr>
                    <a:solidFill>
                      <a:srgbClr val="D6E8F7"/>
                    </a:solidFill>
                  </a:tcPr>
                </a:tc>
                <a:tc>
                  <a:txBody>
                    <a:bodyPr/>
                    <a:lstStyle/>
                    <a:p>
                      <a:pPr algn="l"/>
                      <a:r>
                        <a:rPr sz="1200" b="0">
                          <a:solidFill>
                            <a:srgbClr val="333333"/>
                          </a:solidFill>
                        </a:rPr>
                        <a:t>Land, inputs</a:t>
                      </a:r>
                    </a:p>
                  </a:txBody>
                  <a:tcPr>
                    <a:solidFill>
                      <a:srgbClr val="D6E8F7"/>
                    </a:solidFill>
                  </a:tcPr>
                </a:tc>
                <a:tc>
                  <a:txBody>
                    <a:bodyPr/>
                    <a:lstStyle/>
                    <a:p>
                      <a:pPr algn="l"/>
                      <a:r>
                        <a:rPr sz="1200" b="0">
                          <a:solidFill>
                            <a:srgbClr val="333333"/>
                          </a:solidFill>
                        </a:rPr>
                        <a:t>Sugarcane</a:t>
                      </a:r>
                    </a:p>
                  </a:txBody>
                  <a:tcPr>
                    <a:solidFill>
                      <a:srgbClr val="D6E8F7"/>
                    </a:solidFill>
                  </a:tcPr>
                </a:tc>
              </a:tr>
              <a:tr h="899160">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Milling</a:t>
                      </a:r>
                    </a:p>
                  </a:txBody>
                  <a:tcPr>
                    <a:solidFill>
                      <a:srgbClr val="FFFFFF"/>
                    </a:solidFill>
                  </a:tcPr>
                </a:tc>
                <a:tc>
                  <a:txBody>
                    <a:bodyPr/>
                    <a:lstStyle/>
                    <a:p>
                      <a:pPr algn="l"/>
                      <a:r>
                        <a:rPr sz="1200" b="0">
                          <a:solidFill>
                            <a:srgbClr val="333333"/>
                          </a:solidFill>
                        </a:rPr>
                        <a:t>Cane</a:t>
                      </a:r>
                    </a:p>
                  </a:txBody>
                  <a:tcPr>
                    <a:solidFill>
                      <a:srgbClr val="FFFFFF"/>
                    </a:solidFill>
                  </a:tcPr>
                </a:tc>
                <a:tc>
                  <a:txBody>
                    <a:bodyPr/>
                    <a:lstStyle/>
                    <a:p>
                      <a:pPr algn="l"/>
                      <a:r>
                        <a:rPr sz="1200" b="0">
                          <a:solidFill>
                            <a:srgbClr val="333333"/>
                          </a:solidFill>
                        </a:rPr>
                        <a:t>Raw/brown sugar, molasses, bagasse</a:t>
                      </a:r>
                    </a:p>
                  </a:txBody>
                  <a:tcPr>
                    <a:solidFill>
                      <a:srgbClr val="FFFFFF"/>
                    </a:solidFill>
                  </a:tcPr>
                </a:tc>
              </a:tr>
              <a:tr h="899160">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Refining</a:t>
                      </a:r>
                    </a:p>
                  </a:txBody>
                  <a:tcPr>
                    <a:solidFill>
                      <a:srgbClr val="D6E8F7"/>
                    </a:solidFill>
                  </a:tcPr>
                </a:tc>
                <a:tc>
                  <a:txBody>
                    <a:bodyPr/>
                    <a:lstStyle/>
                    <a:p>
                      <a:pPr algn="l"/>
                      <a:r>
                        <a:rPr sz="1200" b="0">
                          <a:solidFill>
                            <a:srgbClr val="333333"/>
                          </a:solidFill>
                        </a:rPr>
                        <a:t>Raw sugar</a:t>
                      </a:r>
                    </a:p>
                  </a:txBody>
                  <a:tcPr>
                    <a:solidFill>
                      <a:srgbClr val="D6E8F7"/>
                    </a:solidFill>
                  </a:tcPr>
                </a:tc>
                <a:tc>
                  <a:txBody>
                    <a:bodyPr/>
                    <a:lstStyle/>
                    <a:p>
                      <a:pPr algn="l"/>
                      <a:r>
                        <a:rPr sz="1200" b="0">
                          <a:solidFill>
                            <a:srgbClr val="333333"/>
                          </a:solidFill>
                        </a:rPr>
                        <a:t>Refined/industrial sugar</a:t>
                      </a:r>
                    </a:p>
                  </a:txBody>
                  <a:tcPr>
                    <a:solidFill>
                      <a:srgbClr val="D6E8F7"/>
                    </a:solidFill>
                  </a:tcPr>
                </a:tc>
              </a:tr>
              <a:tr h="899160">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Downstream</a:t>
                      </a:r>
                    </a:p>
                  </a:txBody>
                  <a:tcPr>
                    <a:solidFill>
                      <a:srgbClr val="FFFFFF"/>
                    </a:solidFill>
                  </a:tcPr>
                </a:tc>
                <a:tc>
                  <a:txBody>
                    <a:bodyPr/>
                    <a:lstStyle/>
                    <a:p>
                      <a:pPr algn="l"/>
                      <a:r>
                        <a:rPr sz="1200" b="0">
                          <a:solidFill>
                            <a:srgbClr val="333333"/>
                          </a:solidFill>
                        </a:rPr>
                        <a:t>Sugar, molasses, bagasse</a:t>
                      </a:r>
                    </a:p>
                  </a:txBody>
                  <a:tcPr>
                    <a:solidFill>
                      <a:srgbClr val="FFFFFF"/>
                    </a:solidFill>
                  </a:tcPr>
                </a:tc>
                <a:tc>
                  <a:txBody>
                    <a:bodyPr/>
                    <a:lstStyle/>
                    <a:p>
                      <a:pPr algn="l"/>
                      <a:r>
                        <a:rPr sz="1200" b="0">
                          <a:solidFill>
                            <a:srgbClr val="333333"/>
                          </a:solidFill>
                        </a:rPr>
                        <a:t>Confectionery, ethanol, electricity (co-gen)</a:t>
                      </a:r>
                    </a:p>
                  </a:txBody>
                  <a:tcPr>
                    <a:solidFill>
                      <a:srgbClr val="FFFFFF"/>
                    </a:solidFill>
                  </a:tcPr>
                </a:tc>
              </a:tr>
              <a:tr h="899160">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Market</a:t>
                      </a:r>
                    </a:p>
                  </a:txBody>
                  <a:tcPr>
                    <a:solidFill>
                      <a:srgbClr val="D6E8F7"/>
                    </a:solidFill>
                  </a:tcPr>
                </a:tc>
                <a:tc>
                  <a:txBody>
                    <a:bodyPr/>
                    <a:lstStyle/>
                    <a:p>
                      <a:pPr algn="l"/>
                      <a:r>
                        <a:rPr sz="1200" b="0">
                          <a:solidFill>
                            <a:srgbClr val="333333"/>
                          </a:solidFill>
                        </a:rPr>
                        <a:t>Products</a:t>
                      </a:r>
                    </a:p>
                  </a:txBody>
                  <a:tcPr>
                    <a:solidFill>
                      <a:srgbClr val="D6E8F7"/>
                    </a:solidFill>
                  </a:tcPr>
                </a:tc>
                <a:tc>
                  <a:txBody>
                    <a:bodyPr/>
                    <a:lstStyle/>
                    <a:p>
                      <a:pPr algn="l"/>
                      <a:r>
                        <a:rPr sz="1200" b="0">
                          <a:solidFill>
                            <a:srgbClr val="333333"/>
                          </a:solidFill>
                        </a:rPr>
                        <a:t>Domestic + regional sales</a:t>
                      </a:r>
                    </a:p>
                  </a:txBody>
                  <a:tcPr>
                    <a:solidFill>
                      <a:srgbClr val="D6E8F7"/>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sugar chain runs from sugarcane cultivation through milling to refined sugar, with downstream branches into industrial sugar, confectionery, ethanol, and co-generation. Uganda has a mature, competitive milling industry and, unusually for Report 2, is in structural surplus — making the strategic question one of downstream diversification, not raw expansion.</a:t>
            </a:r>
          </a:p>
          <a:p>
            <a:pPr/>
            <a:r>
              <a:rPr sz="1600" b="0">
                <a:solidFill>
                  <a:srgbClr val="333333"/>
                </a:solidFill>
              </a:rPr>
              <a:t>•  Where value is captured and lost. Uganda produces a surplus of brown sugar but still imports some industrial/refined sugar and confectionery, and under-exploits downstream products (ethanol, co-generation, confectionery). Sugar imports (HS 1701) were about USD 38.1 million in 2024 — largely industrial sugar not yet made domestically at sufficient scale — even as the country exports surplus brown sugar regionally (ITC TradeMap).</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Production and surplus. National sugar output reached about 822,000 tonnes (2022) — roughly 720,000 t brown table sugar and 102,000 t industrial sugar — against domestic consumption of about 370,000 tonnes, leaving a structural surplus of 180,000+ tonnes (sector data; Wikipedia Sugar industry in Uganda). The surplus, plus continued licensing of new mills, has created over-supply and price pressure — the live policy issue in the sector.</a:t>
            </a:r>
          </a:p>
          <a:p>
            <a:pPr/>
            <a:r>
              <a:rPr sz="1600" b="0">
                <a:solidFill>
                  <a:srgbClr val="333333"/>
                </a:solidFill>
              </a:rPr>
              <a:t>•  Firms. Kakira Sugar Works is the largest producer (around half of national output, crushing over 2 million tonnes of cane/year), followed by Kinyara Sugar (industrial-sugar refinery expanded to ~75,000 t in 2023), Sugar Corporation of Uganda (SCOUL), Mayuge Sugar, and a growing number of smaller mills (USMA; Kakira; Food Business MEA, 2023).</a:t>
            </a:r>
          </a:p>
          <a:p>
            <a:pPr/>
            <a:r>
              <a:rPr sz="1600" b="0">
                <a:solidFill>
                  <a:srgbClr val="333333"/>
                </a:solidFill>
              </a:rPr>
              <a:t>•  Downstream. Molasses supports ethanol production; bagasse supports co-generation (electricity to the grid); confectionery is a growing but still substantially import-supplied segment.</a:t>
            </a:r>
          </a:p>
          <a:p>
            <a:pPr/>
            <a:r>
              <a:rPr sz="1600" b="0">
                <a:solidFill>
                  <a:srgbClr val="333333"/>
                </a:solidFill>
              </a:rPr>
              <a:t>•  Trade position (ITC TradeMap, 2024). Sugar (HS 1701) imports ~USD 38.1m (mostly industrial sugar); regional exports of brown sugar to EAC neighbours. Uganda is a net surplus producer of brown sugar but a net importer of industrial/specialty sugar and confectionery.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Cane supply is ample (surplus); out-grower coordination and cane quality vary; over-licensing strains cane supply per mill.</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Milling is mature; downstream (refining to industrial grade, ethanol, confectionery) needs technology investment.</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Co-generation is an opportunity (bagasse to grid), turning a constraint into a revenue line.</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Process water managed; effluent from distilleries (ethanol) needs treatment (NEMA).</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Regional export of bulk sugar bears the landlocked penalty; domestic distribution is adequate.</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Distillery effluent (vinasse) and bagasse ash require management; circular-economy potential.</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Downstream plants (refining, ethanol, confectionery) need capital; milling is well-capitalised.</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Food-technology and process skills needed for downstream diversification.</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Food-safety and industrial-sugar specifications (UNBS) gate the industrial and export markets.</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The Sugar Act, licensing/zoning of new mills, and the over-supply problem are the central policy questions; export coordination matters.</a:t>
                      </a:r>
                    </a:p>
                  </a:txBody>
                  <a:tcP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Brown sugar is over-supplied; the genuine domestic gaps are industrial/refined sugar (for beverages, pharmaceuticals, food processing — the USD 38m import line) and confectionery.</a:t>
            </a:r>
          </a:p>
          <a:p>
            <a:pPr/>
            <a:r>
              <a:rPr sz="1600" b="0">
                <a:solidFill>
                  <a:srgbClr val="333333"/>
                </a:solidFill>
              </a:rPr>
              <a:t>•  Regional (EAC/COMESA). Surplus brown sugar finds regional markets (Kenya, South Sudan, DRC), subject to EAC trade dynamics and periodic restrictions. Industrial sugar and ethanol have regional demand.</a:t>
            </a:r>
          </a:p>
          <a:p>
            <a:pPr/>
            <a:r>
              <a:rPr sz="1600" b="0">
                <a:solidFill>
                  <a:srgbClr val="333333"/>
                </a:solidFill>
              </a:rPr>
              <a:t>•  Global. Uganda is not a globally competitive raw-sugar exporter; the global market is distorted and scale-driven. The realistic horizon is regional brown-sugar export plus domestic downstream diversification.</a:t>
            </a:r>
          </a:p>
          <a:p>
            <a:pPr/>
            <a:r>
              <a:rPr sz="1600" b="0">
                <a:solidFill>
                  <a:srgbClr val="333333"/>
                </a:solidFill>
              </a:rPr>
              <a:t>•  Accessible market conclusion. Prioritize downstream diversification — industrial sugar, ethanol, co-generation, confectionery — to absorb the surplus into higher-value products, rather than expanding raw brown-sugar capacity.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**Industrial / refined sugar**</a:t>
                      </a:r>
                    </a:p>
                  </a:txBody>
                  <a:tcPr>
                    <a:solidFill>
                      <a:srgbClr val="D6E8F7"/>
                    </a:solidFill>
                  </a:tcPr>
                </a:tc>
                <a:tc>
                  <a:txBody>
                    <a:bodyPr/>
                    <a:lstStyle/>
                    <a:p>
                      <a:pPr algn="l"/>
                      <a:r>
                        <a:rPr sz="1200" b="0">
                          <a:solidFill>
                            <a:srgbClr val="333333"/>
                          </a:solidFill>
                        </a:rPr>
                        <a:t>High (USD 38m imports)</a:t>
                      </a:r>
                    </a:p>
                  </a:txBody>
                  <a:tcPr>
                    <a:solidFill>
                      <a:srgbClr val="D6E8F7"/>
                    </a:solidFill>
                  </a:tcPr>
                </a:tc>
                <a:tc>
                  <a:txBody>
                    <a:bodyPr/>
                    <a:lstStyle/>
                    <a:p>
                      <a:pPr algn="l"/>
                      <a:r>
                        <a:rPr sz="1200" b="0">
                          <a:solidFill>
                            <a:srgbClr val="333333"/>
                          </a:solidFill>
                        </a:rPr>
                        <a:t>High (surplus cane)</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**Ethanol (fuel &amp; potable/industrial)**</a:t>
                      </a:r>
                    </a:p>
                  </a:txBody>
                  <a:tcPr>
                    <a:solidFill>
                      <a:srgbClr val="FFFFFF"/>
                    </a:solidFill>
                  </a:tcPr>
                </a:tc>
                <a:tc>
                  <a:txBody>
                    <a:bodyPr/>
                    <a:lstStyle/>
                    <a:p>
                      <a:pPr algn="l"/>
                      <a:r>
                        <a:rPr sz="1200" b="0">
                          <a:solidFill>
                            <a:srgbClr val="333333"/>
                          </a:solidFill>
                        </a:rPr>
                        <a:t>High (blending, regional)</a:t>
                      </a:r>
                    </a:p>
                  </a:txBody>
                  <a:tcPr>
                    <a:solidFill>
                      <a:srgbClr val="FFFFFF"/>
                    </a:solidFill>
                  </a:tcPr>
                </a:tc>
                <a:tc>
                  <a:txBody>
                    <a:bodyPr/>
                    <a:lstStyle/>
                    <a:p>
                      <a:pPr algn="l"/>
                      <a:r>
                        <a:rPr sz="1200" b="0">
                          <a:solidFill>
                            <a:srgbClr val="333333"/>
                          </a:solidFill>
                        </a:rPr>
                        <a:t>High (molasses)</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**Priority**</a:t>
                      </a:r>
                    </a:p>
                  </a:txBody>
                  <a:tcPr>
                    <a:solidFill>
                      <a:srgbClr val="FFFFFF"/>
                    </a:solidFill>
                  </a:tcPr>
                </a:tc>
              </a:tr>
              <a:tr h="899160">
                <a:tc>
                  <a:txBody>
                    <a:bodyPr/>
                    <a:lstStyle/>
                    <a:p>
                      <a:pPr algn="l"/>
                      <a:r>
                        <a:rPr sz="1200" b="0">
                          <a:solidFill>
                            <a:srgbClr val="333333"/>
                          </a:solidFill>
                        </a:rPr>
                        <a:t>**Co-generation (bagasse to grid)**</a:t>
                      </a:r>
                    </a:p>
                  </a:txBody>
                  <a:tcPr>
                    <a:solidFill>
                      <a:srgbClr val="D6E8F7"/>
                    </a:solidFill>
                  </a:tcPr>
                </a:tc>
                <a:tc>
                  <a:txBody>
                    <a:bodyPr/>
                    <a:lstStyle/>
                    <a:p>
                      <a:pPr algn="l"/>
                      <a:r>
                        <a:rPr sz="1200" b="0">
                          <a:solidFill>
                            <a:srgbClr val="333333"/>
                          </a:solidFill>
                        </a:rPr>
                        <a:t>Medium–High</a:t>
                      </a:r>
                    </a:p>
                  </a:txBody>
                  <a:tcPr>
                    <a:solidFill>
                      <a:srgbClr val="D6E8F7"/>
                    </a:solidFill>
                  </a:tcPr>
                </a:tc>
                <a:tc>
                  <a:txBody>
                    <a:bodyPr/>
                    <a:lstStyle/>
                    <a:p>
                      <a:pPr algn="l"/>
                      <a:r>
                        <a:rPr sz="1200" b="0">
                          <a:solidFill>
                            <a:srgbClr val="333333"/>
                          </a:solidFill>
                        </a:rPr>
                        <a:t>High (bagasse)</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Energy benefit</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**Confectionery**</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Conditional</a:t>
                      </a:r>
                    </a:p>
                  </a:txBody>
                  <a:tcPr>
                    <a:solidFill>
                      <a:srgbClr val="FFFFFF"/>
                    </a:solidFill>
                  </a:tcPr>
                </a:tc>
              </a:tr>
              <a:tr h="899160">
                <a:tc>
                  <a:txBody>
                    <a:bodyPr/>
                    <a:lstStyle/>
                    <a:p>
                      <a:pPr algn="l"/>
                      <a:r>
                        <a:rPr sz="1200" b="0">
                          <a:solidFill>
                            <a:srgbClr val="333333"/>
                          </a:solidFill>
                        </a:rPr>
                        <a:t>Raw brown-sugar capacity expansion</a:t>
                      </a:r>
                    </a:p>
                  </a:txBody>
                  <a:tcPr>
                    <a:solidFill>
                      <a:srgbClr val="D6E8F7"/>
                    </a:solidFill>
                  </a:tcPr>
                </a:tc>
                <a:tc>
                  <a:txBody>
                    <a:bodyPr/>
                    <a:lstStyle/>
                    <a:p>
                      <a:pPr algn="l"/>
                      <a:r>
                        <a:rPr sz="1200" b="0">
                          <a:solidFill>
                            <a:srgbClr val="333333"/>
                          </a:solidFill>
                        </a:rPr>
                        <a:t>Low (surplus)</a:t>
                      </a:r>
                    </a:p>
                  </a:txBody>
                  <a:tcPr>
                    <a:solidFill>
                      <a:srgbClr val="D6E8F7"/>
                    </a:solidFill>
                  </a:tcPr>
                </a:tc>
                <a:tc>
                  <a:txBody>
                    <a:bodyPr/>
                    <a:lstStyle/>
                    <a:p>
                      <a:pPr algn="l"/>
                      <a:r>
                        <a:rPr sz="1200" b="0">
                          <a:solidFill>
                            <a:srgbClr val="333333"/>
                          </a:solidFill>
                        </a:rPr>
                        <a:t>—</a:t>
                      </a:r>
                    </a:p>
                  </a:txBody>
                  <a:tcPr>
                    <a:solidFill>
                      <a:srgbClr val="D6E8F7"/>
                    </a:solidFill>
                  </a:tcPr>
                </a:tc>
                <a:tc>
                  <a:txBody>
                    <a:bodyPr/>
                    <a:lstStyle/>
                    <a:p>
                      <a:pPr algn="l"/>
                      <a:r>
                        <a:rPr sz="1200" b="0">
                          <a:solidFill>
                            <a:srgbClr val="333333"/>
                          </a:solidFill>
                        </a:rPr>
                        <a:t>—</a:t>
                      </a:r>
                    </a:p>
                  </a:txBody>
                  <a:tcPr>
                    <a:solidFill>
                      <a:srgbClr val="D6E8F7"/>
                    </a:solidFill>
                  </a:tcPr>
                </a:tc>
                <a:tc>
                  <a:txBody>
                    <a:bodyPr/>
                    <a:lstStyle/>
                    <a:p>
                      <a:pPr algn="l"/>
                      <a:r>
                        <a:rPr sz="1200" b="0">
                          <a:solidFill>
                            <a:srgbClr val="333333"/>
                          </a:solidFill>
                        </a:rPr>
                        <a:t>—</a:t>
                      </a:r>
                    </a:p>
                  </a:txBody>
                  <a:tcPr>
                    <a:solidFill>
                      <a:srgbClr val="D6E8F7"/>
                    </a:solidFill>
                  </a:tcPr>
                </a:tc>
                <a:tc>
                  <a:txBody>
                    <a:bodyPr/>
                    <a:lstStyle/>
                    <a:p>
                      <a:pPr algn="l"/>
                      <a:r>
                        <a:rPr sz="1200" b="0">
                          <a:solidFill>
                            <a:srgbClr val="333333"/>
                          </a:solidFill>
                        </a:rPr>
                        <a:t>—</a:t>
                      </a:r>
                    </a:p>
                  </a:txBody>
                  <a:tcPr>
                    <a:solidFill>
                      <a:srgbClr val="D6E8F7"/>
                    </a:solidFill>
                  </a:tcPr>
                </a:tc>
                <a:tc>
                  <a:txBody>
                    <a:bodyPr/>
                    <a:lstStyle/>
                    <a:p>
                      <a:pPr algn="l"/>
                      <a:r>
                        <a:rPr sz="1200" b="0">
                          <a:solidFill>
                            <a:srgbClr val="333333"/>
                          </a:solidFill>
                        </a:rPr>
                        <a:t>Deprioritize</a:t>
                      </a:r>
                    </a:p>
                  </a:txBody>
                  <a:tcPr>
                    <a:solidFill>
                      <a:srgbClr val="D6E8F7"/>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Sugar &amp; Confectionery:</a:t>
            </a:r>
          </a:p>
          <a:p>
            <a:pPr/>
            <a:r>
              <a:rPr sz="1600" b="0">
                <a:solidFill>
                  <a:srgbClr val="333333"/>
                </a:solidFill>
              </a:rPr>
              <a:t>•  Explicit deprioritization. Uganda should not license or expand additional raw brown-sugar capacity — the sector is already in surplus and over-supply is depressing prices. Confectionery is a conditional priority (private-led, market-driven). The strategic move is downstream, not more raw sugar.</a:t>
            </a:r>
          </a:p>
          <a:p>
            <a:pPr/>
            <a:r>
              <a:rPr sz="1600" b="0">
                <a:solidFill>
                  <a:srgbClr val="333333"/>
                </a:solidFill>
              </a:rPr>
              <a:t>1. Industrial/refined sugar — substitute the USD 38m industrial-sugar import line using surplus domestic cane; serves beverages, food processing, and pharmaceuticals.</a:t>
            </a:r>
          </a:p>
          <a:p>
            <a:pPr/>
            <a:r>
              <a:rPr sz="1600" b="0">
                <a:solidFill>
                  <a:srgbClr val="333333"/>
                </a:solidFill>
              </a:rPr>
              <a:t>2. Ethanol — convert molasses surplus into fuel-blending ethanol (energy security) and industrial/potable alcohol, with strong regional demand.</a:t>
            </a:r>
          </a:p>
          <a:p>
            <a:pPr/>
            <a:r>
              <a:rPr sz="1600" b="0">
                <a:solidFill>
                  <a:srgbClr val="333333"/>
                </a:solidFill>
              </a:rPr>
              <a:t>3. Co-generation — monetise bagasse as grid electricity, improving mill economics and adding renewable power.</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7.F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770708">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Moratorium/zoning discipline on new raw-sugar mill licences to stabilise the surplus</a:t>
                      </a:r>
                    </a:p>
                  </a:txBody>
                  <a:tcPr>
                    <a:solidFill>
                      <a:srgbClr val="D6E8F7"/>
                    </a:solidFill>
                  </a:tcPr>
                </a:tc>
                <a:tc>
                  <a:txBody>
                    <a:bodyPr/>
                    <a:lstStyle/>
                    <a:p>
                      <a:pPr algn="l"/>
                      <a:r>
                        <a:rPr sz="1200" b="0">
                          <a:solidFill>
                            <a:srgbClr val="333333"/>
                          </a:solidFill>
                        </a:rPr>
                        <a:t>MTIC, Sugar Board</a:t>
                      </a:r>
                    </a:p>
                  </a:txBody>
                  <a:tcPr>
                    <a:solidFill>
                      <a:srgbClr val="D6E8F7"/>
                    </a:solidFill>
                  </a:tcPr>
                </a:tc>
                <a:tc>
                  <a:txBody>
                    <a:bodyPr/>
                    <a:lstStyle/>
                    <a:p>
                      <a:pPr algn="l"/>
                      <a:r>
                        <a:rPr sz="1200" b="0">
                          <a:solidFill>
                            <a:srgbClr val="333333"/>
                          </a:solidFill>
                        </a:rPr>
                        <a:t>Low (policy)</a:t>
                      </a:r>
                    </a:p>
                  </a:txBody>
                  <a:tcPr>
                    <a:solidFill>
                      <a:srgbClr val="D6E8F7"/>
                    </a:solidFill>
                  </a:tcPr>
                </a:tc>
              </a:tr>
              <a:tr h="770708">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Ethanol fuel-blending mandate to create guaranteed ethanol demand</a:t>
                      </a:r>
                    </a:p>
                  </a:txBody>
                  <a:tcPr>
                    <a:solidFill>
                      <a:srgbClr val="FFFFFF"/>
                    </a:solidFill>
                  </a:tcPr>
                </a:tc>
                <a:tc>
                  <a:txBody>
                    <a:bodyPr/>
                    <a:lstStyle/>
                    <a:p>
                      <a:pPr algn="l"/>
                      <a:r>
                        <a:rPr sz="1200" b="0">
                          <a:solidFill>
                            <a:srgbClr val="333333"/>
                          </a:solidFill>
                        </a:rPr>
                        <a:t>MEMD, MTIC</a:t>
                      </a:r>
                    </a:p>
                  </a:txBody>
                  <a:tcPr>
                    <a:solidFill>
                      <a:srgbClr val="FFFFFF"/>
                    </a:solidFill>
                  </a:tcPr>
                </a:tc>
                <a:tc>
                  <a:txBody>
                    <a:bodyPr/>
                    <a:lstStyle/>
                    <a:p>
                      <a:pPr algn="l"/>
                      <a:r>
                        <a:rPr sz="1200" b="0">
                          <a:solidFill>
                            <a:srgbClr val="333333"/>
                          </a:solidFill>
                        </a:rPr>
                        <a:t>Low (policy)</a:t>
                      </a:r>
                    </a:p>
                  </a:txBody>
                  <a:tcPr>
                    <a:solidFill>
                      <a:srgbClr val="FFFFFF"/>
                    </a:solidFill>
                  </a:tcPr>
                </a:tc>
              </a:tr>
              <a:tr h="770708">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Industrial-sugar quality/standards alignment for food &amp; pharma buyers</a:t>
                      </a:r>
                    </a:p>
                  </a:txBody>
                  <a:tcPr>
                    <a:solidFill>
                      <a:srgbClr val="D6E8F7"/>
                    </a:solidFill>
                  </a:tcPr>
                </a:tc>
                <a:tc>
                  <a:txBody>
                    <a:bodyPr/>
                    <a:lstStyle/>
                    <a:p>
                      <a:pPr algn="l"/>
                      <a:r>
                        <a:rPr sz="1200" b="0">
                          <a:solidFill>
                            <a:srgbClr val="333333"/>
                          </a:solidFill>
                        </a:rPr>
                        <a:t>UNBS, MTIC</a:t>
                      </a:r>
                    </a:p>
                  </a:txBody>
                  <a:tcPr>
                    <a:solidFill>
                      <a:srgbClr val="D6E8F7"/>
                    </a:solidFill>
                  </a:tcPr>
                </a:tc>
                <a:tc>
                  <a:txBody>
                    <a:bodyPr/>
                    <a:lstStyle/>
                    <a:p>
                      <a:pPr algn="l"/>
                      <a:r>
                        <a:rPr sz="1200" b="0">
                          <a:solidFill>
                            <a:srgbClr val="333333"/>
                          </a:solidFill>
                        </a:rPr>
                        <a:t>Low–Medium</a:t>
                      </a:r>
                    </a:p>
                  </a:txBody>
                  <a:tcPr>
                    <a:solidFill>
                      <a:srgbClr val="D6E8F7"/>
                    </a:solidFill>
                  </a:tcPr>
                </a:tc>
              </a:tr>
              <a:tr h="770708">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Grid feed-in framework for bagasse co-generation</a:t>
                      </a:r>
                    </a:p>
                  </a:txBody>
                  <a:tcPr>
                    <a:solidFill>
                      <a:srgbClr val="FFFFFF"/>
                    </a:solidFill>
                  </a:tcPr>
                </a:tc>
                <a:tc>
                  <a:txBody>
                    <a:bodyPr/>
                    <a:lstStyle/>
                    <a:p>
                      <a:pPr algn="l"/>
                      <a:r>
                        <a:rPr sz="1200" b="0">
                          <a:solidFill>
                            <a:srgbClr val="333333"/>
                          </a:solidFill>
                        </a:rPr>
                        <a:t>ERA, MEMD</a:t>
                      </a:r>
                    </a:p>
                  </a:txBody>
                  <a:tcPr>
                    <a:solidFill>
                      <a:srgbClr val="FFFFFF"/>
                    </a:solidFill>
                  </a:tcPr>
                </a:tc>
                <a:tc>
                  <a:txBody>
                    <a:bodyPr/>
                    <a:lstStyle/>
                    <a:p>
                      <a:pPr algn="l"/>
                      <a:r>
                        <a:rPr sz="1200" b="0">
                          <a:solidFill>
                            <a:srgbClr val="333333"/>
                          </a:solidFill>
                        </a:rPr>
                        <a:t>Medium</a:t>
                      </a:r>
                    </a:p>
                  </a:txBody>
                  <a:tcPr>
                    <a:solidFill>
                      <a:srgbClr val="FFFFFF"/>
                    </a:solidFill>
                  </a:tcPr>
                </a:tc>
              </a:tr>
              <a:tr h="770708">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Industrial-sugar refining &amp; ethanol distillery capacity</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Indicative (see Ch.11)</a:t>
                      </a:r>
                    </a:p>
                  </a:txBody>
                  <a:tcPr>
                    <a:solidFill>
                      <a:srgbClr val="D6E8F7"/>
                    </a:solidFill>
                  </a:tcPr>
                </a:tc>
              </a:tr>
              <a:tr h="770712">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Confectionery manufacturing</a:t>
                      </a:r>
                    </a:p>
                  </a:txBody>
                  <a:tcPr>
                    <a:solidFill>
                      <a:srgbClr val="FFFFFF"/>
                    </a:solidFill>
                  </a:tcPr>
                </a:tc>
                <a:tc>
                  <a:txBody>
                    <a:bodyPr/>
                    <a:lstStyle/>
                    <a:p>
                      <a:pPr algn="l"/>
                      <a:r>
                        <a:rPr sz="1200" b="0">
                          <a:solidFill>
                            <a:srgbClr val="333333"/>
                          </a:solidFill>
                        </a:rPr>
                        <a:t>Private-led</a:t>
                      </a:r>
                    </a:p>
                  </a:txBody>
                  <a:tcPr>
                    <a:solidFill>
                      <a:srgbClr val="FFFFFF"/>
                    </a:solidFill>
                  </a:tcPr>
                </a:tc>
                <a:tc>
                  <a:txBody>
                    <a:bodyPr/>
                    <a:lstStyle/>
                    <a:p>
                      <a:pPr algn="l"/>
                      <a:r>
                        <a:rPr sz="1200" b="0">
                          <a:solidFill>
                            <a:srgbClr val="333333"/>
                          </a:solidFill>
                        </a:rPr>
                        <a:t>Indicative (see Ch.11)</a:t>
                      </a:r>
                    </a:p>
                  </a:txBody>
                  <a:tcPr>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7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Sugar industry in Uganda (Wikipedia, with USMA and Uganda Sugar Board data). https://en.wikipedia.org/wiki/Sugar_industry_in_Uganda</a:t>
            </a:r>
          </a:p>
          <a:p>
            <a:pPr/>
            <a:r>
              <a:rPr sz="1600" b="0">
                <a:solidFill>
                  <a:srgbClr val="333333"/>
                </a:solidFill>
              </a:rPr>
              <a:t>•  Daily Monitor, "Surge in sugar factories imperils industry's future." https://www.monitor.co.ug/uganda/news/national/surge-in-sugar-factories-imperils-industry-s-future-3943728</a:t>
            </a:r>
          </a:p>
          <a:p>
            <a:pPr/>
            <a:r>
              <a:rPr sz="1600" b="0">
                <a:solidFill>
                  <a:srgbClr val="333333"/>
                </a:solidFill>
              </a:rPr>
              <a:t>•  Food Business MEA, "Kinyara Sugar opens US$15m industrial sugar refinery" (2023). https://www.foodbusinessmea.com/ugandas-second-largest-sugar-miller-kinyara-sugar-has-opened-us15m-industrial-sugar-refinery/</a:t>
            </a:r>
          </a:p>
          <a:p>
            <a:pPr/>
            <a:r>
              <a:rPr sz="1600" b="0">
                <a:solidFill>
                  <a:srgbClr val="333333"/>
                </a:solidFill>
              </a:rPr>
              <a:t>•  Kakira Sugar. https://kakirasugar.com/</a:t>
            </a:r>
          </a:p>
          <a:p>
            <a:pPr/>
            <a:r>
              <a:rPr sz="1600" b="0">
                <a:solidFill>
                  <a:srgbClr val="333333"/>
                </a:solidFill>
              </a:rPr>
              <a:t>•  Uganda Sugar Manufacturers' Association annual report 2024 [Repository: data/ — provided by MTIC].</a:t>
            </a:r>
          </a:p>
          <a:p>
            <a:pPr/>
            <a:r>
              <a:rPr sz="1600" b="0">
                <a:solidFill>
                  <a:srgbClr val="333333"/>
                </a:solidFill>
              </a:rPr>
              <a:t>•  ITC TradeMap, trade statistics — HS 1701, Uganda, 2024.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8</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8: Plastics &amp; Packaging Value Chain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899160">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899160">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Resin / feedstock</a:t>
                      </a:r>
                    </a:p>
                  </a:txBody>
                  <a:tcPr>
                    <a:solidFill>
                      <a:srgbClr val="D6E8F7"/>
                    </a:solidFill>
                  </a:tcPr>
                </a:tc>
                <a:tc>
                  <a:txBody>
                    <a:bodyPr/>
                    <a:lstStyle/>
                    <a:p>
                      <a:pPr algn="l"/>
                      <a:r>
                        <a:rPr sz="1200" b="0">
                          <a:solidFill>
                            <a:srgbClr val="333333"/>
                          </a:solidFill>
                        </a:rPr>
                        <a:t>Petrochemicals (imported)</a:t>
                      </a:r>
                    </a:p>
                  </a:txBody>
                  <a:tcPr>
                    <a:solidFill>
                      <a:srgbClr val="D6E8F7"/>
                    </a:solidFill>
                  </a:tcPr>
                </a:tc>
                <a:tc>
                  <a:txBody>
                    <a:bodyPr/>
                    <a:lstStyle/>
                    <a:p>
                      <a:pPr algn="l"/>
                      <a:r>
                        <a:rPr sz="1200" b="0">
                          <a:solidFill>
                            <a:srgbClr val="333333"/>
                          </a:solidFill>
                        </a:rPr>
                        <a:t>PE, PP, PET, PVC resin</a:t>
                      </a:r>
                    </a:p>
                  </a:txBody>
                  <a:tcPr>
                    <a:solidFill>
                      <a:srgbClr val="D6E8F7"/>
                    </a:solidFill>
                  </a:tcPr>
                </a:tc>
              </a:tr>
              <a:tr h="899160">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Conversion</a:t>
                      </a:r>
                    </a:p>
                  </a:txBody>
                  <a:tcPr>
                    <a:solidFill>
                      <a:srgbClr val="FFFFFF"/>
                    </a:solidFill>
                  </a:tcPr>
                </a:tc>
                <a:tc>
                  <a:txBody>
                    <a:bodyPr/>
                    <a:lstStyle/>
                    <a:p>
                      <a:pPr algn="l"/>
                      <a:r>
                        <a:rPr sz="1200" b="0">
                          <a:solidFill>
                            <a:srgbClr val="333333"/>
                          </a:solidFill>
                        </a:rPr>
                        <a:t>Resin</a:t>
                      </a:r>
                    </a:p>
                  </a:txBody>
                  <a:tcPr>
                    <a:solidFill>
                      <a:srgbClr val="FFFFFF"/>
                    </a:solidFill>
                  </a:tcPr>
                </a:tc>
                <a:tc>
                  <a:txBody>
                    <a:bodyPr/>
                    <a:lstStyle/>
                    <a:p>
                      <a:pPr algn="l"/>
                      <a:r>
                        <a:rPr sz="1200" b="0">
                          <a:solidFill>
                            <a:srgbClr val="333333"/>
                          </a:solidFill>
                        </a:rPr>
                        <a:t>Films, sheets, preforms, mouldings</a:t>
                      </a:r>
                    </a:p>
                  </a:txBody>
                  <a:tcPr>
                    <a:solidFill>
                      <a:srgbClr val="FFFFFF"/>
                    </a:solidFill>
                  </a:tcPr>
                </a:tc>
              </a:tr>
              <a:tr h="899160">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Packaging &amp; products</a:t>
                      </a:r>
                    </a:p>
                  </a:txBody>
                  <a:tcPr>
                    <a:solidFill>
                      <a:srgbClr val="D6E8F7"/>
                    </a:solidFill>
                  </a:tcPr>
                </a:tc>
                <a:tc>
                  <a:txBody>
                    <a:bodyPr/>
                    <a:lstStyle/>
                    <a:p>
                      <a:pPr algn="l"/>
                      <a:r>
                        <a:rPr sz="1200" b="0">
                          <a:solidFill>
                            <a:srgbClr val="333333"/>
                          </a:solidFill>
                        </a:rPr>
                        <a:t>Converted plastic</a:t>
                      </a:r>
                    </a:p>
                  </a:txBody>
                  <a:tcPr>
                    <a:solidFill>
                      <a:srgbClr val="D6E8F7"/>
                    </a:solidFill>
                  </a:tcPr>
                </a:tc>
                <a:tc>
                  <a:txBody>
                    <a:bodyPr/>
                    <a:lstStyle/>
                    <a:p>
                      <a:pPr algn="l"/>
                      <a:r>
                        <a:rPr sz="1200" b="0">
                          <a:solidFill>
                            <a:srgbClr val="333333"/>
                          </a:solidFill>
                        </a:rPr>
                        <a:t>Bottles, sacks, containers, household goods</a:t>
                      </a:r>
                    </a:p>
                  </a:txBody>
                  <a:tcPr>
                    <a:solidFill>
                      <a:srgbClr val="D6E8F7"/>
                    </a:solidFill>
                  </a:tcPr>
                </a:tc>
              </a:tr>
              <a:tr h="899160">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Use</a:t>
                      </a:r>
                    </a:p>
                  </a:txBody>
                  <a:tcPr>
                    <a:solidFill>
                      <a:srgbClr val="FFFFFF"/>
                    </a:solidFill>
                  </a:tcPr>
                </a:tc>
                <a:tc>
                  <a:txBody>
                    <a:bodyPr/>
                    <a:lstStyle/>
                    <a:p>
                      <a:pPr algn="l"/>
                      <a:r>
                        <a:rPr sz="1200" b="0">
                          <a:solidFill>
                            <a:srgbClr val="333333"/>
                          </a:solidFill>
                        </a:rPr>
                        <a:t>Products</a:t>
                      </a:r>
                    </a:p>
                  </a:txBody>
                  <a:tcPr>
                    <a:solidFill>
                      <a:srgbClr val="FFFFFF"/>
                    </a:solidFill>
                  </a:tcPr>
                </a:tc>
                <a:tc>
                  <a:txBody>
                    <a:bodyPr/>
                    <a:lstStyle/>
                    <a:p>
                      <a:pPr algn="l"/>
                      <a:r>
                        <a:rPr sz="1200" b="0">
                          <a:solidFill>
                            <a:srgbClr val="333333"/>
                          </a:solidFill>
                        </a:rPr>
                        <a:t>Consumer/industrial use</a:t>
                      </a:r>
                    </a:p>
                  </a:txBody>
                  <a:tcPr>
                    <a:solidFill>
                      <a:srgbClr val="FFFFFF"/>
                    </a:solidFill>
                  </a:tcPr>
                </a:tc>
              </a:tr>
              <a:tr h="899160">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Recycling</a:t>
                      </a:r>
                    </a:p>
                  </a:txBody>
                  <a:tcPr>
                    <a:solidFill>
                      <a:srgbClr val="D6E8F7"/>
                    </a:solidFill>
                  </a:tcPr>
                </a:tc>
                <a:tc>
                  <a:txBody>
                    <a:bodyPr/>
                    <a:lstStyle/>
                    <a:p>
                      <a:pPr algn="l"/>
                      <a:r>
                        <a:rPr sz="1200" b="0">
                          <a:solidFill>
                            <a:srgbClr val="333333"/>
                          </a:solidFill>
                        </a:rPr>
                        <a:t>Post-consumer plastic</a:t>
                      </a:r>
                    </a:p>
                  </a:txBody>
                  <a:tcPr>
                    <a:solidFill>
                      <a:srgbClr val="D6E8F7"/>
                    </a:solidFill>
                  </a:tcPr>
                </a:tc>
                <a:tc>
                  <a:txBody>
                    <a:bodyPr/>
                    <a:lstStyle/>
                    <a:p>
                      <a:pPr algn="l"/>
                      <a:r>
                        <a:rPr sz="1200" b="0">
                          <a:solidFill>
                            <a:srgbClr val="333333"/>
                          </a:solidFill>
                        </a:rPr>
                        <a:t>Recycled flake/pellet</a:t>
                      </a:r>
                    </a:p>
                  </a:txBody>
                  <a:tcPr>
                    <a:solidFill>
                      <a:srgbClr val="D6E8F7"/>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plastics chain runs from polymer resin (feedstock) through conversion (moulding, extrusion, film) to finished plastic goods and packaging, with a parallel recycling loop. Uganda participates at the conversion and packaging stage but imports all virgin resin and a large share of finished plastic products.</a:t>
            </a:r>
          </a:p>
          <a:p>
            <a:pPr/>
            <a:r>
              <a:rPr sz="1600" b="0">
                <a:solidFill>
                  <a:srgbClr val="333333"/>
                </a:solidFill>
              </a:rPr>
              <a:t>•  Where value is captured and lost. Uganda imports all virgin polymer resin (no domestic production until the petrochemical park, Chapter 6) and imports a large share of finished plastics and packaging. Plastic packaging (HS 3923) imports were about USD 37.1 million in 2024 (ITC TradeMap), and Uganda imports roughly 150,000 tonnes of plastics a year (NEMA). Domestic value addition is in conversion; the feedstock and much finished product are imported.</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Industry. Uganda has an established plastics-conversion industry concentrated in Kampala, Wakiso, Jinja, and Mukono. UNBS reports 41 certified manufacturers of plastic carrier and flat bags holding 67 valid permits, indicating a substantial formal sector (UNBS, via sector reporting). Leading firms include Nice House of Plastics (the largest, established 1970), Nile Plastic Industries, and packaging converters serving the beverage, food, and agricultural-input sectors. Recyclers such as Quality Plastics (Mukono) operate a growing but under-scaled recycling loop.</a:t>
            </a:r>
          </a:p>
          <a:p>
            <a:pPr/>
            <a:r>
              <a:rPr sz="1600" b="0">
                <a:solidFill>
                  <a:srgbClr val="333333"/>
                </a:solidFill>
              </a:rPr>
              <a:t>•  Waste and circularity. Uganda generates about 600 tonnes of plastic waste per day, of which under 40% is properly collected and managed (NEMA). The National Strategy for Plastics Circularity (2023–2028) sets the policy direction; if fully implemented, it could cut plastic pollution by up to ~37% by 2040 (NEMA).</a:t>
            </a:r>
          </a:p>
          <a:p>
            <a:pPr/>
            <a:r>
              <a:rPr sz="1600" b="0">
                <a:solidFill>
                  <a:srgbClr val="333333"/>
                </a:solidFill>
              </a:rPr>
              <a:t>•  2025 policy shift. In 2025, NEMA moved to push a ban on single-use plastic carrier bags (amending the National Environment Act), aligning Uganda with EAC neighbours (Kenya, Rwanda, Tanzania). This reshapes the sector: constraining single-use bags while creating demand for alternatives, recycled content, and durable packaging (NEMA; Margherita News, 2025).</a:t>
            </a:r>
          </a:p>
          <a:p>
            <a:pPr/>
            <a:r>
              <a:rPr sz="1600" b="0">
                <a:solidFill>
                  <a:srgbClr val="333333"/>
                </a:solidFill>
              </a:rPr>
              <a:t>•  Trade position (ITC TradeMap, 2024). Plastic packaging (HS 3923) imports ~USD 37.1m; broader resin and finished-plastic imports are large; exports are modest and regional. Uganda is a net importer at both the feedstock and finished-product ends.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100% imported virgin resin — the core constraint; domestic resin awaits the petrochemical park (Chapter 6). Recycled feedstock is under-developed.</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Conversion technology is established; recycling and high-spec packaging technology need upgrading.</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Conversion is moderately energy-intensive; reliability matters.</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Not a binding constraint.</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Imported resin bears the landlocked penalty, raising input costs.</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The defining issue — low collection rates, pollution; also the recycling opportunity. NEMA-regulated.</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Recycling plants and modern converters need capital; sector is fragmented.</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Polymer-processing and recycling skills limited.</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UNBS certification (bag thickness, food-grade) is central; sub-standard bags are both a quality and environmental problem.</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The 2025 single-use-ban trajectory and circularity strategy are the dominant policy forces — risk for single-use producers, opportunity for recyclers and alternatives.</a:t>
                      </a:r>
                    </a:p>
                  </a:txBody>
                  <a:tcPr>
                    <a:solidFill>
                      <a:srgbClr val="FFFFFF"/>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Large and growing demand for packaging (beverage, food, agricultural inputs, cement bags, pharmaceuticals) and household plastics — much met by imports. Recycled-content and durable packaging demand will rise with the policy shift.</a:t>
            </a:r>
          </a:p>
          <a:p>
            <a:pPr/>
            <a:r>
              <a:rPr sz="1600" b="0">
                <a:solidFill>
                  <a:srgbClr val="333333"/>
                </a:solidFill>
              </a:rPr>
              <a:t>•  Regional (EAC/COMESA). Regional packaging demand is accessible; alignment with EAC plastic-bag bans creates a level playing field for compliant alternatives.</a:t>
            </a:r>
          </a:p>
          <a:p>
            <a:pPr/>
            <a:r>
              <a:rPr sz="1600" b="0">
                <a:solidFill>
                  <a:srgbClr val="333333"/>
                </a:solidFill>
              </a:rPr>
              <a:t>•  Global. Not relevant; the chain is domestic/regional substitution and circularity.</a:t>
            </a:r>
          </a:p>
          <a:p>
            <a:pPr/>
            <a:r>
              <a:rPr sz="1600" b="0">
                <a:solidFill>
                  <a:srgbClr val="333333"/>
                </a:solidFill>
              </a:rPr>
              <a:t>•  Accessible market conclusion. Prioritize value-added and industrial packaging (food, beverage, agri-inputs, pharma), plastics recycling (turning the waste problem into feedstock), and alternatives to single-use bags aligned with the 2025 policy.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899160">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899160">
                <a:tc>
                  <a:txBody>
                    <a:bodyPr/>
                    <a:lstStyle/>
                    <a:p>
                      <a:pPr algn="l"/>
                      <a:r>
                        <a:rPr sz="1200" b="0">
                          <a:solidFill>
                            <a:srgbClr val="333333"/>
                          </a:solidFill>
                        </a:rPr>
                        <a:t>**Industrial &amp; food/beverage packaging**</a:t>
                      </a:r>
                    </a:p>
                  </a:txBody>
                  <a:tcPr>
                    <a:solidFill>
                      <a:srgbClr val="D6E8F7"/>
                    </a:solidFill>
                  </a:tcPr>
                </a:tc>
                <a:tc>
                  <a:txBody>
                    <a:bodyPr/>
                    <a:lstStyle/>
                    <a:p>
                      <a:pPr algn="l"/>
                      <a:r>
                        <a:rPr sz="1200" b="0">
                          <a:solidFill>
                            <a:srgbClr val="333333"/>
                          </a:solidFill>
                        </a:rPr>
                        <a:t>High (USD 37m+)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**Plastics recycling (flake/pellet)**</a:t>
                      </a:r>
                    </a:p>
                  </a:txBody>
                  <a:tcPr>
                    <a:solidFill>
                      <a:srgbClr val="FFFFFF"/>
                    </a:solidFill>
                  </a:tcPr>
                </a:tc>
                <a:tc>
                  <a:txBody>
                    <a:bodyPr/>
                    <a:lstStyle/>
                    <a:p>
                      <a:pPr algn="l"/>
                      <a:r>
                        <a:rPr sz="1200" b="0">
                          <a:solidFill>
                            <a:srgbClr val="333333"/>
                          </a:solidFill>
                        </a:rPr>
                        <a:t>High (circularity)</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Medium</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High (feedstock)</a:t>
                      </a:r>
                    </a:p>
                  </a:txBody>
                  <a:tcPr>
                    <a:solidFill>
                      <a:srgbClr val="FFFFFF"/>
                    </a:solidFill>
                  </a:tcPr>
                </a:tc>
                <a:tc>
                  <a:txBody>
                    <a:bodyPr/>
                    <a:lstStyle/>
                    <a:p>
                      <a:pPr algn="l"/>
                      <a:r>
                        <a:rPr sz="1200" b="0">
                          <a:solidFill>
                            <a:srgbClr val="333333"/>
                          </a:solidFill>
                        </a:rPr>
                        <a:t>**Priority**</a:t>
                      </a:r>
                    </a:p>
                  </a:txBody>
                  <a:tcPr>
                    <a:solidFill>
                      <a:srgbClr val="FFFFFF"/>
                    </a:solidFill>
                  </a:tcPr>
                </a:tc>
              </a:tr>
              <a:tr h="899160">
                <a:tc>
                  <a:txBody>
                    <a:bodyPr/>
                    <a:lstStyle/>
                    <a:p>
                      <a:pPr algn="l"/>
                      <a:r>
                        <a:rPr sz="1200" b="0">
                          <a:solidFill>
                            <a:srgbClr val="333333"/>
                          </a:solidFill>
                        </a:rPr>
                        <a:t>**Agricultural &amp; cement packaging (sacks, films)**</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899160">
                <a:tc>
                  <a:txBody>
                    <a:bodyPr/>
                    <a:lstStyle/>
                    <a:p>
                      <a:pPr algn="l"/>
                      <a:r>
                        <a:rPr sz="1200" b="0">
                          <a:solidFill>
                            <a:srgbClr val="333333"/>
                          </a:solidFill>
                        </a:rPr>
                        <a:t>Single-use carrier bags</a:t>
                      </a:r>
                    </a:p>
                  </a:txBody>
                  <a:tcPr>
                    <a:solidFill>
                      <a:srgbClr val="FFFFFF"/>
                    </a:solidFill>
                  </a:tcPr>
                </a:tc>
                <a:tc>
                  <a:txBody>
                    <a:bodyPr/>
                    <a:lstStyle/>
                    <a:p>
                      <a:pPr algn="l"/>
                      <a:r>
                        <a:rPr sz="1200" b="0">
                          <a:solidFill>
                            <a:srgbClr val="333333"/>
                          </a:solidFill>
                        </a:rPr>
                        <a:t>Declining (ban)</a:t>
                      </a:r>
                    </a:p>
                  </a:txBody>
                  <a:tcPr>
                    <a:solidFill>
                      <a:srgbClr val="FFFFFF"/>
                    </a:solidFill>
                  </a:tcPr>
                </a:tc>
                <a:tc>
                  <a:txBody>
                    <a:bodyPr/>
                    <a:lstStyle/>
                    <a:p>
                      <a:pPr algn="l"/>
                      <a:r>
                        <a:rPr sz="1200" b="0">
                          <a:solidFill>
                            <a:srgbClr val="333333"/>
                          </a:solidFill>
                        </a:rPr>
                        <a:t>—</a:t>
                      </a:r>
                    </a:p>
                  </a:txBody>
                  <a:tcPr>
                    <a:solidFill>
                      <a:srgbClr val="FFFFFF"/>
                    </a:solidFill>
                  </a:tcPr>
                </a:tc>
                <a:tc>
                  <a:txBody>
                    <a:bodyPr/>
                    <a:lstStyle/>
                    <a:p>
                      <a:pPr algn="l"/>
                      <a:r>
                        <a:rPr sz="1200" b="0">
                          <a:solidFill>
                            <a:srgbClr val="333333"/>
                          </a:solidFill>
                        </a:rPr>
                        <a:t>—</a:t>
                      </a:r>
                    </a:p>
                  </a:txBody>
                  <a:tcPr>
                    <a:solidFill>
                      <a:srgbClr val="FFFFFF"/>
                    </a:solidFill>
                  </a:tcPr>
                </a:tc>
                <a:tc>
                  <a:txBody>
                    <a:bodyPr/>
                    <a:lstStyle/>
                    <a:p>
                      <a:pPr algn="l"/>
                      <a:r>
                        <a:rPr sz="1200" b="0">
                          <a:solidFill>
                            <a:srgbClr val="333333"/>
                          </a:solidFill>
                        </a:rPr>
                        <a:t>—</a:t>
                      </a:r>
                    </a:p>
                  </a:txBody>
                  <a:tcPr>
                    <a:solidFill>
                      <a:srgbClr val="FFFFFF"/>
                    </a:solidFill>
                  </a:tcPr>
                </a:tc>
                <a:tc>
                  <a:txBody>
                    <a:bodyPr/>
                    <a:lstStyle/>
                    <a:p>
                      <a:pPr algn="l"/>
                      <a:r>
                        <a:rPr sz="1200" b="0">
                          <a:solidFill>
                            <a:srgbClr val="333333"/>
                          </a:solidFill>
                        </a:rPr>
                        <a:t>—</a:t>
                      </a:r>
                    </a:p>
                  </a:txBody>
                  <a:tcPr>
                    <a:solidFill>
                      <a:srgbClr val="FFFFFF"/>
                    </a:solidFill>
                  </a:tcPr>
                </a:tc>
                <a:tc>
                  <a:txBody>
                    <a:bodyPr/>
                    <a:lstStyle/>
                    <a:p>
                      <a:pPr algn="l"/>
                      <a:r>
                        <a:rPr sz="1200" b="0">
                          <a:solidFill>
                            <a:srgbClr val="333333"/>
                          </a:solidFill>
                        </a:rPr>
                        <a:t>Deprioritize</a:t>
                      </a:r>
                    </a:p>
                  </a:txBody>
                  <a:tcPr>
                    <a:solidFill>
                      <a:srgbClr val="FFFFFF"/>
                    </a:solidFill>
                  </a:tcPr>
                </a:tc>
              </a:tr>
              <a:tr h="899160">
                <a:tc>
                  <a:txBody>
                    <a:bodyPr/>
                    <a:lstStyle/>
                    <a:p>
                      <a:pPr algn="l"/>
                      <a:r>
                        <a:rPr sz="1200" b="0">
                          <a:solidFill>
                            <a:srgbClr val="333333"/>
                          </a:solidFill>
                        </a:rPr>
                        <a:t>Domestic virgin-resin production</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Low now</a:t>
                      </a:r>
                    </a:p>
                  </a:txBody>
                  <a:tcPr>
                    <a:solidFill>
                      <a:srgbClr val="D6E8F7"/>
                    </a:solidFill>
                  </a:tcPr>
                </a:tc>
                <a:tc>
                  <a:txBody>
                    <a:bodyPr/>
                    <a:lstStyle/>
                    <a:p>
                      <a:pPr algn="l"/>
                      <a:r>
                        <a:rPr sz="1200" b="0">
                          <a:solidFill>
                            <a:srgbClr val="333333"/>
                          </a:solidFill>
                        </a:rPr>
                        <a:t>Low</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Very high</a:t>
                      </a:r>
                    </a:p>
                  </a:txBody>
                  <a:tcPr>
                    <a:solidFill>
                      <a:srgbClr val="D6E8F7"/>
                    </a:solidFill>
                  </a:tcPr>
                </a:tc>
                <a:tc>
                  <a:txBody>
                    <a:bodyPr/>
                    <a:lstStyle/>
                    <a:p>
                      <a:pPr algn="l"/>
                      <a:r>
                        <a:rPr sz="1200" b="0">
                          <a:solidFill>
                            <a:srgbClr val="333333"/>
                          </a:solidFill>
                        </a:rPr>
                        <a:t>Conditional (sequence to refinery, Ch.6)</a:t>
                      </a:r>
                    </a:p>
                  </a:txBody>
                  <a:tcPr>
                    <a:solidFill>
                      <a:srgbClr val="D6E8F7"/>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Plastics &amp; Packaging:</a:t>
            </a:r>
          </a:p>
          <a:p>
            <a:pPr/>
            <a:r>
              <a:rPr sz="1600" b="0">
                <a:solidFill>
                  <a:srgbClr val="333333"/>
                </a:solidFill>
              </a:rPr>
              <a:t>•  Explicit deprioritization. Uganda should not invest in expanding single-use carrier-bag capacity — the 2025 policy trajectory makes it a stranded-asset risk. Domestic virgin-resin production is a conditional priority that must be sequenced to the petrochemical park (Chapter 6), not pursued independently.</a:t>
            </a:r>
          </a:p>
          <a:p>
            <a:pPr/>
            <a:r>
              <a:rPr sz="1600" b="0">
                <a:solidFill>
                  <a:srgbClr val="333333"/>
                </a:solidFill>
              </a:rPr>
              <a:t>1. Industrial and food/beverage packaging — substitute the USD 37m+ packaging import line with higher-value, standards-compliant domestic packaging for Uganda's food, beverage, and agri-input sectors.</a:t>
            </a:r>
          </a:p>
          <a:p>
            <a:pPr/>
            <a:r>
              <a:rPr sz="1600" b="0">
                <a:solidFill>
                  <a:srgbClr val="333333"/>
                </a:solidFill>
              </a:rPr>
              <a:t>2. Plastics recycling — scale recycling to turn the 600 t/day waste stream into domestic feedstock, directly supporting circularity and reducing resin imports; the strongest alignment with the 2025 policy.</a:t>
            </a:r>
          </a:p>
          <a:p>
            <a:pPr/>
            <a:r>
              <a:rPr sz="1600" b="0">
                <a:solidFill>
                  <a:srgbClr val="333333"/>
                </a:solidFill>
              </a:rPr>
              <a:t>3. Agricultural and cement packaging (woven sacks, films, mulch) — feasible, job-rich, and linked to Uganda's agriculture and cement sectors.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8.F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770708">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Clear, phased single-use-bag rules with support for transition to alternatives/recycled content</a:t>
                      </a:r>
                    </a:p>
                  </a:txBody>
                  <a:tcPr>
                    <a:solidFill>
                      <a:srgbClr val="D6E8F7"/>
                    </a:solidFill>
                  </a:tcPr>
                </a:tc>
                <a:tc>
                  <a:txBody>
                    <a:bodyPr/>
                    <a:lstStyle/>
                    <a:p>
                      <a:pPr algn="l"/>
                      <a:r>
                        <a:rPr sz="1200" b="0">
                          <a:solidFill>
                            <a:srgbClr val="333333"/>
                          </a:solidFill>
                        </a:rPr>
                        <a:t>NEMA, MTIC</a:t>
                      </a:r>
                    </a:p>
                  </a:txBody>
                  <a:tcPr>
                    <a:solidFill>
                      <a:srgbClr val="D6E8F7"/>
                    </a:solidFill>
                  </a:tcPr>
                </a:tc>
                <a:tc>
                  <a:txBody>
                    <a:bodyPr/>
                    <a:lstStyle/>
                    <a:p>
                      <a:pPr algn="l"/>
                      <a:r>
                        <a:rPr sz="1200" b="0">
                          <a:solidFill>
                            <a:srgbClr val="333333"/>
                          </a:solidFill>
                        </a:rPr>
                        <a:t>Low (policy)</a:t>
                      </a:r>
                    </a:p>
                  </a:txBody>
                  <a:tcPr>
                    <a:solidFill>
                      <a:srgbClr val="D6E8F7"/>
                    </a:solidFill>
                  </a:tcPr>
                </a:tc>
              </a:tr>
              <a:tr h="770708">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Strengthen UNBS enforcement on packaging standards (food-grade, thickness)</a:t>
                      </a:r>
                    </a:p>
                  </a:txBody>
                  <a:tcPr>
                    <a:solidFill>
                      <a:srgbClr val="FFFFFF"/>
                    </a:solidFill>
                  </a:tcPr>
                </a:tc>
                <a:tc>
                  <a:txBody>
                    <a:bodyPr/>
                    <a:lstStyle/>
                    <a:p>
                      <a:pPr algn="l"/>
                      <a:r>
                        <a:rPr sz="1200" b="0">
                          <a:solidFill>
                            <a:srgbClr val="333333"/>
                          </a:solidFill>
                        </a:rPr>
                        <a:t>UNBS</a:t>
                      </a:r>
                    </a:p>
                  </a:txBody>
                  <a:tcPr>
                    <a:solidFill>
                      <a:srgbClr val="FFFFFF"/>
                    </a:solidFill>
                  </a:tcPr>
                </a:tc>
                <a:tc>
                  <a:txBody>
                    <a:bodyPr/>
                    <a:lstStyle/>
                    <a:p>
                      <a:pPr algn="l"/>
                      <a:r>
                        <a:rPr sz="1200" b="0">
                          <a:solidFill>
                            <a:srgbClr val="333333"/>
                          </a:solidFill>
                        </a:rPr>
                        <a:t>Low</a:t>
                      </a:r>
                    </a:p>
                  </a:txBody>
                  <a:tcPr>
                    <a:solidFill>
                      <a:srgbClr val="FFFFFF"/>
                    </a:solidFill>
                  </a:tcPr>
                </a:tc>
              </a:tr>
              <a:tr h="770708">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Extended Producer Responsibility (EPR) and recycling-collection framework</a:t>
                      </a:r>
                    </a:p>
                  </a:txBody>
                  <a:tcPr>
                    <a:solidFill>
                      <a:srgbClr val="D6E8F7"/>
                    </a:solidFill>
                  </a:tcPr>
                </a:tc>
                <a:tc>
                  <a:txBody>
                    <a:bodyPr/>
                    <a:lstStyle/>
                    <a:p>
                      <a:pPr algn="l"/>
                      <a:r>
                        <a:rPr sz="1200" b="0">
                          <a:solidFill>
                            <a:srgbClr val="333333"/>
                          </a:solidFill>
                        </a:rPr>
                        <a:t>NEMA, MTIC</a:t>
                      </a:r>
                    </a:p>
                  </a:txBody>
                  <a:tcPr>
                    <a:solidFill>
                      <a:srgbClr val="D6E8F7"/>
                    </a:solidFill>
                  </a:tcPr>
                </a:tc>
                <a:tc>
                  <a:txBody>
                    <a:bodyPr/>
                    <a:lstStyle/>
                    <a:p>
                      <a:pPr algn="l"/>
                      <a:r>
                        <a:rPr sz="1200" b="0">
                          <a:solidFill>
                            <a:srgbClr val="333333"/>
                          </a:solidFill>
                        </a:rPr>
                        <a:t>Medium</a:t>
                      </a:r>
                    </a:p>
                  </a:txBody>
                  <a:tcPr>
                    <a:solidFill>
                      <a:srgbClr val="D6E8F7"/>
                    </a:solidFill>
                  </a:tcPr>
                </a:tc>
              </a:tr>
              <a:tr h="770708">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Incentives for recycling plants and recycled-content packaging</a:t>
                      </a:r>
                    </a:p>
                  </a:txBody>
                  <a:tcPr>
                    <a:solidFill>
                      <a:srgbClr val="FFFFFF"/>
                    </a:solidFill>
                  </a:tcPr>
                </a:tc>
                <a:tc>
                  <a:txBody>
                    <a:bodyPr/>
                    <a:lstStyle/>
                    <a:p>
                      <a:pPr algn="l"/>
                      <a:r>
                        <a:rPr sz="1200" b="0">
                          <a:solidFill>
                            <a:srgbClr val="333333"/>
                          </a:solidFill>
                        </a:rPr>
                        <a:t>MTIC, UIA, MoFPED</a:t>
                      </a:r>
                    </a:p>
                  </a:txBody>
                  <a:tcPr>
                    <a:solidFill>
                      <a:srgbClr val="FFFFFF"/>
                    </a:solidFill>
                  </a:tcPr>
                </a:tc>
                <a:tc>
                  <a:txBody>
                    <a:bodyPr/>
                    <a:lstStyle/>
                    <a:p>
                      <a:pPr algn="l"/>
                      <a:r>
                        <a:rPr sz="1200" b="0">
                          <a:solidFill>
                            <a:srgbClr val="333333"/>
                          </a:solidFill>
                        </a:rPr>
                        <a:t>Medium</a:t>
                      </a:r>
                    </a:p>
                  </a:txBody>
                  <a:tcPr>
                    <a:solidFill>
                      <a:srgbClr val="FFFFFF"/>
                    </a:solidFill>
                  </a:tcPr>
                </a:tc>
              </a:tr>
              <a:tr h="770708">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Recycling capacity (PET/HDPE flake &amp; pellet)</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Indicative (see Ch.11)</a:t>
                      </a:r>
                    </a:p>
                  </a:txBody>
                  <a:tcPr>
                    <a:solidFill>
                      <a:srgbClr val="D6E8F7"/>
                    </a:solidFill>
                  </a:tcPr>
                </a:tc>
              </a:tr>
              <a:tr h="770712">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Modern food/beverage &amp; agri packaging plants; resin (sequenced to refinery)</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Indicative (see Ch.11)</a:t>
                      </a:r>
                    </a:p>
                  </a:txBody>
                  <a:tcPr>
                    <a:solidFill>
                      <a:srgbClr val="FFFFFF"/>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8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NEMA, National Strategy for Management of Plastic Pollution / Plastics Circularity (2023–2028). https://www.nema.go.ug/new_site/wp-content/uploads/2024/05/Plastic_circularity_-Report-2023-1.pdf</a:t>
            </a:r>
          </a:p>
          <a:p>
            <a:pPr/>
            <a:r>
              <a:rPr sz="1600" b="0">
                <a:solidFill>
                  <a:srgbClr val="333333"/>
                </a:solidFill>
              </a:rPr>
              <a:t>•  NEMA, "Plastics." https://www.nema.go.ug/en/plastics/</a:t>
            </a:r>
          </a:p>
          <a:p>
            <a:pPr/>
            <a:r>
              <a:rPr sz="1600" b="0">
                <a:solidFill>
                  <a:srgbClr val="333333"/>
                </a:solidFill>
              </a:rPr>
              <a:t>•  Margherita News, "NEMA pushes for total ban of polythene bags in Uganda" (Mar 2025). https://margheritanews.ug/2025/03/nema-pushes-for-total-polythene-bags-of-kevera-in-uganda/</a:t>
            </a:r>
          </a:p>
          <a:p>
            <a:pPr/>
            <a:r>
              <a:rPr sz="1600" b="0">
                <a:solidFill>
                  <a:srgbClr val="333333"/>
                </a:solidFill>
              </a:rPr>
              <a:t>•  Reportlinker, Uganda Plastic Industry Outlook 2024–2028. https://www.reportlinker.com/clp/country/6347/726256</a:t>
            </a:r>
          </a:p>
          <a:p>
            <a:pPr/>
            <a:r>
              <a:rPr sz="1600" b="0">
                <a:solidFill>
                  <a:srgbClr val="333333"/>
                </a:solidFill>
              </a:rPr>
              <a:t>•  Nile Plastic Industries. https://www.nileplasticindustries.com/</a:t>
            </a:r>
          </a:p>
          <a:p>
            <a:pPr/>
            <a:r>
              <a:rPr sz="1600" b="0">
                <a:solidFill>
                  <a:srgbClr val="333333"/>
                </a:solidFill>
              </a:rPr>
              <a:t>•  ITC TradeMap, trade statistics — HS 3923, Uganda, 2024.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9</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9: Cement &amp; Building Materials Value Chain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899160">
                <a:tc>
                  <a:txBody>
                    <a:bodyPr/>
                    <a:lstStyle/>
                    <a:p>
                      <a:pPr algn="l"/>
                      <a:r>
                        <a:rPr sz="1300" b="1">
                          <a:solidFill>
                            <a:srgbClr val="FFFFFF"/>
                          </a:solidFill>
                        </a:rPr>
                        <a:t>Phase</a:t>
                      </a:r>
                    </a:p>
                  </a:txBody>
                  <a:tcPr>
                    <a:solidFill>
                      <a:srgbClr val="002B5B"/>
                    </a:solidFill>
                  </a:tcPr>
                </a:tc>
                <a:tc>
                  <a:txBody>
                    <a:bodyPr/>
                    <a:lstStyle/>
                    <a:p>
                      <a:pPr algn="l"/>
                      <a:r>
                        <a:rPr sz="1300" b="1">
                          <a:solidFill>
                            <a:srgbClr val="FFFFFF"/>
                          </a:solidFill>
                        </a:rPr>
                        <a:t>Activity</a:t>
                      </a:r>
                    </a:p>
                  </a:txBody>
                  <a:tcPr>
                    <a:solidFill>
                      <a:srgbClr val="002B5B"/>
                    </a:solidFill>
                  </a:tcPr>
                </a:tc>
                <a:tc>
                  <a:txBody>
                    <a:bodyPr/>
                    <a:lstStyle/>
                    <a:p>
                      <a:pPr algn="l"/>
                      <a:r>
                        <a:rPr sz="1300" b="1">
                          <a:solidFill>
                            <a:srgbClr val="FFFFFF"/>
                          </a:solidFill>
                        </a:rPr>
                        <a:t>Main inputs</a:t>
                      </a:r>
                    </a:p>
                  </a:txBody>
                  <a:tcPr>
                    <a:solidFill>
                      <a:srgbClr val="002B5B"/>
                    </a:solidFill>
                  </a:tcPr>
                </a:tc>
                <a:tc>
                  <a:txBody>
                    <a:bodyPr/>
                    <a:lstStyle/>
                    <a:p>
                      <a:pPr algn="l"/>
                      <a:r>
                        <a:rPr sz="1300" b="1">
                          <a:solidFill>
                            <a:srgbClr val="FFFFFF"/>
                          </a:solidFill>
                        </a:rPr>
                        <a:t>Output</a:t>
                      </a:r>
                    </a:p>
                  </a:txBody>
                  <a:tcPr>
                    <a:solidFill>
                      <a:srgbClr val="002B5B"/>
                    </a:solidFill>
                  </a:tcPr>
                </a:tc>
              </a:tr>
              <a:tr h="899160">
                <a:tc>
                  <a:txBody>
                    <a:bodyPr/>
                    <a:lstStyle/>
                    <a:p>
                      <a:pPr algn="l"/>
                      <a:r>
                        <a:rPr sz="1200" b="0">
                          <a:solidFill>
                            <a:srgbClr val="333333"/>
                          </a:solidFill>
                        </a:rPr>
                        <a:t>I</a:t>
                      </a:r>
                    </a:p>
                  </a:txBody>
                  <a:tcPr>
                    <a:solidFill>
                      <a:srgbClr val="D6E8F7"/>
                    </a:solidFill>
                  </a:tcPr>
                </a:tc>
                <a:tc>
                  <a:txBody>
                    <a:bodyPr/>
                    <a:lstStyle/>
                    <a:p>
                      <a:pPr algn="l"/>
                      <a:r>
                        <a:rPr sz="1200" b="0">
                          <a:solidFill>
                            <a:srgbClr val="333333"/>
                          </a:solidFill>
                        </a:rPr>
                        <a:t>Limestone quarrying</a:t>
                      </a:r>
                    </a:p>
                  </a:txBody>
                  <a:tcPr>
                    <a:solidFill>
                      <a:srgbClr val="D6E8F7"/>
                    </a:solidFill>
                  </a:tcPr>
                </a:tc>
                <a:tc>
                  <a:txBody>
                    <a:bodyPr/>
                    <a:lstStyle/>
                    <a:p>
                      <a:pPr algn="l"/>
                      <a:r>
                        <a:rPr sz="1200" b="0">
                          <a:solidFill>
                            <a:srgbClr val="333333"/>
                          </a:solidFill>
                        </a:rPr>
                        <a:t>Limestone deposits</a:t>
                      </a:r>
                    </a:p>
                  </a:txBody>
                  <a:tcPr>
                    <a:solidFill>
                      <a:srgbClr val="D6E8F7"/>
                    </a:solidFill>
                  </a:tcPr>
                </a:tc>
                <a:tc>
                  <a:txBody>
                    <a:bodyPr/>
                    <a:lstStyle/>
                    <a:p>
                      <a:pPr algn="l"/>
                      <a:r>
                        <a:rPr sz="1200" b="0">
                          <a:solidFill>
                            <a:srgbClr val="333333"/>
                          </a:solidFill>
                        </a:rPr>
                        <a:t>Limestone</a:t>
                      </a:r>
                    </a:p>
                  </a:txBody>
                  <a:tcPr>
                    <a:solidFill>
                      <a:srgbClr val="D6E8F7"/>
                    </a:solidFill>
                  </a:tcPr>
                </a:tc>
              </a:tr>
              <a:tr h="899160">
                <a:tc>
                  <a:txBody>
                    <a:bodyPr/>
                    <a:lstStyle/>
                    <a:p>
                      <a:pPr algn="l"/>
                      <a:r>
                        <a:rPr sz="1200" b="0">
                          <a:solidFill>
                            <a:srgbClr val="333333"/>
                          </a:solidFill>
                        </a:rPr>
                        <a:t>II</a:t>
                      </a:r>
                    </a:p>
                  </a:txBody>
                  <a:tcPr>
                    <a:solidFill>
                      <a:srgbClr val="FFFFFF"/>
                    </a:solidFill>
                  </a:tcPr>
                </a:tc>
                <a:tc>
                  <a:txBody>
                    <a:bodyPr/>
                    <a:lstStyle/>
                    <a:p>
                      <a:pPr algn="l"/>
                      <a:r>
                        <a:rPr sz="1200" b="0">
                          <a:solidFill>
                            <a:srgbClr val="333333"/>
                          </a:solidFill>
                        </a:rPr>
                        <a:t>Clinker production</a:t>
                      </a:r>
                    </a:p>
                  </a:txBody>
                  <a:tcPr>
                    <a:solidFill>
                      <a:srgbClr val="FFFFFF"/>
                    </a:solidFill>
                  </a:tcPr>
                </a:tc>
                <a:tc>
                  <a:txBody>
                    <a:bodyPr/>
                    <a:lstStyle/>
                    <a:p>
                      <a:pPr algn="l"/>
                      <a:r>
                        <a:rPr sz="1200" b="0">
                          <a:solidFill>
                            <a:srgbClr val="333333"/>
                          </a:solidFill>
                        </a:rPr>
                        <a:t>Limestone, energy, additives</a:t>
                      </a:r>
                    </a:p>
                  </a:txBody>
                  <a:tcPr>
                    <a:solidFill>
                      <a:srgbClr val="FFFFFF"/>
                    </a:solidFill>
                  </a:tcPr>
                </a:tc>
                <a:tc>
                  <a:txBody>
                    <a:bodyPr/>
                    <a:lstStyle/>
                    <a:p>
                      <a:pPr algn="l"/>
                      <a:r>
                        <a:rPr sz="1200" b="0">
                          <a:solidFill>
                            <a:srgbClr val="333333"/>
                          </a:solidFill>
                        </a:rPr>
                        <a:t>Clinker</a:t>
                      </a:r>
                    </a:p>
                  </a:txBody>
                  <a:tcPr>
                    <a:solidFill>
                      <a:srgbClr val="FFFFFF"/>
                    </a:solidFill>
                  </a:tcPr>
                </a:tc>
              </a:tr>
              <a:tr h="899160">
                <a:tc>
                  <a:txBody>
                    <a:bodyPr/>
                    <a:lstStyle/>
                    <a:p>
                      <a:pPr algn="l"/>
                      <a:r>
                        <a:rPr sz="1200" b="0">
                          <a:solidFill>
                            <a:srgbClr val="333333"/>
                          </a:solidFill>
                        </a:rPr>
                        <a:t>III</a:t>
                      </a:r>
                    </a:p>
                  </a:txBody>
                  <a:tcPr>
                    <a:solidFill>
                      <a:srgbClr val="D6E8F7"/>
                    </a:solidFill>
                  </a:tcPr>
                </a:tc>
                <a:tc>
                  <a:txBody>
                    <a:bodyPr/>
                    <a:lstStyle/>
                    <a:p>
                      <a:pPr algn="l"/>
                      <a:r>
                        <a:rPr sz="1200" b="0">
                          <a:solidFill>
                            <a:srgbClr val="333333"/>
                          </a:solidFill>
                        </a:rPr>
                        <a:t>Cement grinding</a:t>
                      </a:r>
                    </a:p>
                  </a:txBody>
                  <a:tcPr>
                    <a:solidFill>
                      <a:srgbClr val="D6E8F7"/>
                    </a:solidFill>
                  </a:tcPr>
                </a:tc>
                <a:tc>
                  <a:txBody>
                    <a:bodyPr/>
                    <a:lstStyle/>
                    <a:p>
                      <a:pPr algn="l"/>
                      <a:r>
                        <a:rPr sz="1200" b="0">
                          <a:solidFill>
                            <a:srgbClr val="333333"/>
                          </a:solidFill>
                        </a:rPr>
                        <a:t>Clinker, gypsum, additives</a:t>
                      </a:r>
                    </a:p>
                  </a:txBody>
                  <a:tcPr>
                    <a:solidFill>
                      <a:srgbClr val="D6E8F7"/>
                    </a:solidFill>
                  </a:tcPr>
                </a:tc>
                <a:tc>
                  <a:txBody>
                    <a:bodyPr/>
                    <a:lstStyle/>
                    <a:p>
                      <a:pPr algn="l"/>
                      <a:r>
                        <a:rPr sz="1200" b="0">
                          <a:solidFill>
                            <a:srgbClr val="333333"/>
                          </a:solidFill>
                        </a:rPr>
                        <a:t>Cement (OPC, blended)</a:t>
                      </a:r>
                    </a:p>
                  </a:txBody>
                  <a:tcPr>
                    <a:solidFill>
                      <a:srgbClr val="D6E8F7"/>
                    </a:solidFill>
                  </a:tcPr>
                </a:tc>
              </a:tr>
              <a:tr h="899160">
                <a:tc>
                  <a:txBody>
                    <a:bodyPr/>
                    <a:lstStyle/>
                    <a:p>
                      <a:pPr algn="l"/>
                      <a:r>
                        <a:rPr sz="1200" b="0">
                          <a:solidFill>
                            <a:srgbClr val="333333"/>
                          </a:solidFill>
                        </a:rPr>
                        <a:t>IV</a:t>
                      </a:r>
                    </a:p>
                  </a:txBody>
                  <a:tcPr>
                    <a:solidFill>
                      <a:srgbClr val="FFFFFF"/>
                    </a:solidFill>
                  </a:tcPr>
                </a:tc>
                <a:tc>
                  <a:txBody>
                    <a:bodyPr/>
                    <a:lstStyle/>
                    <a:p>
                      <a:pPr algn="l"/>
                      <a:r>
                        <a:rPr sz="1200" b="0">
                          <a:solidFill>
                            <a:srgbClr val="333333"/>
                          </a:solidFill>
                        </a:rPr>
                        <a:t>Downstream products</a:t>
                      </a:r>
                    </a:p>
                  </a:txBody>
                  <a:tcPr>
                    <a:solidFill>
                      <a:srgbClr val="FFFFFF"/>
                    </a:solidFill>
                  </a:tcPr>
                </a:tc>
                <a:tc>
                  <a:txBody>
                    <a:bodyPr/>
                    <a:lstStyle/>
                    <a:p>
                      <a:pPr algn="l"/>
                      <a:r>
                        <a:rPr sz="1200" b="0">
                          <a:solidFill>
                            <a:srgbClr val="333333"/>
                          </a:solidFill>
                        </a:rPr>
                        <a:t>Cement, aggregates</a:t>
                      </a:r>
                    </a:p>
                  </a:txBody>
                  <a:tcPr>
                    <a:solidFill>
                      <a:srgbClr val="FFFFFF"/>
                    </a:solidFill>
                  </a:tcPr>
                </a:tc>
                <a:tc>
                  <a:txBody>
                    <a:bodyPr/>
                    <a:lstStyle/>
                    <a:p>
                      <a:pPr algn="l"/>
                      <a:r>
                        <a:rPr sz="1200" b="0">
                          <a:solidFill>
                            <a:srgbClr val="333333"/>
                          </a:solidFill>
                        </a:rPr>
                        <a:t>Concrete, blocks, tiles, fibre-cement</a:t>
                      </a:r>
                    </a:p>
                  </a:txBody>
                  <a:tcPr>
                    <a:solidFill>
                      <a:srgbClr val="FFFFFF"/>
                    </a:solidFill>
                  </a:tcPr>
                </a:tc>
              </a:tr>
              <a:tr h="899160">
                <a:tc>
                  <a:txBody>
                    <a:bodyPr/>
                    <a:lstStyle/>
                    <a:p>
                      <a:pPr algn="l"/>
                      <a:r>
                        <a:rPr sz="1200" b="0">
                          <a:solidFill>
                            <a:srgbClr val="333333"/>
                          </a:solidFill>
                        </a:rPr>
                        <a:t>V</a:t>
                      </a:r>
                    </a:p>
                  </a:txBody>
                  <a:tcPr>
                    <a:solidFill>
                      <a:srgbClr val="D6E8F7"/>
                    </a:solidFill>
                  </a:tcPr>
                </a:tc>
                <a:tc>
                  <a:txBody>
                    <a:bodyPr/>
                    <a:lstStyle/>
                    <a:p>
                      <a:pPr algn="l"/>
                      <a:r>
                        <a:rPr sz="1200" b="0">
                          <a:solidFill>
                            <a:srgbClr val="333333"/>
                          </a:solidFill>
                        </a:rPr>
                        <a:t>Market</a:t>
                      </a:r>
                    </a:p>
                  </a:txBody>
                  <a:tcPr>
                    <a:solidFill>
                      <a:srgbClr val="D6E8F7"/>
                    </a:solidFill>
                  </a:tcPr>
                </a:tc>
                <a:tc>
                  <a:txBody>
                    <a:bodyPr/>
                    <a:lstStyle/>
                    <a:p>
                      <a:pPr algn="l"/>
                      <a:r>
                        <a:rPr sz="1200" b="0">
                          <a:solidFill>
                            <a:srgbClr val="333333"/>
                          </a:solidFill>
                        </a:rPr>
                        <a:t>Products</a:t>
                      </a:r>
                    </a:p>
                  </a:txBody>
                  <a:tcPr>
                    <a:solidFill>
                      <a:srgbClr val="D6E8F7"/>
                    </a:solidFill>
                  </a:tcPr>
                </a:tc>
                <a:tc>
                  <a:txBody>
                    <a:bodyPr/>
                    <a:lstStyle/>
                    <a:p>
                      <a:pPr algn="l"/>
                      <a:r>
                        <a:rPr sz="1200" b="0">
                          <a:solidFill>
                            <a:srgbClr val="333333"/>
                          </a:solidFill>
                        </a:rPr>
                        <a:t>Construction</a:t>
                      </a:r>
                    </a:p>
                  </a:txBody>
                  <a:tcPr>
                    <a:solidFill>
                      <a:srgbClr val="D6E8F7"/>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9.A Value Chain 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cement chain runs from limestone quarrying through clinker production to cement grinding, with adjacent building-materials products (concrete, blocks, fibre-cement, tiles, aggregates). Uganda has a strong cement-grinding industry but a critical clinker gap — it imports more than half its clinker, the highest-value step.</a:t>
            </a:r>
          </a:p>
          <a:p>
            <a:pPr/>
            <a:r>
              <a:rPr sz="1600" b="0">
                <a:solidFill>
                  <a:srgbClr val="333333"/>
                </a:solidFill>
              </a:rPr>
              <a:t>•  Where value is captured and lost. Uganda has substantial grinding capacity but imports over 50% of its clinker — the most capital- and energy-intensive, highest-value step. Cement and clinker (HS 2523) imports were about USD 162.2 million in 2024, against exports of about USD 86.0 million (ITC TradeMap) — Uganda is both a significant exporter of finished cement to neighbours and a major importer of clinker, the classic "missing middle." Closing the clinker gap is the value-addition prize.</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Market. Uganda's cement market reached about USD 707 million in 2024, up ~12% year-on-year (IndexBox), driven by construction, infrastructure, and the oil-and-gas build-out.</a:t>
            </a:r>
          </a:p>
          <a:p>
            <a:pPr/>
            <a:r>
              <a:rPr sz="1600" b="0">
                <a:solidFill>
                  <a:srgbClr val="333333"/>
                </a:solidFill>
              </a:rPr>
              <a:t>•  Capacity and firms. Installed cement (grinding) capacity has grown well beyond the ~6.8 million tpa of 2018. Major producers (Wikipedia plant list; CemNet):</a:t>
            </a:r>
          </a:p>
          <a:p>
            <a:pPr/>
            <a:r>
              <a:rPr sz="1600" b="0">
                <a:solidFill>
                  <a:srgbClr val="333333"/>
                </a:solidFill>
              </a:rPr>
              <a:t>•  Clinker dependence. Despite strong grinding capacity, Uganda imports &gt;50% of its clinker — the structural weakness the new plants aim to address.</a:t>
            </a:r>
          </a:p>
          <a:p>
            <a:pPr/>
            <a:r>
              <a:rPr sz="1600" b="0">
                <a:solidFill>
                  <a:srgbClr val="333333"/>
                </a:solidFill>
              </a:rPr>
              <a:t>•  Trade position (ITC TradeMap, 2024). Cement &amp; clinker (HS 2523): imports ~USD 162.2m, exports ~USD 86.0m. Uganda exports finished cement to Rwanda, DRC, South Sudan, and Kenya while importing clinker — a chain that is competitive downstream but leaks value upstream.</a:t>
            </a:r>
          </a:p>
          <a:p>
            <a:pPr/>
            <a:r>
              <a:rPr sz="1600" b="0">
                <a:solidFill>
                  <a:srgbClr val="333333"/>
                </a:solidFill>
              </a:rPr>
              <a:t>•  Tororo Cement — the largest, ~3.0 million tpa.</a:t>
            </a:r>
          </a:p>
          <a:p>
            <a:pPr/>
            <a:r>
              <a:rPr sz="1600" b="0">
                <a:solidFill>
                  <a:srgbClr val="333333"/>
                </a:solidFill>
              </a:rPr>
              <a:t>•  Hima Cement — ~2.0 million tpa across Hima (Kasese), Namanve blending, and Tororo grinding; owns the Dura limestone quarry (Kamwenge), with reserves estimated sufficient to ~2036.</a:t>
            </a:r>
          </a:p>
          <a:p>
            <a:pPr/>
            <a:r>
              <a:rPr sz="1600" b="0">
                <a:solidFill>
                  <a:srgbClr val="333333"/>
                </a:solidFill>
              </a:rPr>
              <a:t>•  Simba Cement (Uganda) — ~1.0 million tpa; backed by a new clinker plant in West Pokot, Kenya (2024).</a:t>
            </a:r>
          </a:p>
          <a:p>
            <a:pPr/>
            <a:r>
              <a:rPr sz="1600" b="0">
                <a:solidFill>
                  <a:srgbClr val="333333"/>
                </a:solidFill>
              </a:rPr>
              <a:t>•  Kampala Cement — ~1.0 million tpa.</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9.B Current State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New capacity: a USD 300 million plant in north-eastern Uganda (&gt;6,000 t clinker/day) and West International Holding's USD 200 million Buikwe plant (~4,000 t/day, due 2025) — both adding clinker capacity to close the import gap (Ecofin Agency; CemNet, 2024–25).</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9.C Binding Constraints Analysis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490450">
                <a:tc>
                  <a:txBody>
                    <a:bodyPr/>
                    <a:lstStyle/>
                    <a:p>
                      <a:pPr algn="l"/>
                      <a:r>
                        <a:rPr sz="1300" b="1">
                          <a:solidFill>
                            <a:srgbClr val="FFFFFF"/>
                          </a:solidFill>
                        </a:rPr>
                        <a:t>Dimension</a:t>
                      </a:r>
                    </a:p>
                  </a:txBody>
                  <a:tcPr>
                    <a:solidFill>
                      <a:srgbClr val="002B5B"/>
                    </a:solidFill>
                  </a:tcPr>
                </a:tc>
                <a:tc>
                  <a:txBody>
                    <a:bodyPr/>
                    <a:lstStyle/>
                    <a:p>
                      <a:pPr algn="l"/>
                      <a:r>
                        <a:rPr sz="1300" b="1">
                          <a:solidFill>
                            <a:srgbClr val="FFFFFF"/>
                          </a:solidFill>
                        </a:rPr>
                        <a:t>Assessment</a:t>
                      </a:r>
                    </a:p>
                  </a:txBody>
                  <a:tcPr>
                    <a:solidFill>
                      <a:srgbClr val="002B5B"/>
                    </a:solidFill>
                  </a:tcPr>
                </a:tc>
              </a:tr>
              <a:tr h="490450">
                <a:tc>
                  <a:txBody>
                    <a:bodyPr/>
                    <a:lstStyle/>
                    <a:p>
                      <a:pPr algn="l"/>
                      <a:r>
                        <a:rPr sz="1200" b="0">
                          <a:solidFill>
                            <a:srgbClr val="333333"/>
                          </a:solidFill>
                        </a:rPr>
                        <a:t>**Inputs / raw materials**</a:t>
                      </a:r>
                    </a:p>
                  </a:txBody>
                  <a:tcPr>
                    <a:solidFill>
                      <a:srgbClr val="D6E8F7"/>
                    </a:solidFill>
                  </a:tcPr>
                </a:tc>
                <a:tc>
                  <a:txBody>
                    <a:bodyPr/>
                    <a:lstStyle/>
                    <a:p>
                      <a:pPr algn="l"/>
                      <a:r>
                        <a:rPr sz="1200" b="0">
                          <a:solidFill>
                            <a:srgbClr val="333333"/>
                          </a:solidFill>
                        </a:rPr>
                        <a:t>Limestone reserves exist (Dura/Kamwenge, Tororo, Karamoja) but clinker capacity has lagged grinding — hence &gt;50% clinker imports. New plants address this.</a:t>
                      </a:r>
                    </a:p>
                  </a:txBody>
                  <a:tcPr>
                    <a:solidFill>
                      <a:srgbClr val="D6E8F7"/>
                    </a:solidFill>
                  </a:tcPr>
                </a:tc>
              </a:tr>
              <a:tr h="490450">
                <a:tc>
                  <a:txBody>
                    <a:bodyPr/>
                    <a:lstStyle/>
                    <a:p>
                      <a:pPr algn="l"/>
                      <a:r>
                        <a:rPr sz="1200" b="0">
                          <a:solidFill>
                            <a:srgbClr val="333333"/>
                          </a:solidFill>
                        </a:rPr>
                        <a:t>**Technology &amp; productivity**</a:t>
                      </a:r>
                    </a:p>
                  </a:txBody>
                  <a:tcPr>
                    <a:solidFill>
                      <a:srgbClr val="FFFFFF"/>
                    </a:solidFill>
                  </a:tcPr>
                </a:tc>
                <a:tc>
                  <a:txBody>
                    <a:bodyPr/>
                    <a:lstStyle/>
                    <a:p>
                      <a:pPr algn="l"/>
                      <a:r>
                        <a:rPr sz="1200" b="0">
                          <a:solidFill>
                            <a:srgbClr val="333333"/>
                          </a:solidFill>
                        </a:rPr>
                        <a:t>Grinding is well-established; clinker kilns are capital- and energy-intensive; the new plants bring modern capacity.</a:t>
                      </a:r>
                    </a:p>
                  </a:txBody>
                  <a:tcPr>
                    <a:solidFill>
                      <a:srgbClr val="FFFFFF"/>
                    </a:solidFill>
                  </a:tcPr>
                </a:tc>
              </a:tr>
              <a:tr h="490450">
                <a:tc>
                  <a:txBody>
                    <a:bodyPr/>
                    <a:lstStyle/>
                    <a:p>
                      <a:pPr algn="l"/>
                      <a:r>
                        <a:rPr sz="1200" b="0">
                          <a:solidFill>
                            <a:srgbClr val="333333"/>
                          </a:solidFill>
                        </a:rPr>
                        <a:t>**Energy**</a:t>
                      </a:r>
                    </a:p>
                  </a:txBody>
                  <a:tcPr>
                    <a:solidFill>
                      <a:srgbClr val="D6E8F7"/>
                    </a:solidFill>
                  </a:tcPr>
                </a:tc>
                <a:tc>
                  <a:txBody>
                    <a:bodyPr/>
                    <a:lstStyle/>
                    <a:p>
                      <a:pPr algn="l"/>
                      <a:r>
                        <a:rPr sz="1200" b="0">
                          <a:solidFill>
                            <a:srgbClr val="333333"/>
                          </a:solidFill>
                        </a:rPr>
                        <a:t>Clinker production is highly energy-intensive (thermal + electricity); energy cost and reliability are decisive for competitiveness.</a:t>
                      </a:r>
                    </a:p>
                  </a:txBody>
                  <a:tcPr>
                    <a:solidFill>
                      <a:srgbClr val="D6E8F7"/>
                    </a:solidFill>
                  </a:tcPr>
                </a:tc>
              </a:tr>
              <a:tr h="490450">
                <a:tc>
                  <a:txBody>
                    <a:bodyPr/>
                    <a:lstStyle/>
                    <a:p>
                      <a:pPr algn="l"/>
                      <a:r>
                        <a:rPr sz="1200" b="0">
                          <a:solidFill>
                            <a:srgbClr val="333333"/>
                          </a:solidFill>
                        </a:rPr>
                        <a:t>**Water**</a:t>
                      </a:r>
                    </a:p>
                  </a:txBody>
                  <a:tcPr>
                    <a:solidFill>
                      <a:srgbClr val="FFFFFF"/>
                    </a:solidFill>
                  </a:tcPr>
                </a:tc>
                <a:tc>
                  <a:txBody>
                    <a:bodyPr/>
                    <a:lstStyle/>
                    <a:p>
                      <a:pPr algn="l"/>
                      <a:r>
                        <a:rPr sz="1200" b="0">
                          <a:solidFill>
                            <a:srgbClr val="333333"/>
                          </a:solidFill>
                        </a:rPr>
                        <a:t>Process water managed; not the binding constraint.</a:t>
                      </a:r>
                    </a:p>
                  </a:txBody>
                  <a:tcPr>
                    <a:solidFill>
                      <a:srgbClr val="FFFFFF"/>
                    </a:solidFill>
                  </a:tcPr>
                </a:tc>
              </a:tr>
              <a:tr h="490450">
                <a:tc>
                  <a:txBody>
                    <a:bodyPr/>
                    <a:lstStyle/>
                    <a:p>
                      <a:pPr algn="l"/>
                      <a:r>
                        <a:rPr sz="1200" b="0">
                          <a:solidFill>
                            <a:srgbClr val="333333"/>
                          </a:solidFill>
                        </a:rPr>
                        <a:t>**Logistics**</a:t>
                      </a:r>
                    </a:p>
                  </a:txBody>
                  <a:tcPr>
                    <a:solidFill>
                      <a:srgbClr val="D6E8F7"/>
                    </a:solidFill>
                  </a:tcPr>
                </a:tc>
                <a:tc>
                  <a:txBody>
                    <a:bodyPr/>
                    <a:lstStyle/>
                    <a:p>
                      <a:pPr algn="l"/>
                      <a:r>
                        <a:rPr sz="1200" b="0">
                          <a:solidFill>
                            <a:srgbClr val="333333"/>
                          </a:solidFill>
                        </a:rPr>
                        <a:t>Cement is bulk/low-value-density; the landlocked penalty (~18–20% of sale price) both protects the domestic market and limits distant exports — favouring domestic clinker over imports.</a:t>
                      </a:r>
                    </a:p>
                  </a:txBody>
                  <a:tcPr>
                    <a:solidFill>
                      <a:srgbClr val="D6E8F7"/>
                    </a:solidFill>
                  </a:tcPr>
                </a:tc>
              </a:tr>
              <a:tr h="490450">
                <a:tc>
                  <a:txBody>
                    <a:bodyPr/>
                    <a:lstStyle/>
                    <a:p>
                      <a:pPr algn="l"/>
                      <a:r>
                        <a:rPr sz="1200" b="0">
                          <a:solidFill>
                            <a:srgbClr val="333333"/>
                          </a:solidFill>
                        </a:rPr>
                        <a:t>**Waste &amp; effluent**</a:t>
                      </a:r>
                    </a:p>
                  </a:txBody>
                  <a:tcPr>
                    <a:solidFill>
                      <a:srgbClr val="FFFFFF"/>
                    </a:solidFill>
                  </a:tcPr>
                </a:tc>
                <a:tc>
                  <a:txBody>
                    <a:bodyPr/>
                    <a:lstStyle/>
                    <a:p>
                      <a:pPr algn="l"/>
                      <a:r>
                        <a:rPr sz="1200" b="0">
                          <a:solidFill>
                            <a:srgbClr val="333333"/>
                          </a:solidFill>
                        </a:rPr>
                        <a:t>Kiln dust and emissions managed under NEMA; co-processing of waste (alternative fuels) is an opportunity.</a:t>
                      </a:r>
                    </a:p>
                  </a:txBody>
                  <a:tcPr>
                    <a:solidFill>
                      <a:srgbClr val="FFFFFF"/>
                    </a:solidFill>
                  </a:tcPr>
                </a:tc>
              </a:tr>
              <a:tr h="490450">
                <a:tc>
                  <a:txBody>
                    <a:bodyPr/>
                    <a:lstStyle/>
                    <a:p>
                      <a:pPr algn="l"/>
                      <a:r>
                        <a:rPr sz="1200" b="0">
                          <a:solidFill>
                            <a:srgbClr val="333333"/>
                          </a:solidFill>
                        </a:rPr>
                        <a:t>**Finance &amp; investment**</a:t>
                      </a:r>
                    </a:p>
                  </a:txBody>
                  <a:tcPr>
                    <a:solidFill>
                      <a:srgbClr val="D6E8F7"/>
                    </a:solidFill>
                  </a:tcPr>
                </a:tc>
                <a:tc>
                  <a:txBody>
                    <a:bodyPr/>
                    <a:lstStyle/>
                    <a:p>
                      <a:pPr algn="l"/>
                      <a:r>
                        <a:rPr sz="1200" b="0">
                          <a:solidFill>
                            <a:srgbClr val="333333"/>
                          </a:solidFill>
                        </a:rPr>
                        <a:t>Clinker plants are very capital-intensive; recent USD 200–300m investments show appetite.</a:t>
                      </a:r>
                    </a:p>
                  </a:txBody>
                  <a:tcPr>
                    <a:solidFill>
                      <a:srgbClr val="D6E8F7"/>
                    </a:solidFill>
                  </a:tcPr>
                </a:tc>
              </a:tr>
              <a:tr h="490450">
                <a:tc>
                  <a:txBody>
                    <a:bodyPr/>
                    <a:lstStyle/>
                    <a:p>
                      <a:pPr algn="l"/>
                      <a:r>
                        <a:rPr sz="1200" b="0">
                          <a:solidFill>
                            <a:srgbClr val="333333"/>
                          </a:solidFill>
                        </a:rPr>
                        <a:t>**Skills &amp; workforce**</a:t>
                      </a:r>
                    </a:p>
                  </a:txBody>
                  <a:tcPr>
                    <a:solidFill>
                      <a:srgbClr val="FFFFFF"/>
                    </a:solidFill>
                  </a:tcPr>
                </a:tc>
                <a:tc>
                  <a:txBody>
                    <a:bodyPr/>
                    <a:lstStyle/>
                    <a:p>
                      <a:pPr algn="l"/>
                      <a:r>
                        <a:rPr sz="1200" b="0">
                          <a:solidFill>
                            <a:srgbClr val="333333"/>
                          </a:solidFill>
                        </a:rPr>
                        <a:t>Process and maintenance skills needed; sector has a trained base.</a:t>
                      </a:r>
                    </a:p>
                  </a:txBody>
                  <a:tcPr>
                    <a:solidFill>
                      <a:srgbClr val="FFFFFF"/>
                    </a:solidFill>
                  </a:tcPr>
                </a:tc>
              </a:tr>
              <a:tr h="490450">
                <a:tc>
                  <a:txBody>
                    <a:bodyPr/>
                    <a:lstStyle/>
                    <a:p>
                      <a:pPr algn="l"/>
                      <a:r>
                        <a:rPr sz="1200" b="0">
                          <a:solidFill>
                            <a:srgbClr val="333333"/>
                          </a:solidFill>
                        </a:rPr>
                        <a:t>**Standards &amp; quality**</a:t>
                      </a:r>
                    </a:p>
                  </a:txBody>
                  <a:tcPr>
                    <a:solidFill>
                      <a:srgbClr val="D6E8F7"/>
                    </a:solidFill>
                  </a:tcPr>
                </a:tc>
                <a:tc>
                  <a:txBody>
                    <a:bodyPr/>
                    <a:lstStyle/>
                    <a:p>
                      <a:pPr algn="l"/>
                      <a:r>
                        <a:rPr sz="1200" b="0">
                          <a:solidFill>
                            <a:srgbClr val="333333"/>
                          </a:solidFill>
                        </a:rPr>
                        <a:t>UNBS cement standards; sub-standard cement is a safety and market issue.</a:t>
                      </a:r>
                    </a:p>
                  </a:txBody>
                  <a:tcPr>
                    <a:solidFill>
                      <a:srgbClr val="D6E8F7"/>
                    </a:solidFill>
                  </a:tcPr>
                </a:tc>
              </a:tr>
              <a:tr h="490460">
                <a:tc>
                  <a:txBody>
                    <a:bodyPr/>
                    <a:lstStyle/>
                    <a:p>
                      <a:pPr algn="l"/>
                      <a:r>
                        <a:rPr sz="1200" b="0">
                          <a:solidFill>
                            <a:srgbClr val="333333"/>
                          </a:solidFill>
                        </a:rPr>
                        <a:t>**Policy &amp; regulatory**</a:t>
                      </a:r>
                    </a:p>
                  </a:txBody>
                  <a:tcPr>
                    <a:solidFill>
                      <a:srgbClr val="FFFFFF"/>
                    </a:solidFill>
                  </a:tcPr>
                </a:tc>
                <a:tc>
                  <a:txBody>
                    <a:bodyPr/>
                    <a:lstStyle/>
                    <a:p>
                      <a:pPr algn="l"/>
                      <a:r>
                        <a:rPr sz="1200" b="0">
                          <a:solidFill>
                            <a:srgbClr val="333333"/>
                          </a:solidFill>
                        </a:rPr>
                        <a:t>Limestone licensing, energy policy, and EAC trade rules shape competitiveness; clinker-import reliance is the central strategic concern.</a:t>
                      </a:r>
                    </a:p>
                  </a:txBody>
                  <a:tcPr>
                    <a:solidFill>
                      <a:srgbClr val="FFFFFF"/>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9.D Market Assessment</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Domestic. Large and growing (USD 707m, +12% in 2024), driven by construction, infrastructure, and oil-and-gas. Domestic demand comfortably supports closing the clinker gap.</a:t>
            </a:r>
          </a:p>
          <a:p>
            <a:pPr/>
            <a:r>
              <a:rPr sz="1600" b="0">
                <a:solidFill>
                  <a:srgbClr val="333333"/>
                </a:solidFill>
              </a:rPr>
              <a:t>•  Regional (EAC/COMESA). Uganda is already a competitive finished-cement exporter to Rwanda, DRC, South Sudan, and Kenya (USD 86m in 2024) — proximity favours Uganda in these markets. Reliable domestic clinker would deepen this advantage.</a:t>
            </a:r>
          </a:p>
          <a:p>
            <a:pPr/>
            <a:r>
              <a:rPr sz="1600" b="0">
                <a:solidFill>
                  <a:srgbClr val="333333"/>
                </a:solidFill>
              </a:rPr>
              <a:t>•  Global. Not relevant — cement is a regional product by economics.</a:t>
            </a:r>
          </a:p>
          <a:p>
            <a:pPr/>
            <a:r>
              <a:rPr sz="1600" b="0">
                <a:solidFill>
                  <a:srgbClr val="333333"/>
                </a:solidFill>
              </a:rPr>
              <a:t>•  Accessible market conclusion. Prioritize domestic clinker production (close the &gt;50% import gap), defend and grow regional finished-cement exports, and develop higher-value building materials (fibre-cement, tiles, precast).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46" cy="539496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078992">
                <a:tc>
                  <a:txBody>
                    <a:bodyPr/>
                    <a:lstStyle/>
                    <a:p>
                      <a:pPr algn="l"/>
                      <a:r>
                        <a:rPr sz="1300" b="1">
                          <a:solidFill>
                            <a:srgbClr val="FFFFFF"/>
                          </a:solidFill>
                        </a:rPr>
                        <a:t>Product / sub-sector</a:t>
                      </a:r>
                    </a:p>
                  </a:txBody>
                  <a:tcPr>
                    <a:solidFill>
                      <a:srgbClr val="002B5B"/>
                    </a:solidFill>
                  </a:tcPr>
                </a:tc>
                <a:tc>
                  <a:txBody>
                    <a:bodyPr/>
                    <a:lstStyle/>
                    <a:p>
                      <a:pPr algn="l"/>
                      <a:r>
                        <a:rPr sz="1300" b="1">
                          <a:solidFill>
                            <a:srgbClr val="FFFFFF"/>
                          </a:solidFill>
                        </a:rPr>
                        <a:t>Market</a:t>
                      </a:r>
                    </a:p>
                  </a:txBody>
                  <a:tcPr>
                    <a:solidFill>
                      <a:srgbClr val="002B5B"/>
                    </a:solidFill>
                  </a:tcPr>
                </a:tc>
                <a:tc>
                  <a:txBody>
                    <a:bodyPr/>
                    <a:lstStyle/>
                    <a:p>
                      <a:pPr algn="l"/>
                      <a:r>
                        <a:rPr sz="1300" b="1">
                          <a:solidFill>
                            <a:srgbClr val="FFFFFF"/>
                          </a:solidFill>
                        </a:rPr>
                        <a:t>Comp. adv.</a:t>
                      </a:r>
                    </a:p>
                  </a:txBody>
                  <a:tcPr>
                    <a:solidFill>
                      <a:srgbClr val="002B5B"/>
                    </a:solidFill>
                  </a:tcPr>
                </a:tc>
                <a:tc>
                  <a:txBody>
                    <a:bodyPr/>
                    <a:lstStyle/>
                    <a:p>
                      <a:pPr algn="l"/>
                      <a:r>
                        <a:rPr sz="1300" b="1">
                          <a:solidFill>
                            <a:srgbClr val="FFFFFF"/>
                          </a:solidFill>
                        </a:rPr>
                        <a:t>Feasibility</a:t>
                      </a:r>
                    </a:p>
                  </a:txBody>
                  <a:tcPr>
                    <a:solidFill>
                      <a:srgbClr val="002B5B"/>
                    </a:solidFill>
                  </a:tcPr>
                </a:tc>
                <a:tc>
                  <a:txBody>
                    <a:bodyPr/>
                    <a:lstStyle/>
                    <a:p>
                      <a:pPr algn="l"/>
                      <a:r>
                        <a:rPr sz="1300" b="1">
                          <a:solidFill>
                            <a:srgbClr val="FFFFFF"/>
                          </a:solidFill>
                        </a:rPr>
                        <a:t>Jobs</a:t>
                      </a:r>
                    </a:p>
                  </a:txBody>
                  <a:tcPr>
                    <a:solidFill>
                      <a:srgbClr val="002B5B"/>
                    </a:solidFill>
                  </a:tcPr>
                </a:tc>
                <a:tc>
                  <a:txBody>
                    <a:bodyPr/>
                    <a:lstStyle/>
                    <a:p>
                      <a:pPr algn="l"/>
                      <a:r>
                        <a:rPr sz="1300" b="1">
                          <a:solidFill>
                            <a:srgbClr val="FFFFFF"/>
                          </a:solidFill>
                        </a:rPr>
                        <a:t>Import subst.</a:t>
                      </a:r>
                    </a:p>
                  </a:txBody>
                  <a:tcPr>
                    <a:solidFill>
                      <a:srgbClr val="002B5B"/>
                    </a:solidFill>
                  </a:tcPr>
                </a:tc>
                <a:tc>
                  <a:txBody>
                    <a:bodyPr/>
                    <a:lstStyle/>
                    <a:p>
                      <a:pPr algn="l"/>
                      <a:r>
                        <a:rPr sz="1300" b="1">
                          <a:solidFill>
                            <a:srgbClr val="FFFFFF"/>
                          </a:solidFill>
                        </a:rPr>
                        <a:t>Priority</a:t>
                      </a:r>
                    </a:p>
                  </a:txBody>
                  <a:tcPr>
                    <a:solidFill>
                      <a:srgbClr val="002B5B"/>
                    </a:solidFill>
                  </a:tcPr>
                </a:tc>
              </a:tr>
              <a:tr h="1078992">
                <a:tc>
                  <a:txBody>
                    <a:bodyPr/>
                    <a:lstStyle/>
                    <a:p>
                      <a:pPr algn="l"/>
                      <a:r>
                        <a:rPr sz="1200" b="0">
                          <a:solidFill>
                            <a:srgbClr val="333333"/>
                          </a:solidFill>
                        </a:rPr>
                        <a:t>**Clinker production (close the import gap)**</a:t>
                      </a:r>
                    </a:p>
                  </a:txBody>
                  <a:tcPr>
                    <a:solidFill>
                      <a:srgbClr val="D6E8F7"/>
                    </a:solidFill>
                  </a:tcPr>
                </a:tc>
                <a:tc>
                  <a:txBody>
                    <a:bodyPr/>
                    <a:lstStyle/>
                    <a:p>
                      <a:pPr algn="l"/>
                      <a:r>
                        <a:rPr sz="1200" b="0">
                          <a:solidFill>
                            <a:srgbClr val="333333"/>
                          </a:solidFill>
                        </a:rPr>
                        <a:t>High (USD 162m imports)</a:t>
                      </a:r>
                    </a:p>
                  </a:txBody>
                  <a:tcPr>
                    <a:solidFill>
                      <a:srgbClr val="D6E8F7"/>
                    </a:solidFill>
                  </a:tcPr>
                </a:tc>
                <a:tc>
                  <a:txBody>
                    <a:bodyPr/>
                    <a:lstStyle/>
                    <a:p>
                      <a:pPr algn="l"/>
                      <a:r>
                        <a:rPr sz="1200" b="0">
                          <a:solidFill>
                            <a:srgbClr val="333333"/>
                          </a:solidFill>
                        </a:rPr>
                        <a:t>High (limestone)</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Very high</a:t>
                      </a:r>
                    </a:p>
                  </a:txBody>
                  <a:tcPr>
                    <a:solidFill>
                      <a:srgbClr val="D6E8F7"/>
                    </a:solidFill>
                  </a:tcPr>
                </a:tc>
                <a:tc>
                  <a:txBody>
                    <a:bodyPr/>
                    <a:lstStyle/>
                    <a:p>
                      <a:pPr algn="l"/>
                      <a:r>
                        <a:rPr sz="1200" b="0">
                          <a:solidFill>
                            <a:srgbClr val="333333"/>
                          </a:solidFill>
                        </a:rPr>
                        <a:t>**Priority**</a:t>
                      </a:r>
                    </a:p>
                  </a:txBody>
                  <a:tcPr>
                    <a:solidFill>
                      <a:srgbClr val="D6E8F7"/>
                    </a:solidFill>
                  </a:tcPr>
                </a:tc>
              </a:tr>
              <a:tr h="1078992">
                <a:tc>
                  <a:txBody>
                    <a:bodyPr/>
                    <a:lstStyle/>
                    <a:p>
                      <a:pPr algn="l"/>
                      <a:r>
                        <a:rPr sz="1200" b="0">
                          <a:solidFill>
                            <a:srgbClr val="333333"/>
                          </a:solidFill>
                        </a:rPr>
                        <a:t>**Finished cement (defend &amp; grow regional export)**</a:t>
                      </a:r>
                    </a:p>
                  </a:txBody>
                  <a:tcPr>
                    <a:solidFill>
                      <a:srgbClr val="FFFFFF"/>
                    </a:solidFill>
                  </a:tcPr>
                </a:tc>
                <a:tc>
                  <a:txBody>
                    <a:bodyPr/>
                    <a:lstStyle/>
                    <a:p>
                      <a:pPr algn="l"/>
                      <a:r>
                        <a:rPr sz="1200" b="0">
                          <a:solidFill>
                            <a:srgbClr val="333333"/>
                          </a:solidFill>
                        </a:rPr>
                        <a:t>High (USD 86m export)</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High</a:t>
                      </a:r>
                    </a:p>
                  </a:txBody>
                  <a:tcPr>
                    <a:solidFill>
                      <a:srgbClr val="FFFFFF"/>
                    </a:solidFill>
                  </a:tcPr>
                </a:tc>
                <a:tc>
                  <a:txBody>
                    <a:bodyPr/>
                    <a:lstStyle/>
                    <a:p>
                      <a:pPr algn="l"/>
                      <a:r>
                        <a:rPr sz="1200" b="0">
                          <a:solidFill>
                            <a:srgbClr val="333333"/>
                          </a:solidFill>
                        </a:rPr>
                        <a:t>Achieved</a:t>
                      </a:r>
                    </a:p>
                  </a:txBody>
                  <a:tcPr>
                    <a:solidFill>
                      <a:srgbClr val="FFFFFF"/>
                    </a:solidFill>
                  </a:tcPr>
                </a:tc>
                <a:tc>
                  <a:txBody>
                    <a:bodyPr/>
                    <a:lstStyle/>
                    <a:p>
                      <a:pPr algn="l"/>
                      <a:r>
                        <a:rPr sz="1200" b="0">
                          <a:solidFill>
                            <a:srgbClr val="333333"/>
                          </a:solidFill>
                        </a:rPr>
                        <a:t>**Priority**</a:t>
                      </a:r>
                    </a:p>
                  </a:txBody>
                  <a:tcPr>
                    <a:solidFill>
                      <a:srgbClr val="FFFFFF"/>
                    </a:solidFill>
                  </a:tcPr>
                </a:tc>
              </a:tr>
              <a:tr h="1078992">
                <a:tc>
                  <a:txBody>
                    <a:bodyPr/>
                    <a:lstStyle/>
                    <a:p>
                      <a:pPr algn="l"/>
                      <a:r>
                        <a:rPr sz="1200" b="0">
                          <a:solidFill>
                            <a:srgbClr val="333333"/>
                          </a:solidFill>
                        </a:rPr>
                        <a:t>**Higher-value building materials (fibre-cement, tiles, precast)**</a:t>
                      </a:r>
                    </a:p>
                  </a:txBody>
                  <a:tcPr>
                    <a:solidFill>
                      <a:srgbClr val="D6E8F7"/>
                    </a:solidFill>
                  </a:tcPr>
                </a:tc>
                <a:tc>
                  <a:txBody>
                    <a:bodyPr/>
                    <a:lstStyle/>
                    <a:p>
                      <a:pPr algn="l"/>
                      <a:r>
                        <a:rPr sz="1200" b="0">
                          <a:solidFill>
                            <a:srgbClr val="333333"/>
                          </a:solidFill>
                        </a:rPr>
                        <a:t>Medium–High</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Medium</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High</a:t>
                      </a:r>
                    </a:p>
                  </a:txBody>
                  <a:tcPr>
                    <a:solidFill>
                      <a:srgbClr val="D6E8F7"/>
                    </a:solidFill>
                  </a:tcPr>
                </a:tc>
                <a:tc>
                  <a:txBody>
                    <a:bodyPr/>
                    <a:lstStyle/>
                    <a:p>
                      <a:pPr algn="l"/>
                      <a:r>
                        <a:rPr sz="1200" b="0">
                          <a:solidFill>
                            <a:srgbClr val="333333"/>
                          </a:solidFill>
                        </a:rPr>
                        <a:t>**Priority**</a:t>
                      </a:r>
                    </a:p>
                  </a:txBody>
                  <a:tcPr>
                    <a:solidFill>
                      <a:srgbClr val="D6E8F7"/>
                    </a:solidFill>
                  </a:tcPr>
                </a:tc>
              </a:tr>
              <a:tr h="1078992">
                <a:tc>
                  <a:txBody>
                    <a:bodyPr/>
                    <a:lstStyle/>
                    <a:p>
                      <a:pPr algn="l"/>
                      <a:r>
                        <a:rPr sz="1200" b="0">
                          <a:solidFill>
                            <a:srgbClr val="333333"/>
                          </a:solidFill>
                        </a:rPr>
                        <a:t>Specialty/white cement</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Low</a:t>
                      </a:r>
                    </a:p>
                  </a:txBody>
                  <a:tcPr>
                    <a:solidFill>
                      <a:srgbClr val="FFFFFF"/>
                    </a:solidFill>
                  </a:tcPr>
                </a:tc>
                <a:tc>
                  <a:txBody>
                    <a:bodyPr/>
                    <a:lstStyle/>
                    <a:p>
                      <a:pPr algn="l"/>
                      <a:r>
                        <a:rPr sz="1200" b="0">
                          <a:solidFill>
                            <a:srgbClr val="333333"/>
                          </a:solidFill>
                        </a:rPr>
                        <a:t>Deprioritize</a:t>
                      </a:r>
                    </a:p>
                  </a:txBody>
                  <a:tcPr>
                    <a:solidFill>
                      <a:srgbClr val="FFFFFF"/>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9.E Prioritized Products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three priorities for Cement &amp; Building Materials:</a:t>
            </a:r>
          </a:p>
          <a:p>
            <a:pPr/>
            <a:r>
              <a:rPr sz="1600" b="0">
                <a:solidFill>
                  <a:srgbClr val="333333"/>
                </a:solidFill>
              </a:rPr>
              <a:t>•  Explicit deprioritization. Uganda should not target niche specialty or white-cement production — small markets requiring specialised, costly capacity. The strategic priority is mainstream clinker + cement + building materials for domestic and regional markets.</a:t>
            </a:r>
          </a:p>
          <a:p>
            <a:pPr/>
            <a:r>
              <a:rPr sz="1600" b="0">
                <a:solidFill>
                  <a:srgbClr val="333333"/>
                </a:solidFill>
              </a:rPr>
              <a:t>1. Clinker production — the single highest-value step and the chain's structural gap; the new USD 200–300m plants should be supported to substitute the USD 162m clinker/cement import line and secure feedstock for domestic grinders.</a:t>
            </a:r>
          </a:p>
          <a:p>
            <a:pPr/>
            <a:r>
              <a:rPr sz="1600" b="0">
                <a:solidFill>
                  <a:srgbClr val="333333"/>
                </a:solidFill>
              </a:rPr>
              <a:t>2. Finished cement for regional export — defend and grow Uganda's competitive USD 86m export position to neighbours, strengthened by reliable domestic clinker.</a:t>
            </a:r>
          </a:p>
          <a:p>
            <a:pPr/>
            <a:r>
              <a:rPr sz="1600" b="0">
                <a:solidFill>
                  <a:srgbClr val="333333"/>
                </a:solidFill>
              </a:rPr>
              <a:t>3. Higher-value building materials — fibre-cement sheets, tiles, and precast/concrete products that add value and substitute imports in construction.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9.F Priority Action Matrix</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3047238"/>
                <a:gridCol w="3047238"/>
                <a:gridCol w="3047238"/>
                <a:gridCol w="3047238"/>
              </a:tblGrid>
              <a:tr h="770708">
                <a:tc>
                  <a:txBody>
                    <a:bodyPr/>
                    <a:lstStyle/>
                    <a:p>
                      <a:pPr algn="l"/>
                      <a:r>
                        <a:rPr sz="1300" b="1">
                          <a:solidFill>
                            <a:srgbClr val="FFFFFF"/>
                          </a:solidFill>
                        </a:rPr>
                        <a:t>Timeframe</a:t>
                      </a:r>
                    </a:p>
                  </a:txBody>
                  <a:tcPr>
                    <a:solidFill>
                      <a:srgbClr val="002B5B"/>
                    </a:solidFill>
                  </a:tcPr>
                </a:tc>
                <a:tc>
                  <a:txBody>
                    <a:bodyPr/>
                    <a:lstStyle/>
                    <a:p>
                      <a:pPr algn="l"/>
                      <a:r>
                        <a:rPr sz="1300" b="1">
                          <a:solidFill>
                            <a:srgbClr val="FFFFFF"/>
                          </a:solidFill>
                        </a:rPr>
                        <a:t>Action</a:t>
                      </a:r>
                    </a:p>
                  </a:txBody>
                  <a:tcPr>
                    <a:solidFill>
                      <a:srgbClr val="002B5B"/>
                    </a:solidFill>
                  </a:tcPr>
                </a:tc>
                <a:tc>
                  <a:txBody>
                    <a:bodyPr/>
                    <a:lstStyle/>
                    <a:p>
                      <a:pPr algn="l"/>
                      <a:r>
                        <a:rPr sz="1300" b="1">
                          <a:solidFill>
                            <a:srgbClr val="FFFFFF"/>
                          </a:solidFill>
                        </a:rPr>
                        <a:t>Lead</a:t>
                      </a:r>
                    </a:p>
                  </a:txBody>
                  <a:tcPr>
                    <a:solidFill>
                      <a:srgbClr val="002B5B"/>
                    </a:solidFill>
                  </a:tcPr>
                </a:tc>
                <a:tc>
                  <a:txBody>
                    <a:bodyPr/>
                    <a:lstStyle/>
                    <a:p>
                      <a:pPr algn="l"/>
                      <a:r>
                        <a:rPr sz="1300" b="1">
                          <a:solidFill>
                            <a:srgbClr val="FFFFFF"/>
                          </a:solidFill>
                        </a:rPr>
                        <a:t>Indicative cost</a:t>
                      </a:r>
                    </a:p>
                  </a:txBody>
                  <a:tcPr>
                    <a:solidFill>
                      <a:srgbClr val="002B5B"/>
                    </a:solidFill>
                  </a:tcPr>
                </a:tc>
              </a:tr>
              <a:tr h="770708">
                <a:tc>
                  <a:txBody>
                    <a:bodyPr/>
                    <a:lstStyle/>
                    <a:p>
                      <a:pPr algn="l"/>
                      <a:r>
                        <a:rPr sz="1200" b="0">
                          <a:solidFill>
                            <a:srgbClr val="333333"/>
                          </a:solidFill>
                        </a:rPr>
                        <a:t>**Quick win (0–12m)**</a:t>
                      </a:r>
                    </a:p>
                  </a:txBody>
                  <a:tcPr>
                    <a:solidFill>
                      <a:srgbClr val="D6E8F7"/>
                    </a:solidFill>
                  </a:tcPr>
                </a:tc>
                <a:tc>
                  <a:txBody>
                    <a:bodyPr/>
                    <a:lstStyle/>
                    <a:p>
                      <a:pPr algn="l"/>
                      <a:r>
                        <a:rPr sz="1200" b="0">
                          <a:solidFill>
                            <a:srgbClr val="333333"/>
                          </a:solidFill>
                        </a:rPr>
                        <a:t>UNBS enforcement on cement quality; support new clinker plants' commissioning</a:t>
                      </a:r>
                    </a:p>
                  </a:txBody>
                  <a:tcPr>
                    <a:solidFill>
                      <a:srgbClr val="D6E8F7"/>
                    </a:solidFill>
                  </a:tcPr>
                </a:tc>
                <a:tc>
                  <a:txBody>
                    <a:bodyPr/>
                    <a:lstStyle/>
                    <a:p>
                      <a:pPr algn="l"/>
                      <a:r>
                        <a:rPr sz="1200" b="0">
                          <a:solidFill>
                            <a:srgbClr val="333333"/>
                          </a:solidFill>
                        </a:rPr>
                        <a:t>UNBS, MTIC</a:t>
                      </a:r>
                    </a:p>
                  </a:txBody>
                  <a:tcPr>
                    <a:solidFill>
                      <a:srgbClr val="D6E8F7"/>
                    </a:solidFill>
                  </a:tcPr>
                </a:tc>
                <a:tc>
                  <a:txBody>
                    <a:bodyPr/>
                    <a:lstStyle/>
                    <a:p>
                      <a:pPr algn="l"/>
                      <a:r>
                        <a:rPr sz="1200" b="0">
                          <a:solidFill>
                            <a:srgbClr val="333333"/>
                          </a:solidFill>
                        </a:rPr>
                        <a:t>Low</a:t>
                      </a:r>
                    </a:p>
                  </a:txBody>
                  <a:tcPr>
                    <a:solidFill>
                      <a:srgbClr val="D6E8F7"/>
                    </a:solidFill>
                  </a:tcPr>
                </a:tc>
              </a:tr>
              <a:tr h="770708">
                <a:tc>
                  <a:txBody>
                    <a:bodyPr/>
                    <a:lstStyle/>
                    <a:p>
                      <a:pPr algn="l"/>
                      <a:r>
                        <a:rPr sz="1200" b="0">
                          <a:solidFill>
                            <a:srgbClr val="333333"/>
                          </a:solidFill>
                        </a:rPr>
                        <a:t>Quick win (0–12m)</a:t>
                      </a:r>
                    </a:p>
                  </a:txBody>
                  <a:tcPr>
                    <a:solidFill>
                      <a:srgbClr val="FFFFFF"/>
                    </a:solidFill>
                  </a:tcPr>
                </a:tc>
                <a:tc>
                  <a:txBody>
                    <a:bodyPr/>
                    <a:lstStyle/>
                    <a:p>
                      <a:pPr algn="l"/>
                      <a:r>
                        <a:rPr sz="1200" b="0">
                          <a:solidFill>
                            <a:srgbClr val="333333"/>
                          </a:solidFill>
                        </a:rPr>
                        <a:t>Secure limestone licensing and land for clinker expansion</a:t>
                      </a:r>
                    </a:p>
                  </a:txBody>
                  <a:tcPr>
                    <a:solidFill>
                      <a:srgbClr val="FFFFFF"/>
                    </a:solidFill>
                  </a:tcPr>
                </a:tc>
                <a:tc>
                  <a:txBody>
                    <a:bodyPr/>
                    <a:lstStyle/>
                    <a:p>
                      <a:pPr algn="l"/>
                      <a:r>
                        <a:rPr sz="1200" b="0">
                          <a:solidFill>
                            <a:srgbClr val="333333"/>
                          </a:solidFill>
                        </a:rPr>
                        <a:t>MEMD/DGSM, MTIC</a:t>
                      </a:r>
                    </a:p>
                  </a:txBody>
                  <a:tcPr>
                    <a:solidFill>
                      <a:srgbClr val="FFFFFF"/>
                    </a:solidFill>
                  </a:tcPr>
                </a:tc>
                <a:tc>
                  <a:txBody>
                    <a:bodyPr/>
                    <a:lstStyle/>
                    <a:p>
                      <a:pPr algn="l"/>
                      <a:r>
                        <a:rPr sz="1200" b="0">
                          <a:solidFill>
                            <a:srgbClr val="333333"/>
                          </a:solidFill>
                        </a:rPr>
                        <a:t>Low–Medium</a:t>
                      </a:r>
                    </a:p>
                  </a:txBody>
                  <a:tcPr>
                    <a:solidFill>
                      <a:srgbClr val="FFFFFF"/>
                    </a:solidFill>
                  </a:tcPr>
                </a:tc>
              </a:tr>
              <a:tr h="770708">
                <a:tc>
                  <a:txBody>
                    <a:bodyPr/>
                    <a:lstStyle/>
                    <a:p>
                      <a:pPr algn="l"/>
                      <a:r>
                        <a:rPr sz="1200" b="0">
                          <a:solidFill>
                            <a:srgbClr val="333333"/>
                          </a:solidFill>
                        </a:rPr>
                        <a:t>**Reform (1–3y)**</a:t>
                      </a:r>
                    </a:p>
                  </a:txBody>
                  <a:tcPr>
                    <a:solidFill>
                      <a:srgbClr val="D6E8F7"/>
                    </a:solidFill>
                  </a:tcPr>
                </a:tc>
                <a:tc>
                  <a:txBody>
                    <a:bodyPr/>
                    <a:lstStyle/>
                    <a:p>
                      <a:pPr algn="l"/>
                      <a:r>
                        <a:rPr sz="1200" b="0">
                          <a:solidFill>
                            <a:srgbClr val="333333"/>
                          </a:solidFill>
                        </a:rPr>
                        <a:t>Energy agreements for energy-intensive clinker plants; alternative-fuel/co-processing framework</a:t>
                      </a:r>
                    </a:p>
                  </a:txBody>
                  <a:tcPr>
                    <a:solidFill>
                      <a:srgbClr val="D6E8F7"/>
                    </a:solidFill>
                  </a:tcPr>
                </a:tc>
                <a:tc>
                  <a:txBody>
                    <a:bodyPr/>
                    <a:lstStyle/>
                    <a:p>
                      <a:pPr algn="l"/>
                      <a:r>
                        <a:rPr sz="1200" b="0">
                          <a:solidFill>
                            <a:srgbClr val="333333"/>
                          </a:solidFill>
                        </a:rPr>
                        <a:t>ERA, MEMD, NEMA</a:t>
                      </a:r>
                    </a:p>
                  </a:txBody>
                  <a:tcPr>
                    <a:solidFill>
                      <a:srgbClr val="D6E8F7"/>
                    </a:solidFill>
                  </a:tcPr>
                </a:tc>
                <a:tc>
                  <a:txBody>
                    <a:bodyPr/>
                    <a:lstStyle/>
                    <a:p>
                      <a:pPr algn="l"/>
                      <a:r>
                        <a:rPr sz="1200" b="0">
                          <a:solidFill>
                            <a:srgbClr val="333333"/>
                          </a:solidFill>
                        </a:rPr>
                        <a:t>Medium</a:t>
                      </a:r>
                    </a:p>
                  </a:txBody>
                  <a:tcPr>
                    <a:solidFill>
                      <a:srgbClr val="D6E8F7"/>
                    </a:solidFill>
                  </a:tcPr>
                </a:tc>
              </a:tr>
              <a:tr h="770708">
                <a:tc>
                  <a:txBody>
                    <a:bodyPr/>
                    <a:lstStyle/>
                    <a:p>
                      <a:pPr algn="l"/>
                      <a:r>
                        <a:rPr sz="1200" b="0">
                          <a:solidFill>
                            <a:srgbClr val="333333"/>
                          </a:solidFill>
                        </a:rPr>
                        <a:t>Reform (1–3y)</a:t>
                      </a:r>
                    </a:p>
                  </a:txBody>
                  <a:tcPr>
                    <a:solidFill>
                      <a:srgbClr val="FFFFFF"/>
                    </a:solidFill>
                  </a:tcPr>
                </a:tc>
                <a:tc>
                  <a:txBody>
                    <a:bodyPr/>
                    <a:lstStyle/>
                    <a:p>
                      <a:pPr algn="l"/>
                      <a:r>
                        <a:rPr sz="1200" b="0">
                          <a:solidFill>
                            <a:srgbClr val="333333"/>
                          </a:solidFill>
                        </a:rPr>
                        <a:t>Regional-export facilitation (standards mutual recognition, corridor logistics)</a:t>
                      </a:r>
                    </a:p>
                  </a:txBody>
                  <a:tcPr>
                    <a:solidFill>
                      <a:srgbClr val="FFFFFF"/>
                    </a:solidFill>
                  </a:tcPr>
                </a:tc>
                <a:tc>
                  <a:txBody>
                    <a:bodyPr/>
                    <a:lstStyle/>
                    <a:p>
                      <a:pPr algn="l"/>
                      <a:r>
                        <a:rPr sz="1200" b="0">
                          <a:solidFill>
                            <a:srgbClr val="333333"/>
                          </a:solidFill>
                        </a:rPr>
                        <a:t>MTIC, EAC</a:t>
                      </a:r>
                    </a:p>
                  </a:txBody>
                  <a:tcPr>
                    <a:solidFill>
                      <a:srgbClr val="FFFFFF"/>
                    </a:solidFill>
                  </a:tcPr>
                </a:tc>
                <a:tc>
                  <a:txBody>
                    <a:bodyPr/>
                    <a:lstStyle/>
                    <a:p>
                      <a:pPr algn="l"/>
                      <a:r>
                        <a:rPr sz="1200" b="0">
                          <a:solidFill>
                            <a:srgbClr val="333333"/>
                          </a:solidFill>
                        </a:rPr>
                        <a:t>Low–Medium</a:t>
                      </a:r>
                    </a:p>
                  </a:txBody>
                  <a:tcPr>
                    <a:solidFill>
                      <a:srgbClr val="FFFFFF"/>
                    </a:solidFill>
                  </a:tcPr>
                </a:tc>
              </a:tr>
              <a:tr h="770708">
                <a:tc>
                  <a:txBody>
                    <a:bodyPr/>
                    <a:lstStyle/>
                    <a:p>
                      <a:pPr algn="l"/>
                      <a:r>
                        <a:rPr sz="1200" b="0">
                          <a:solidFill>
                            <a:srgbClr val="333333"/>
                          </a:solidFill>
                        </a:rPr>
                        <a:t>**Investment (3–5y)**</a:t>
                      </a:r>
                    </a:p>
                  </a:txBody>
                  <a:tcPr>
                    <a:solidFill>
                      <a:srgbClr val="D6E8F7"/>
                    </a:solidFill>
                  </a:tcPr>
                </a:tc>
                <a:tc>
                  <a:txBody>
                    <a:bodyPr/>
                    <a:lstStyle/>
                    <a:p>
                      <a:pPr algn="l"/>
                      <a:r>
                        <a:rPr sz="1200" b="0">
                          <a:solidFill>
                            <a:srgbClr val="333333"/>
                          </a:solidFill>
                        </a:rPr>
                        <a:t>Clinker capacity build-out (NE plant, Buikwe, expansions)</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~USD 200–300m+ (announced)</a:t>
                      </a:r>
                    </a:p>
                  </a:txBody>
                  <a:tcPr>
                    <a:solidFill>
                      <a:srgbClr val="D6E8F7"/>
                    </a:solidFill>
                  </a:tcPr>
                </a:tc>
              </a:tr>
              <a:tr h="770712">
                <a:tc>
                  <a:txBody>
                    <a:bodyPr/>
                    <a:lstStyle/>
                    <a:p>
                      <a:pPr algn="l"/>
                      <a:r>
                        <a:rPr sz="1200" b="0">
                          <a:solidFill>
                            <a:srgbClr val="333333"/>
                          </a:solidFill>
                        </a:rPr>
                        <a:t>Investment (3–5y)</a:t>
                      </a:r>
                    </a:p>
                  </a:txBody>
                  <a:tcPr>
                    <a:solidFill>
                      <a:srgbClr val="FFFFFF"/>
                    </a:solidFill>
                  </a:tcPr>
                </a:tc>
                <a:tc>
                  <a:txBody>
                    <a:bodyPr/>
                    <a:lstStyle/>
                    <a:p>
                      <a:pPr algn="l"/>
                      <a:r>
                        <a:rPr sz="1200" b="0">
                          <a:solidFill>
                            <a:srgbClr val="333333"/>
                          </a:solidFill>
                        </a:rPr>
                        <a:t>Higher-value building-materials plants (fibre-cement, tiles, precast)</a:t>
                      </a:r>
                    </a:p>
                  </a:txBody>
                  <a:tcPr>
                    <a:solidFill>
                      <a:srgbClr val="FFFFFF"/>
                    </a:solidFill>
                  </a:tcPr>
                </a:tc>
                <a:tc>
                  <a:txBody>
                    <a:bodyPr/>
                    <a:lstStyle/>
                    <a:p>
                      <a:pPr algn="l"/>
                      <a:r>
                        <a:rPr sz="1200" b="0">
                          <a:solidFill>
                            <a:srgbClr val="333333"/>
                          </a:solidFill>
                        </a:rPr>
                        <a:t>Private-led</a:t>
                      </a:r>
                    </a:p>
                  </a:txBody>
                  <a:tcPr>
                    <a:solidFill>
                      <a:srgbClr val="FFFFFF"/>
                    </a:solidFill>
                  </a:tcPr>
                </a:tc>
                <a:tc>
                  <a:txBody>
                    <a:bodyPr/>
                    <a:lstStyle/>
                    <a:p>
                      <a:pPr algn="l"/>
                      <a:r>
                        <a:rPr sz="1200" b="0">
                          <a:solidFill>
                            <a:srgbClr val="333333"/>
                          </a:solidFill>
                        </a:rPr>
                        <a:t>Indicative (see Ch.11)</a:t>
                      </a:r>
                    </a:p>
                  </a:txBody>
                  <a:tcPr>
                    <a:solidFill>
                      <a:srgbClr val="FFFF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9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IndexBox, Uganda's Cement Market Report 2025. https://www.indexbox.io/store/uganda-cement-market-analysis-forecast-size-trends-and-insights/</a:t>
            </a:r>
          </a:p>
          <a:p>
            <a:pPr/>
            <a:r>
              <a:rPr sz="1600" b="0">
                <a:solidFill>
                  <a:srgbClr val="333333"/>
                </a:solidFill>
              </a:rPr>
              <a:t>•  CemNet / International Cement Review, Uganda country data. https://www.cemnet.com/global-cement-report/country/uganda</a:t>
            </a:r>
          </a:p>
          <a:p>
            <a:pPr/>
            <a:r>
              <a:rPr sz="1600" b="0">
                <a:solidFill>
                  <a:srgbClr val="333333"/>
                </a:solidFill>
              </a:rPr>
              <a:t>•  Ecofin Agency, "Uganda to Commission $300 Million Cement Plant to Cut Imports Amid Rising Demand." https://www.ecofinagency.com/news-industry/2104-54866-uganda-to-commission-300-million-cement-plant-to-cut-imports-amid-rising-demand</a:t>
            </a:r>
          </a:p>
          <a:p>
            <a:pPr/>
            <a:r>
              <a:rPr sz="1600" b="0">
                <a:solidFill>
                  <a:srgbClr val="333333"/>
                </a:solidFill>
              </a:rPr>
              <a:t>•  CemNet, "Uganda launching US$300m cement plant to boost industry." https://www.cemnet.com/News/story/181356/uganda-launching-us-300m-cement-plant-to-boost-industry.html</a:t>
            </a:r>
          </a:p>
          <a:p>
            <a:pPr/>
            <a:r>
              <a:rPr sz="1600" b="0">
                <a:solidFill>
                  <a:srgbClr val="333333"/>
                </a:solidFill>
              </a:rPr>
              <a:t>•  List of cement manufacturers in Uganda (Wikipedia). https://en.wikipedia.org/wiki/List_of_cement_manufacturers_in_Uganda</a:t>
            </a:r>
          </a:p>
          <a:p>
            <a:pPr/>
            <a:r>
              <a:rPr sz="1600" b="0">
                <a:solidFill>
                  <a:srgbClr val="333333"/>
                </a:solidFill>
              </a:rPr>
              <a:t>•  Hima Cement, "About Us." https://himacement.co/About-Us</a:t>
            </a:r>
          </a:p>
          <a:p>
            <a:pPr/>
            <a:r>
              <a:rPr sz="1600" b="0">
                <a:solidFill>
                  <a:srgbClr val="333333"/>
                </a:solidFill>
              </a:rPr>
              <a:t>•  ITC TradeMap, trade statistics — HS 2523, Uganda, 2024.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10</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10: Cross-Cutting Priority Actions and Policy Recommendations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10.1 Introduction</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six Report 2 value chains span agro-processing (textiles, sugar), health (pharmaceuticals), agricultural inputs and energy (fertilizers, petrochemicals), and construction-linked manufacturing (cement, plastics). Despite their diversity, they share a common set of binding constraints and a common strategic pattern: Uganda exports or under-processes raw inputs and imports the finished product. This chapter consolidates the cross-cutting actions that lift all six, mapped to the six PCP priority areas.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10.2 The Shared Binding Constraints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1. Energy cost and reliability. Cement (clinker), textiles (spinning/wet-processing), and any future petrochemical processing are energy-intensive. Uganda's industrial tariff (~5.5 US¢/kWh, 2025; ERA) is regionally competitive, but reliability and backup cost matter. Sugar co-generation is a partial in-sector solution that can ease grid pressure.</a:t>
            </a:r>
          </a:p>
          <a:p>
            <a:pPr/>
            <a:r>
              <a:rPr sz="1600" b="0">
                <a:solidFill>
                  <a:srgbClr val="333333"/>
                </a:solidFill>
              </a:rPr>
              <a:t>•  2. Logistics and the landlocked penalty. Logistics inefficiencies cost the economy ~USD 827 million/year and ~18–20% of the sale price of goods — affecting imported inputs (resin, APIs, clinker) and regional exports (sugar, cement, garments) alike.</a:t>
            </a:r>
          </a:p>
          <a:p>
            <a:pPr/>
            <a:r>
              <a:rPr sz="1600" b="0">
                <a:solidFill>
                  <a:srgbClr val="333333"/>
                </a:solidFill>
              </a:rPr>
              <a:t>•  3. Access to long-term finance. GMP pharmaceutical plants, spinning mills, clinker kilns, recycling plants, and the refinery are all highly capital-intensive. Long-term finance is scarce and costly, and 2025 liquidity tightening has crowded out private credit (KPMG, Budget Brief 2025/26).</a:t>
            </a:r>
          </a:p>
          <a:p>
            <a:pPr/>
            <a:r>
              <a:rPr sz="1600" b="0">
                <a:solidFill>
                  <a:srgbClr val="333333"/>
                </a:solidFill>
              </a:rPr>
              <a:t>•  4. Skills. ~68% of manufacturers report difficulty finding required technical skills (UMA). Textile engineering, pharmaceutical QA/QC, chemical/process engineering, and food technology are particularly scarce.</a:t>
            </a:r>
          </a:p>
          <a:p>
            <a:pPr/>
            <a:r>
              <a:rPr sz="1600" b="0">
                <a:solidFill>
                  <a:srgbClr val="333333"/>
                </a:solidFill>
              </a:rPr>
              <a:t>•  5. Standards and quality. UNBS standards (food, cement, packaging) and NDA/WHO-GMP (pharmaceuticals) are simultaneously the gatekeepers to markets and the means to displace sub-standard imports. Enforcement is uneven.</a:t>
            </a:r>
          </a:p>
          <a:p>
            <a:pPr/>
            <a:r>
              <a:rPr sz="1600" b="0">
                <a:solidFill>
                  <a:srgbClr val="333333"/>
                </a:solidFill>
              </a:rPr>
              <a:t>•  6. Raw-material / feedstock dependence. A recurring theme: imported APIs (pharma), imported resin (plastics), imported clinker (cement), under-processed lint (textiles), and unmet fertilizer supply. Securing or substituting feedstock is the structural key across the report.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10.3 Cross-Cutting Priority Actions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The defining Report 2 opportunity. Process cotton lint domestically (textiles), produce clinker (cement), make industrial sugar and ethanol from surplus cane, and substitute finished medicines and packaging. Policy should consistently favour domestic value addition over raw-commodity export and finished-goods import.</a:t>
            </a:r>
          </a:p>
          <a:p>
            <a:pPr/>
            <a:r>
              <a:rPr sz="1600" b="0">
                <a:solidFill>
                  <a:srgbClr val="333333"/>
                </a:solidFill>
              </a:rPr>
              <a:t>•  Resource UNBS and NDA to enforce standards on imported textiles, medicines, cement, packaging, and fertilizer — protecting consumers and levelling the field for compliant domestic producers. The single highest-leverage cross-cutting lever for Report 2 (PCP Area 4).</a:t>
            </a:r>
          </a:p>
          <a:p>
            <a:pPr/>
            <a:r>
              <a:rPr sz="1600" b="0">
                <a:solidFill>
                  <a:srgbClr val="333333"/>
                </a:solidFill>
              </a:rPr>
              <a:t>•  Use public procurement as a demand anchor: locally made essential medicines (NMS/JMS), institutional uniforms (garments), domestic cement for public infrastructure, and fertilizer programmes for agriculture.</a:t>
            </a:r>
          </a:p>
          <a:p>
            <a:pPr/>
            <a:r>
              <a:rPr sz="1600" b="0">
                <a:solidFill>
                  <a:srgbClr val="333333"/>
                </a:solidFill>
              </a:rPr>
              <a:t>•  Develop serviced parks with reliable power, water, and effluent treatment (critical for textiles wet-processing and pharma), and build the circular-economy infrastructure (plastics recycling, EPR, sugar co-generation, waste co-processing in cement) that the NEMA strategy envisages (PCP Areas 3 &amp; 5).</a:t>
            </a:r>
          </a:p>
          <a:p>
            <a:pPr/>
            <a:r>
              <a:rPr sz="1600" b="0">
                <a:solidFill>
                  <a:srgbClr val="333333"/>
                </a:solidFill>
              </a:rPr>
              <a:t>•  Scale a long-term industrial-finance facility (UDB + partners, blended/concessional) for the capital-intensive plants — GMP pharma, spinning, clinker, recycling — to offset the crowding-out of private credit.</a:t>
            </a:r>
          </a:p>
          <a:p>
            <a:pPr/>
            <a:r>
              <a:rPr sz="1600" b="0">
                <a:solidFill>
                  <a:srgbClr val="333333"/>
                </a:solidFill>
              </a:rPr>
              <a:t>•  A targeted skills programme spanning textile engineering, pharmaceutical QA/QC and regulatory affairs, chemical/process engineering, and food technology, delivered through Makerere, UIRI, and TVET in partnership with anchor firms.</a:t>
            </a:r>
          </a:p>
          <a:p>
            <a:pPr/>
            <a:r>
              <a:rPr sz="1600" b="0">
                <a:solidFill>
                  <a:srgbClr val="333333"/>
                </a:solidFill>
              </a:rPr>
              <a:t>•  Treat the Kabaale refinery / Kabalega petrochemical park as the medium-term feedstock anchor for plastics and fertilizers, and prepare the downstream linkages now (recycling, blending, conversion) so that domestic resin and chemicals have ready demand when the refinery comes online (~2029–30).</a:t>
            </a:r>
          </a:p>
          <a:p>
            <a:pPr/>
            <a:r>
              <a:rPr sz="1600" b="0">
                <a:solidFill>
                  <a:srgbClr val="333333"/>
                </a:solidFill>
              </a:rPr>
              <a:t>▸ A. Move up the value chain from raw commodity to processed product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10.3 Cross-Cutting Priority Actions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B. Standards and quality infrastructure</a:t>
            </a:r>
          </a:p>
          <a:p>
            <a:pPr/>
            <a:r>
              <a:rPr sz="1600" b="0">
                <a:solidFill>
                  <a:srgbClr val="333333"/>
                </a:solidFill>
              </a:rPr>
              <a:t>▸ C. Guaranteed demand through public procurement</a:t>
            </a:r>
          </a:p>
          <a:p>
            <a:pPr/>
            <a:r>
              <a:rPr sz="1600" b="0">
                <a:solidFill>
                  <a:srgbClr val="333333"/>
                </a:solidFill>
              </a:rPr>
              <a:t>▸ D. Industrial parks, utilities, and circularity</a:t>
            </a:r>
          </a:p>
          <a:p>
            <a:pPr/>
            <a:r>
              <a:rPr sz="1600" b="0">
                <a:solidFill>
                  <a:srgbClr val="333333"/>
                </a:solidFill>
              </a:rPr>
              <a:t>▸ E. Industrial-finance instrument</a:t>
            </a:r>
          </a:p>
          <a:p>
            <a:pPr/>
            <a:r>
              <a:rPr sz="1600" b="0">
                <a:solidFill>
                  <a:srgbClr val="333333"/>
                </a:solidFill>
              </a:rPr>
              <a:t>▸ F. Skills compact</a:t>
            </a:r>
          </a:p>
          <a:p>
            <a:pPr/>
            <a:r>
              <a:rPr sz="1600" b="0">
                <a:solidFill>
                  <a:srgbClr val="333333"/>
                </a:solidFill>
              </a:rPr>
              <a:t>▸ G. Sequence the petrochemical opportunity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10.4 Alignment to PCP Priority Areas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6094476"/>
                <a:gridCol w="6094476"/>
              </a:tblGrid>
              <a:tr h="770708">
                <a:tc>
                  <a:txBody>
                    <a:bodyPr/>
                    <a:lstStyle/>
                    <a:p>
                      <a:pPr algn="l"/>
                      <a:r>
                        <a:rPr sz="1300" b="1">
                          <a:solidFill>
                            <a:srgbClr val="FFFFFF"/>
                          </a:solidFill>
                        </a:rPr>
                        <a:t>PCP Priority Area</a:t>
                      </a:r>
                    </a:p>
                  </a:txBody>
                  <a:tcPr>
                    <a:solidFill>
                      <a:srgbClr val="002B5B"/>
                    </a:solidFill>
                  </a:tcPr>
                </a:tc>
                <a:tc>
                  <a:txBody>
                    <a:bodyPr/>
                    <a:lstStyle/>
                    <a:p>
                      <a:pPr algn="l"/>
                      <a:r>
                        <a:rPr sz="1300" b="1">
                          <a:solidFill>
                            <a:srgbClr val="FFFFFF"/>
                          </a:solidFill>
                        </a:rPr>
                        <a:t>Report 2 cross-cutting actions</a:t>
                      </a:r>
                    </a:p>
                  </a:txBody>
                  <a:tcPr>
                    <a:solidFill>
                      <a:srgbClr val="002B5B"/>
                    </a:solidFill>
                  </a:tcPr>
                </a:tc>
              </a:tr>
              <a:tr h="770708">
                <a:tc>
                  <a:txBody>
                    <a:bodyPr/>
                    <a:lstStyle/>
                    <a:p>
                      <a:pPr algn="l"/>
                      <a:r>
                        <a:rPr sz="1200" b="0">
                          <a:solidFill>
                            <a:srgbClr val="333333"/>
                          </a:solidFill>
                        </a:rPr>
                        <a:t>1. Industrial policy implementation &amp; coordination</a:t>
                      </a:r>
                    </a:p>
                  </a:txBody>
                  <a:tcPr>
                    <a:solidFill>
                      <a:srgbClr val="D6E8F7"/>
                    </a:solidFill>
                  </a:tcPr>
                </a:tc>
                <a:tc>
                  <a:txBody>
                    <a:bodyPr/>
                    <a:lstStyle/>
                    <a:p>
                      <a:pPr algn="l"/>
                      <a:r>
                        <a:rPr sz="1200" b="0">
                          <a:solidFill>
                            <a:srgbClr val="333333"/>
                          </a:solidFill>
                        </a:rPr>
                        <a:t>Value-addition policy (A); procurement (C); cross-agency coordination (MTIC–MAAIF–MoH–MEMD)</a:t>
                      </a:r>
                    </a:p>
                  </a:txBody>
                  <a:tcPr>
                    <a:solidFill>
                      <a:srgbClr val="D6E8F7"/>
                    </a:solidFill>
                  </a:tcPr>
                </a:tc>
              </a:tr>
              <a:tr h="770708">
                <a:tc>
                  <a:txBody>
                    <a:bodyPr/>
                    <a:lstStyle/>
                    <a:p>
                      <a:pPr algn="l"/>
                      <a:r>
                        <a:rPr sz="1200" b="0">
                          <a:solidFill>
                            <a:srgbClr val="333333"/>
                          </a:solidFill>
                        </a:rPr>
                        <a:t>2. Mobilizing public &amp; private investment</a:t>
                      </a:r>
                    </a:p>
                  </a:txBody>
                  <a:tcPr>
                    <a:solidFill>
                      <a:srgbClr val="FFFFFF"/>
                    </a:solidFill>
                  </a:tcPr>
                </a:tc>
                <a:tc>
                  <a:txBody>
                    <a:bodyPr/>
                    <a:lstStyle/>
                    <a:p>
                      <a:pPr algn="l"/>
                      <a:r>
                        <a:rPr sz="1200" b="0">
                          <a:solidFill>
                            <a:srgbClr val="333333"/>
                          </a:solidFill>
                        </a:rPr>
                        <a:t>Industrial-finance instrument (E); investment portfolio (Ch.11); refinery PPP</a:t>
                      </a:r>
                    </a:p>
                  </a:txBody>
                  <a:tcPr>
                    <a:solidFill>
                      <a:srgbClr val="FFFFFF"/>
                    </a:solidFill>
                  </a:tcPr>
                </a:tc>
              </a:tr>
              <a:tr h="770708">
                <a:tc>
                  <a:txBody>
                    <a:bodyPr/>
                    <a:lstStyle/>
                    <a:p>
                      <a:pPr algn="l"/>
                      <a:r>
                        <a:rPr sz="1200" b="0">
                          <a:solidFill>
                            <a:srgbClr val="333333"/>
                          </a:solidFill>
                        </a:rPr>
                        <a:t>3. Sustainable industrial parks &amp; free zones</a:t>
                      </a:r>
                    </a:p>
                  </a:txBody>
                  <a:tcPr>
                    <a:solidFill>
                      <a:srgbClr val="D6E8F7"/>
                    </a:solidFill>
                  </a:tcPr>
                </a:tc>
                <a:tc>
                  <a:txBody>
                    <a:bodyPr/>
                    <a:lstStyle/>
                    <a:p>
                      <a:pPr algn="l"/>
                      <a:r>
                        <a:rPr sz="1200" b="0">
                          <a:solidFill>
                            <a:srgbClr val="333333"/>
                          </a:solidFill>
                        </a:rPr>
                        <a:t>Parks, utilities, effluent infrastructure (D)</a:t>
                      </a:r>
                    </a:p>
                  </a:txBody>
                  <a:tcPr>
                    <a:solidFill>
                      <a:srgbClr val="D6E8F7"/>
                    </a:solidFill>
                  </a:tcPr>
                </a:tc>
              </a:tr>
              <a:tr h="770708">
                <a:tc>
                  <a:txBody>
                    <a:bodyPr/>
                    <a:lstStyle/>
                    <a:p>
                      <a:pPr algn="l"/>
                      <a:r>
                        <a:rPr sz="1200" b="0">
                          <a:solidFill>
                            <a:srgbClr val="333333"/>
                          </a:solidFill>
                        </a:rPr>
                        <a:t>4. National standards, quality &amp; accreditation</a:t>
                      </a:r>
                    </a:p>
                  </a:txBody>
                  <a:tcPr>
                    <a:solidFill>
                      <a:srgbClr val="FFFFFF"/>
                    </a:solidFill>
                  </a:tcPr>
                </a:tc>
                <a:tc>
                  <a:txBody>
                    <a:bodyPr/>
                    <a:lstStyle/>
                    <a:p>
                      <a:pPr algn="l"/>
                      <a:r>
                        <a:rPr sz="1200" b="0">
                          <a:solidFill>
                            <a:srgbClr val="333333"/>
                          </a:solidFill>
                        </a:rPr>
                        <a:t>UNBS/NDA enforcement (B) — highest-leverage for Report 2</a:t>
                      </a:r>
                    </a:p>
                  </a:txBody>
                  <a:tcPr>
                    <a:solidFill>
                      <a:srgbClr val="FFFFFF"/>
                    </a:solidFill>
                  </a:tcPr>
                </a:tc>
              </a:tr>
              <a:tr h="770708">
                <a:tc>
                  <a:txBody>
                    <a:bodyPr/>
                    <a:lstStyle/>
                    <a:p>
                      <a:pPr algn="l"/>
                      <a:r>
                        <a:rPr sz="1200" b="0">
                          <a:solidFill>
                            <a:srgbClr val="333333"/>
                          </a:solidFill>
                        </a:rPr>
                        <a:t>5. Green industry, circular economy &amp; Industry 4.0</a:t>
                      </a:r>
                    </a:p>
                  </a:txBody>
                  <a:tcPr>
                    <a:solidFill>
                      <a:srgbClr val="D6E8F7"/>
                    </a:solidFill>
                  </a:tcPr>
                </a:tc>
                <a:tc>
                  <a:txBody>
                    <a:bodyPr/>
                    <a:lstStyle/>
                    <a:p>
                      <a:pPr algn="l"/>
                      <a:r>
                        <a:rPr sz="1200" b="0">
                          <a:solidFill>
                            <a:srgbClr val="333333"/>
                          </a:solidFill>
                        </a:rPr>
                        <a:t>Plastics circularity, sugar co-generation, cement co-processing (D)</a:t>
                      </a:r>
                    </a:p>
                  </a:txBody>
                  <a:tcPr>
                    <a:solidFill>
                      <a:srgbClr val="D6E8F7"/>
                    </a:solidFill>
                  </a:tcPr>
                </a:tc>
              </a:tr>
              <a:tr h="770712">
                <a:tc>
                  <a:txBody>
                    <a:bodyPr/>
                    <a:lstStyle/>
                    <a:p>
                      <a:pPr algn="l"/>
                      <a:r>
                        <a:rPr sz="1200" b="0">
                          <a:solidFill>
                            <a:srgbClr val="333333"/>
                          </a:solidFill>
                        </a:rPr>
                        <a:t>6. Productive renewable energy &amp; efficiency</a:t>
                      </a:r>
                    </a:p>
                  </a:txBody>
                  <a:tcPr>
                    <a:solidFill>
                      <a:srgbClr val="FFFFFF"/>
                    </a:solidFill>
                  </a:tcPr>
                </a:tc>
                <a:tc>
                  <a:txBody>
                    <a:bodyPr/>
                    <a:lstStyle/>
                    <a:p>
                      <a:pPr algn="l"/>
                      <a:r>
                        <a:rPr sz="1200" b="0">
                          <a:solidFill>
                            <a:srgbClr val="333333"/>
                          </a:solidFill>
                        </a:rPr>
                        <a:t>Industrial power reliability; sugar bagasse co-generation (D)</a:t>
                      </a:r>
                    </a:p>
                  </a:txBody>
                  <a:tcPr>
                    <a:solidFill>
                      <a:srgbClr val="FFFFFF"/>
                    </a:solidFill>
                  </a:tcPr>
                </a:tc>
              </a:tr>
            </a:tbl>
          </a:graphicData>
        </a:graphic>
      </p:graphicFrame>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10.5 Summary of Cross-Cutting Recommendations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Together these convert Uganda's agricultural base, established sugar/cement industries, proven pharmaceutical capability, and emerging oil sector into a value-adding, import-substituting industrial system.</a:t>
            </a:r>
          </a:p>
          <a:p>
            <a:pPr/>
            <a:r>
              <a:rPr sz="1600" b="0">
                <a:solidFill>
                  <a:srgbClr val="333333"/>
                </a:solidFill>
              </a:rPr>
              <a:t>1. Favour domestic value addition over raw-commodity export / finished-goods import, consistently across policy.</a:t>
            </a:r>
          </a:p>
          <a:p>
            <a:pPr/>
            <a:r>
              <a:rPr sz="1600" b="0">
                <a:solidFill>
                  <a:srgbClr val="333333"/>
                </a:solidFill>
              </a:rPr>
              <a:t>2. Enforce UNBS and NDA standards (highest-leverage quick win for Report 2).</a:t>
            </a:r>
          </a:p>
          <a:p>
            <a:pPr/>
            <a:r>
              <a:rPr sz="1600" b="0">
                <a:solidFill>
                  <a:srgbClr val="333333"/>
                </a:solidFill>
              </a:rPr>
              <a:t>3. Anchor demand through public procurement (medicines, uniforms, cement, fertilizer).</a:t>
            </a:r>
          </a:p>
          <a:p>
            <a:pPr/>
            <a:r>
              <a:rPr sz="1600" b="0">
                <a:solidFill>
                  <a:srgbClr val="333333"/>
                </a:solidFill>
              </a:rPr>
              <a:t>4. Build parks, utilities, effluent, and circular-economy infrastructure.</a:t>
            </a:r>
          </a:p>
          <a:p>
            <a:pPr/>
            <a:r>
              <a:rPr sz="1600" b="0">
                <a:solidFill>
                  <a:srgbClr val="333333"/>
                </a:solidFill>
              </a:rPr>
              <a:t>5. Create a long-term industrial-finance facility.</a:t>
            </a:r>
          </a:p>
          <a:p>
            <a:pPr/>
            <a:r>
              <a:rPr sz="1600" b="0">
                <a:solidFill>
                  <a:srgbClr val="333333"/>
                </a:solidFill>
              </a:rPr>
              <a:t>6. Launch a cross-sector skills compact.</a:t>
            </a:r>
          </a:p>
          <a:p>
            <a:pPr/>
            <a:r>
              <a:rPr sz="1600" b="0">
                <a:solidFill>
                  <a:srgbClr val="333333"/>
                </a:solidFill>
              </a:rPr>
              <a:t>7. Sequence the petrochemical park and prepare its downstream linkages now.</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10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Electricity Regulatory Authority, tariffs 2025. https://www.era.go.ug/</a:t>
            </a:r>
          </a:p>
          <a:p>
            <a:pPr/>
            <a:r>
              <a:rPr sz="1600" b="0">
                <a:solidFill>
                  <a:srgbClr val="333333"/>
                </a:solidFill>
              </a:rPr>
              <a:t>•  KPMG, Uganda Budget Brief 2025/26. https://assets.kpmg.com/</a:t>
            </a:r>
          </a:p>
          <a:p>
            <a:pPr/>
            <a:r>
              <a:rPr sz="1600" b="0">
                <a:solidFill>
                  <a:srgbClr val="333333"/>
                </a:solidFill>
              </a:rPr>
              <a:t>•  Uganda Manufacturers Association; UNIDO — skills evidence. https://uma.or.ug/ ; https://www.unido.org/</a:t>
            </a:r>
          </a:p>
          <a:p>
            <a:pPr/>
            <a:r>
              <a:rPr sz="1600" b="0">
                <a:solidFill>
                  <a:srgbClr val="333333"/>
                </a:solidFill>
              </a:rPr>
              <a:t>•  NEMA, Plastics Circularity Strategy 2023–2028; Effluent Discharge Regulations 2020. https://www.nema.go.ug/</a:t>
            </a:r>
          </a:p>
          <a:p>
            <a:pPr/>
            <a:r>
              <a:rPr sz="1600" b="0">
                <a:solidFill>
                  <a:srgbClr val="333333"/>
                </a:solidFill>
              </a:rPr>
              <a:t>•  National Drug Authority. https://www.nda.or.ug/</a:t>
            </a:r>
          </a:p>
          <a:p>
            <a:pPr/>
            <a:r>
              <a:rPr sz="1600" b="0">
                <a:solidFill>
                  <a:srgbClr val="333333"/>
                </a:solidFill>
              </a:rPr>
              <a:t>•  UNIDO, Programme for Country Partnership. https://www.unido.org/programme-country-partnership</a:t>
            </a:r>
          </a:p>
          <a:p>
            <a:pPr/>
            <a:r>
              <a:rPr sz="1600" b="0">
                <a:solidFill>
                  <a:srgbClr val="333333"/>
                </a:solidFill>
              </a:rPr>
              <a:t>•  ITC TradeMap. https://www.trademap.org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0058400" cy="548640"/>
          </a:xfrm>
          <a:prstGeom prst="rect">
            <a:avLst/>
          </a:prstGeom>
          <a:noFill/>
        </p:spPr>
        <p:txBody>
          <a:bodyPr wrap="square">
            <a:spAutoFit/>
          </a:bodyPr>
          <a:lstStyle/>
          <a:p>
            <a:pPr algn="l"/>
            <a:r>
              <a:rPr sz="2200" b="0" i="0">
                <a:solidFill>
                  <a:srgbClr val="FFFFFF"/>
                </a:solidFill>
              </a:rPr>
              <a:t>Section 11</a:t>
            </a:r>
          </a:p>
        </p:txBody>
      </p:sp>
      <p:sp>
        <p:nvSpPr>
          <p:cNvPr id="5" name="TextBox 4"/>
          <p:cNvSpPr txBox="1"/>
          <p:nvPr/>
        </p:nvSpPr>
        <p:spPr>
          <a:xfrm>
            <a:off x="548640" y="2651760"/>
            <a:ext cx="10058400" cy="1097280"/>
          </a:xfrm>
          <a:prstGeom prst="rect">
            <a:avLst/>
          </a:prstGeom>
          <a:noFill/>
        </p:spPr>
        <p:txBody>
          <a:bodyPr wrap="square">
            <a:spAutoFit/>
          </a:bodyPr>
          <a:lstStyle/>
          <a:p>
            <a:pPr algn="l"/>
            <a:r>
              <a:rPr sz="4000" b="1" i="0">
                <a:solidFill>
                  <a:srgbClr val="FFFFFF"/>
                </a:solidFill>
              </a:rPr>
              <a:t>Chapter 11: Investment Portfolio and Implementation Roadmap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11.1 Purpose</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This chapter consolidates the prioritized products from Chapters 4–9 into an investment portfolio and phased roadmap for the six Report 2 chains. Project profiles cover the priority products only.</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11.2 Investment Portfolio Overview</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2" cy="5394960"/>
        </p:xfrm>
        <a:graphic>
          <a:graphicData uri="http://schemas.openxmlformats.org/drawingml/2006/table">
            <a:tbl>
              <a:tblPr firstRow="1" bandRow="1">
                <a:tableStyleId>{5C22544A-7EE6-4342-B048-85BDC9FD1C3A}</a:tableStyleId>
              </a:tblPr>
              <a:tblGrid>
                <a:gridCol w="2031492"/>
                <a:gridCol w="2031492"/>
                <a:gridCol w="2031492"/>
                <a:gridCol w="2031492"/>
                <a:gridCol w="2031492"/>
                <a:gridCol w="2031492"/>
              </a:tblGrid>
              <a:tr h="599440">
                <a:tc>
                  <a:txBody>
                    <a:bodyPr/>
                    <a:lstStyle/>
                    <a:p>
                      <a:pPr algn="l"/>
                      <a:r>
                        <a:rPr sz="1300" b="1">
                          <a:solidFill>
                            <a:srgbClr val="FFFFFF"/>
                          </a:solidFill>
                        </a:rPr>
                        <a:t>#</a:t>
                      </a:r>
                    </a:p>
                  </a:txBody>
                  <a:tcPr>
                    <a:solidFill>
                      <a:srgbClr val="002B5B"/>
                    </a:solidFill>
                  </a:tcPr>
                </a:tc>
                <a:tc>
                  <a:txBody>
                    <a:bodyPr/>
                    <a:lstStyle/>
                    <a:p>
                      <a:pPr algn="l"/>
                      <a:r>
                        <a:rPr sz="1300" b="1">
                          <a:solidFill>
                            <a:srgbClr val="FFFFFF"/>
                          </a:solidFill>
                        </a:rPr>
                        <a:t>Investment</a:t>
                      </a:r>
                    </a:p>
                  </a:txBody>
                  <a:tcPr>
                    <a:solidFill>
                      <a:srgbClr val="002B5B"/>
                    </a:solidFill>
                  </a:tcPr>
                </a:tc>
                <a:tc>
                  <a:txBody>
                    <a:bodyPr/>
                    <a:lstStyle/>
                    <a:p>
                      <a:pPr algn="l"/>
                      <a:r>
                        <a:rPr sz="1300" b="1">
                          <a:solidFill>
                            <a:srgbClr val="FFFFFF"/>
                          </a:solidFill>
                        </a:rPr>
                        <a:t>Chain</a:t>
                      </a:r>
                    </a:p>
                  </a:txBody>
                  <a:tcPr>
                    <a:solidFill>
                      <a:srgbClr val="002B5B"/>
                    </a:solidFill>
                  </a:tcPr>
                </a:tc>
                <a:tc>
                  <a:txBody>
                    <a:bodyPr/>
                    <a:lstStyle/>
                    <a:p>
                      <a:pPr algn="l"/>
                      <a:r>
                        <a:rPr sz="1300" b="1">
                          <a:solidFill>
                            <a:srgbClr val="FFFFFF"/>
                          </a:solidFill>
                        </a:rPr>
                        <a:t>Modality</a:t>
                      </a:r>
                    </a:p>
                  </a:txBody>
                  <a:tcPr>
                    <a:solidFill>
                      <a:srgbClr val="002B5B"/>
                    </a:solidFill>
                  </a:tcPr>
                </a:tc>
                <a:tc>
                  <a:txBody>
                    <a:bodyPr/>
                    <a:lstStyle/>
                    <a:p>
                      <a:pPr algn="l"/>
                      <a:r>
                        <a:rPr sz="1300" b="1">
                          <a:solidFill>
                            <a:srgbClr val="FFFFFF"/>
                          </a:solidFill>
                        </a:rPr>
                        <a:t>Indicative CAPEX</a:t>
                      </a:r>
                    </a:p>
                  </a:txBody>
                  <a:tcPr>
                    <a:solidFill>
                      <a:srgbClr val="002B5B"/>
                    </a:solidFill>
                  </a:tcPr>
                </a:tc>
                <a:tc>
                  <a:txBody>
                    <a:bodyPr/>
                    <a:lstStyle/>
                    <a:p>
                      <a:pPr algn="l"/>
                      <a:r>
                        <a:rPr sz="1300" b="1">
                          <a:solidFill>
                            <a:srgbClr val="FFFFFF"/>
                          </a:solidFill>
                        </a:rPr>
                        <a:t>Status / anchor</a:t>
                      </a:r>
                    </a:p>
                  </a:txBody>
                  <a:tcPr>
                    <a:solidFill>
                      <a:srgbClr val="002B5B"/>
                    </a:solidFill>
                  </a:tcPr>
                </a:tc>
              </a:tr>
              <a:tr h="599440">
                <a:tc>
                  <a:txBody>
                    <a:bodyPr/>
                    <a:lstStyle/>
                    <a:p>
                      <a:pPr algn="l"/>
                      <a:r>
                        <a:rPr sz="1200" b="0">
                          <a:solidFill>
                            <a:srgbClr val="333333"/>
                          </a:solidFill>
                        </a:rPr>
                        <a:t>1</a:t>
                      </a:r>
                    </a:p>
                  </a:txBody>
                  <a:tcPr>
                    <a:solidFill>
                      <a:srgbClr val="D6E8F7"/>
                    </a:solidFill>
                  </a:tcPr>
                </a:tc>
                <a:tc>
                  <a:txBody>
                    <a:bodyPr/>
                    <a:lstStyle/>
                    <a:p>
                      <a:pPr algn="l"/>
                      <a:r>
                        <a:rPr sz="1200" b="0">
                          <a:solidFill>
                            <a:srgbClr val="333333"/>
                          </a:solidFill>
                        </a:rPr>
                        <a:t>Spinning/weaving + garment capacity</a:t>
                      </a:r>
                    </a:p>
                  </a:txBody>
                  <a:tcPr>
                    <a:solidFill>
                      <a:srgbClr val="D6E8F7"/>
                    </a:solidFill>
                  </a:tcPr>
                </a:tc>
                <a:tc>
                  <a:txBody>
                    <a:bodyPr/>
                    <a:lstStyle/>
                    <a:p>
                      <a:pPr algn="l"/>
                      <a:r>
                        <a:rPr sz="1200" b="0">
                          <a:solidFill>
                            <a:srgbClr val="333333"/>
                          </a:solidFill>
                        </a:rPr>
                        <a:t>Textiles</a:t>
                      </a:r>
                    </a:p>
                  </a:txBody>
                  <a:tcPr>
                    <a:solidFill>
                      <a:srgbClr val="D6E8F7"/>
                    </a:solidFill>
                  </a:tcPr>
                </a:tc>
                <a:tc>
                  <a:txBody>
                    <a:bodyPr/>
                    <a:lstStyle/>
                    <a:p>
                      <a:pPr algn="l"/>
                      <a:r>
                        <a:rPr sz="1200" b="0">
                          <a:solidFill>
                            <a:srgbClr val="333333"/>
                          </a:solidFill>
                        </a:rPr>
                        <a:t>Private-led + PPP</a:t>
                      </a:r>
                    </a:p>
                  </a:txBody>
                  <a:tcPr>
                    <a:solidFill>
                      <a:srgbClr val="D6E8F7"/>
                    </a:solidFill>
                  </a:tcPr>
                </a:tc>
                <a:tc>
                  <a:txBody>
                    <a:bodyPr/>
                    <a:lstStyle/>
                    <a:p>
                      <a:pPr algn="l"/>
                      <a:r>
                        <a:rPr sz="1200" b="0">
                          <a:solidFill>
                            <a:srgbClr val="333333"/>
                          </a:solidFill>
                        </a:rPr>
                        <a:t>~USD 100–250m</a:t>
                      </a:r>
                    </a:p>
                  </a:txBody>
                  <a:tcPr>
                    <a:solidFill>
                      <a:srgbClr val="D6E8F7"/>
                    </a:solidFill>
                  </a:tcPr>
                </a:tc>
                <a:tc>
                  <a:txBody>
                    <a:bodyPr/>
                    <a:lstStyle/>
                    <a:p>
                      <a:pPr algn="l"/>
                      <a:r>
                        <a:rPr sz="1200" b="0">
                          <a:solidFill>
                            <a:srgbClr val="333333"/>
                          </a:solidFill>
                        </a:rPr>
                        <a:t>Nytil, Fine Spinners, Lira</a:t>
                      </a:r>
                    </a:p>
                  </a:txBody>
                  <a:tcPr>
                    <a:solidFill>
                      <a:srgbClr val="D6E8F7"/>
                    </a:solidFill>
                  </a:tcPr>
                </a:tc>
              </a:tr>
              <a:tr h="599440">
                <a:tc>
                  <a:txBody>
                    <a:bodyPr/>
                    <a:lstStyle/>
                    <a:p>
                      <a:pPr algn="l"/>
                      <a:r>
                        <a:rPr sz="1200" b="0">
                          <a:solidFill>
                            <a:srgbClr val="333333"/>
                          </a:solidFill>
                        </a:rPr>
                        <a:t>2</a:t>
                      </a:r>
                    </a:p>
                  </a:txBody>
                  <a:tcPr>
                    <a:solidFill>
                      <a:srgbClr val="FFFFFF"/>
                    </a:solidFill>
                  </a:tcPr>
                </a:tc>
                <a:tc>
                  <a:txBody>
                    <a:bodyPr/>
                    <a:lstStyle/>
                    <a:p>
                      <a:pPr algn="l"/>
                      <a:r>
                        <a:rPr sz="1200" b="0">
                          <a:solidFill>
                            <a:srgbClr val="333333"/>
                          </a:solidFill>
                        </a:rPr>
                        <a:t>GMP essential-generics expansion</a:t>
                      </a:r>
                    </a:p>
                  </a:txBody>
                  <a:tcPr>
                    <a:solidFill>
                      <a:srgbClr val="FFFFFF"/>
                    </a:solidFill>
                  </a:tcPr>
                </a:tc>
                <a:tc>
                  <a:txBody>
                    <a:bodyPr/>
                    <a:lstStyle/>
                    <a:p>
                      <a:pPr algn="l"/>
                      <a:r>
                        <a:rPr sz="1200" b="0">
                          <a:solidFill>
                            <a:srgbClr val="333333"/>
                          </a:solidFill>
                        </a:rPr>
                        <a:t>Pharmaceuticals</a:t>
                      </a:r>
                    </a:p>
                  </a:txBody>
                  <a:tcPr>
                    <a:solidFill>
                      <a:srgbClr val="FFFFFF"/>
                    </a:solidFill>
                  </a:tcPr>
                </a:tc>
                <a:tc>
                  <a:txBody>
                    <a:bodyPr/>
                    <a:lstStyle/>
                    <a:p>
                      <a:pPr algn="l"/>
                      <a:r>
                        <a:rPr sz="1200" b="0">
                          <a:solidFill>
                            <a:srgbClr val="333333"/>
                          </a:solidFill>
                        </a:rPr>
                        <a:t>Private-led + PPP</a:t>
                      </a:r>
                    </a:p>
                  </a:txBody>
                  <a:tcPr>
                    <a:solidFill>
                      <a:srgbClr val="FFFFFF"/>
                    </a:solidFill>
                  </a:tcPr>
                </a:tc>
                <a:tc>
                  <a:txBody>
                    <a:bodyPr/>
                    <a:lstStyle/>
                    <a:p>
                      <a:pPr algn="l"/>
                      <a:r>
                        <a:rPr sz="1200" b="0">
                          <a:solidFill>
                            <a:srgbClr val="333333"/>
                          </a:solidFill>
                        </a:rPr>
                        <a:t>~USD 50–150m</a:t>
                      </a:r>
                    </a:p>
                  </a:txBody>
                  <a:tcPr>
                    <a:solidFill>
                      <a:srgbClr val="FFFFFF"/>
                    </a:solidFill>
                  </a:tcPr>
                </a:tc>
                <a:tc>
                  <a:txBody>
                    <a:bodyPr/>
                    <a:lstStyle/>
                    <a:p>
                      <a:pPr algn="l"/>
                      <a:r>
                        <a:rPr sz="1200" b="0">
                          <a:solidFill>
                            <a:srgbClr val="333333"/>
                          </a:solidFill>
                        </a:rPr>
                        <a:t>QCIL and others</a:t>
                      </a:r>
                    </a:p>
                  </a:txBody>
                  <a:tcPr>
                    <a:solidFill>
                      <a:srgbClr val="FFFFFF"/>
                    </a:solidFill>
                  </a:tcPr>
                </a:tc>
              </a:tr>
              <a:tr h="599440">
                <a:tc>
                  <a:txBody>
                    <a:bodyPr/>
                    <a:lstStyle/>
                    <a:p>
                      <a:pPr algn="l"/>
                      <a:r>
                        <a:rPr sz="1200" b="0">
                          <a:solidFill>
                            <a:srgbClr val="333333"/>
                          </a:solidFill>
                        </a:rPr>
                        <a:t>3</a:t>
                      </a:r>
                    </a:p>
                  </a:txBody>
                  <a:tcPr>
                    <a:solidFill>
                      <a:srgbClr val="D6E8F7"/>
                    </a:solidFill>
                  </a:tcPr>
                </a:tc>
                <a:tc>
                  <a:txBody>
                    <a:bodyPr/>
                    <a:lstStyle/>
                    <a:p>
                      <a:pPr algn="l"/>
                      <a:r>
                        <a:rPr sz="1200" b="0">
                          <a:solidFill>
                            <a:srgbClr val="333333"/>
                          </a:solidFill>
                        </a:rPr>
                        <a:t>Fertilizer revival/blending</a:t>
                      </a:r>
                    </a:p>
                  </a:txBody>
                  <a:tcPr>
                    <a:solidFill>
                      <a:srgbClr val="D6E8F7"/>
                    </a:solidFill>
                  </a:tcPr>
                </a:tc>
                <a:tc>
                  <a:txBody>
                    <a:bodyPr/>
                    <a:lstStyle/>
                    <a:p>
                      <a:pPr algn="l"/>
                      <a:r>
                        <a:rPr sz="1200" b="0">
                          <a:solidFill>
                            <a:srgbClr val="333333"/>
                          </a:solidFill>
                        </a:rPr>
                        <a:t>Petrochem/Fert</a:t>
                      </a:r>
                    </a:p>
                  </a:txBody>
                  <a:tcPr>
                    <a:solidFill>
                      <a:srgbClr val="D6E8F7"/>
                    </a:solidFill>
                  </a:tcPr>
                </a:tc>
                <a:tc>
                  <a:txBody>
                    <a:bodyPr/>
                    <a:lstStyle/>
                    <a:p>
                      <a:pPr algn="l"/>
                      <a:r>
                        <a:rPr sz="1200" b="0">
                          <a:solidFill>
                            <a:srgbClr val="333333"/>
                          </a:solidFill>
                        </a:rPr>
                        <a:t>PPP / private</a:t>
                      </a:r>
                    </a:p>
                  </a:txBody>
                  <a:tcPr>
                    <a:solidFill>
                      <a:srgbClr val="D6E8F7"/>
                    </a:solidFill>
                  </a:tcPr>
                </a:tc>
                <a:tc>
                  <a:txBody>
                    <a:bodyPr/>
                    <a:lstStyle/>
                    <a:p>
                      <a:pPr algn="l"/>
                      <a:r>
                        <a:rPr sz="1200" b="0">
                          <a:solidFill>
                            <a:srgbClr val="333333"/>
                          </a:solidFill>
                        </a:rPr>
                        <a:t>~USD 100–300m</a:t>
                      </a:r>
                    </a:p>
                  </a:txBody>
                  <a:tcPr>
                    <a:solidFill>
                      <a:srgbClr val="D6E8F7"/>
                    </a:solidFill>
                  </a:tcPr>
                </a:tc>
                <a:tc>
                  <a:txBody>
                    <a:bodyPr/>
                    <a:lstStyle/>
                    <a:p>
                      <a:pPr algn="l"/>
                      <a:r>
                        <a:rPr sz="1200" b="0">
                          <a:solidFill>
                            <a:srgbClr val="333333"/>
                          </a:solidFill>
                        </a:rPr>
                        <a:t>Sukulu resolution + blending</a:t>
                      </a:r>
                    </a:p>
                  </a:txBody>
                  <a:tcPr>
                    <a:solidFill>
                      <a:srgbClr val="D6E8F7"/>
                    </a:solidFill>
                  </a:tcPr>
                </a:tc>
              </a:tr>
              <a:tr h="599440">
                <a:tc>
                  <a:txBody>
                    <a:bodyPr/>
                    <a:lstStyle/>
                    <a:p>
                      <a:pPr algn="l"/>
                      <a:r>
                        <a:rPr sz="1200" b="0">
                          <a:solidFill>
                            <a:srgbClr val="333333"/>
                          </a:solidFill>
                        </a:rPr>
                        <a:t>4</a:t>
                      </a:r>
                    </a:p>
                  </a:txBody>
                  <a:tcPr>
                    <a:solidFill>
                      <a:srgbClr val="FFFFFF"/>
                    </a:solidFill>
                  </a:tcPr>
                </a:tc>
                <a:tc>
                  <a:txBody>
                    <a:bodyPr/>
                    <a:lstStyle/>
                    <a:p>
                      <a:pPr algn="l"/>
                      <a:r>
                        <a:rPr sz="1200" b="0">
                          <a:solidFill>
                            <a:srgbClr val="333333"/>
                          </a:solidFill>
                        </a:rPr>
                        <a:t>Refinery &amp; petrochemical park</a:t>
                      </a:r>
                    </a:p>
                  </a:txBody>
                  <a:tcPr>
                    <a:solidFill>
                      <a:srgbClr val="FFFFFF"/>
                    </a:solidFill>
                  </a:tcPr>
                </a:tc>
                <a:tc>
                  <a:txBody>
                    <a:bodyPr/>
                    <a:lstStyle/>
                    <a:p>
                      <a:pPr algn="l"/>
                      <a:r>
                        <a:rPr sz="1200" b="0">
                          <a:solidFill>
                            <a:srgbClr val="333333"/>
                          </a:solidFill>
                        </a:rPr>
                        <a:t>Petrochem/Fert</a:t>
                      </a:r>
                    </a:p>
                  </a:txBody>
                  <a:tcPr>
                    <a:solidFill>
                      <a:srgbClr val="FFFFFF"/>
                    </a:solidFill>
                  </a:tcPr>
                </a:tc>
                <a:tc>
                  <a:txBody>
                    <a:bodyPr/>
                    <a:lstStyle/>
                    <a:p>
                      <a:pPr algn="l"/>
                      <a:r>
                        <a:rPr sz="1200" b="0">
                          <a:solidFill>
                            <a:srgbClr val="333333"/>
                          </a:solidFill>
                        </a:rPr>
                        <a:t>Investor + UNOC (PPP)</a:t>
                      </a:r>
                    </a:p>
                  </a:txBody>
                  <a:tcPr>
                    <a:solidFill>
                      <a:srgbClr val="FFFFFF"/>
                    </a:solidFill>
                  </a:tcPr>
                </a:tc>
                <a:tc>
                  <a:txBody>
                    <a:bodyPr/>
                    <a:lstStyle/>
                    <a:p>
                      <a:pPr algn="l"/>
                      <a:r>
                        <a:rPr sz="1200" b="0">
                          <a:solidFill>
                            <a:srgbClr val="333333"/>
                          </a:solidFill>
                        </a:rPr>
                        <a:t>~USD 4bn (announced)</a:t>
                      </a:r>
                    </a:p>
                  </a:txBody>
                  <a:tcPr>
                    <a:solidFill>
                      <a:srgbClr val="FFFFFF"/>
                    </a:solidFill>
                  </a:tcPr>
                </a:tc>
                <a:tc>
                  <a:txBody>
                    <a:bodyPr/>
                    <a:lstStyle/>
                    <a:p>
                      <a:pPr algn="l"/>
                      <a:r>
                        <a:rPr sz="1200" b="0">
                          <a:solidFill>
                            <a:srgbClr val="333333"/>
                          </a:solidFill>
                        </a:rPr>
                        <a:t>Alpha MBM agreement, Mar 2025</a:t>
                      </a:r>
                    </a:p>
                  </a:txBody>
                  <a:tcPr>
                    <a:solidFill>
                      <a:srgbClr val="FFFFFF"/>
                    </a:solidFill>
                  </a:tcPr>
                </a:tc>
              </a:tr>
              <a:tr h="599440">
                <a:tc>
                  <a:txBody>
                    <a:bodyPr/>
                    <a:lstStyle/>
                    <a:p>
                      <a:pPr algn="l"/>
                      <a:r>
                        <a:rPr sz="1200" b="0">
                          <a:solidFill>
                            <a:srgbClr val="333333"/>
                          </a:solidFill>
                        </a:rPr>
                        <a:t>5</a:t>
                      </a:r>
                    </a:p>
                  </a:txBody>
                  <a:tcPr>
                    <a:solidFill>
                      <a:srgbClr val="D6E8F7"/>
                    </a:solidFill>
                  </a:tcPr>
                </a:tc>
                <a:tc>
                  <a:txBody>
                    <a:bodyPr/>
                    <a:lstStyle/>
                    <a:p>
                      <a:pPr algn="l"/>
                      <a:r>
                        <a:rPr sz="1200" b="0">
                          <a:solidFill>
                            <a:srgbClr val="333333"/>
                          </a:solidFill>
                        </a:rPr>
                        <a:t>Industrial sugar + ethanol + co-gen</a:t>
                      </a:r>
                    </a:p>
                  </a:txBody>
                  <a:tcPr>
                    <a:solidFill>
                      <a:srgbClr val="D6E8F7"/>
                    </a:solidFill>
                  </a:tcPr>
                </a:tc>
                <a:tc>
                  <a:txBody>
                    <a:bodyPr/>
                    <a:lstStyle/>
                    <a:p>
                      <a:pPr algn="l"/>
                      <a:r>
                        <a:rPr sz="1200" b="0">
                          <a:solidFill>
                            <a:srgbClr val="333333"/>
                          </a:solidFill>
                        </a:rPr>
                        <a:t>Sugar</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~USD 50–150m</a:t>
                      </a:r>
                    </a:p>
                  </a:txBody>
                  <a:tcPr>
                    <a:solidFill>
                      <a:srgbClr val="D6E8F7"/>
                    </a:solidFill>
                  </a:tcPr>
                </a:tc>
                <a:tc>
                  <a:txBody>
                    <a:bodyPr/>
                    <a:lstStyle/>
                    <a:p>
                      <a:pPr algn="l"/>
                      <a:r>
                        <a:rPr sz="1200" b="0">
                          <a:solidFill>
                            <a:srgbClr val="333333"/>
                          </a:solidFill>
                        </a:rPr>
                        <a:t>Kakira, Kinyara, others</a:t>
                      </a:r>
                    </a:p>
                  </a:txBody>
                  <a:tcPr>
                    <a:solidFill>
                      <a:srgbClr val="D6E8F7"/>
                    </a:solidFill>
                  </a:tcPr>
                </a:tc>
              </a:tr>
              <a:tr h="599440">
                <a:tc>
                  <a:txBody>
                    <a:bodyPr/>
                    <a:lstStyle/>
                    <a:p>
                      <a:pPr algn="l"/>
                      <a:r>
                        <a:rPr sz="1200" b="0">
                          <a:solidFill>
                            <a:srgbClr val="333333"/>
                          </a:solidFill>
                        </a:rPr>
                        <a:t>6</a:t>
                      </a:r>
                    </a:p>
                  </a:txBody>
                  <a:tcPr>
                    <a:solidFill>
                      <a:srgbClr val="FFFFFF"/>
                    </a:solidFill>
                  </a:tcPr>
                </a:tc>
                <a:tc>
                  <a:txBody>
                    <a:bodyPr/>
                    <a:lstStyle/>
                    <a:p>
                      <a:pPr algn="l"/>
                      <a:r>
                        <a:rPr sz="1200" b="0">
                          <a:solidFill>
                            <a:srgbClr val="333333"/>
                          </a:solidFill>
                        </a:rPr>
                        <a:t>Plastics recycling + packaging</a:t>
                      </a:r>
                    </a:p>
                  </a:txBody>
                  <a:tcPr>
                    <a:solidFill>
                      <a:srgbClr val="FFFFFF"/>
                    </a:solidFill>
                  </a:tcPr>
                </a:tc>
                <a:tc>
                  <a:txBody>
                    <a:bodyPr/>
                    <a:lstStyle/>
                    <a:p>
                      <a:pPr algn="l"/>
                      <a:r>
                        <a:rPr sz="1200" b="0">
                          <a:solidFill>
                            <a:srgbClr val="333333"/>
                          </a:solidFill>
                        </a:rPr>
                        <a:t>Plastics</a:t>
                      </a:r>
                    </a:p>
                  </a:txBody>
                  <a:tcPr>
                    <a:solidFill>
                      <a:srgbClr val="FFFFFF"/>
                    </a:solidFill>
                  </a:tcPr>
                </a:tc>
                <a:tc>
                  <a:txBody>
                    <a:bodyPr/>
                    <a:lstStyle/>
                    <a:p>
                      <a:pPr algn="l"/>
                      <a:r>
                        <a:rPr sz="1200" b="0">
                          <a:solidFill>
                            <a:srgbClr val="333333"/>
                          </a:solidFill>
                        </a:rPr>
                        <a:t>Private-led</a:t>
                      </a:r>
                    </a:p>
                  </a:txBody>
                  <a:tcPr>
                    <a:solidFill>
                      <a:srgbClr val="FFFFFF"/>
                    </a:solidFill>
                  </a:tcPr>
                </a:tc>
                <a:tc>
                  <a:txBody>
                    <a:bodyPr/>
                    <a:lstStyle/>
                    <a:p>
                      <a:pPr algn="l"/>
                      <a:r>
                        <a:rPr sz="1200" b="0">
                          <a:solidFill>
                            <a:srgbClr val="333333"/>
                          </a:solidFill>
                        </a:rPr>
                        <a:t>~USD 30–80m</a:t>
                      </a:r>
                    </a:p>
                  </a:txBody>
                  <a:tcPr>
                    <a:solidFill>
                      <a:srgbClr val="FFFFFF"/>
                    </a:solidFill>
                  </a:tcPr>
                </a:tc>
                <a:tc>
                  <a:txBody>
                    <a:bodyPr/>
                    <a:lstStyle/>
                    <a:p>
                      <a:pPr algn="l"/>
                      <a:r>
                        <a:rPr sz="1200" b="0">
                          <a:solidFill>
                            <a:srgbClr val="333333"/>
                          </a:solidFill>
                        </a:rPr>
                        <a:t>Existing converters + recyclers</a:t>
                      </a:r>
                    </a:p>
                  </a:txBody>
                  <a:tcPr>
                    <a:solidFill>
                      <a:srgbClr val="FFFFFF"/>
                    </a:solidFill>
                  </a:tcPr>
                </a:tc>
              </a:tr>
              <a:tr h="599440">
                <a:tc>
                  <a:txBody>
                    <a:bodyPr/>
                    <a:lstStyle/>
                    <a:p>
                      <a:pPr algn="l"/>
                      <a:r>
                        <a:rPr sz="1200" b="0">
                          <a:solidFill>
                            <a:srgbClr val="333333"/>
                          </a:solidFill>
                        </a:rPr>
                        <a:t>7</a:t>
                      </a:r>
                    </a:p>
                  </a:txBody>
                  <a:tcPr>
                    <a:solidFill>
                      <a:srgbClr val="D6E8F7"/>
                    </a:solidFill>
                  </a:tcPr>
                </a:tc>
                <a:tc>
                  <a:txBody>
                    <a:bodyPr/>
                    <a:lstStyle/>
                    <a:p>
                      <a:pPr algn="l"/>
                      <a:r>
                        <a:rPr sz="1200" b="0">
                          <a:solidFill>
                            <a:srgbClr val="333333"/>
                          </a:solidFill>
                        </a:rPr>
                        <a:t>Clinker capacity build-out</a:t>
                      </a:r>
                    </a:p>
                  </a:txBody>
                  <a:tcPr>
                    <a:solidFill>
                      <a:srgbClr val="D6E8F7"/>
                    </a:solidFill>
                  </a:tcPr>
                </a:tc>
                <a:tc>
                  <a:txBody>
                    <a:bodyPr/>
                    <a:lstStyle/>
                    <a:p>
                      <a:pPr algn="l"/>
                      <a:r>
                        <a:rPr sz="1200" b="0">
                          <a:solidFill>
                            <a:srgbClr val="333333"/>
                          </a:solidFill>
                        </a:rPr>
                        <a:t>Cement</a:t>
                      </a:r>
                    </a:p>
                  </a:txBody>
                  <a:tcPr>
                    <a:solidFill>
                      <a:srgbClr val="D6E8F7"/>
                    </a:solidFill>
                  </a:tcPr>
                </a:tc>
                <a:tc>
                  <a:txBody>
                    <a:bodyPr/>
                    <a:lstStyle/>
                    <a:p>
                      <a:pPr algn="l"/>
                      <a:r>
                        <a:rPr sz="1200" b="0">
                          <a:solidFill>
                            <a:srgbClr val="333333"/>
                          </a:solidFill>
                        </a:rPr>
                        <a:t>Private-led</a:t>
                      </a:r>
                    </a:p>
                  </a:txBody>
                  <a:tcPr>
                    <a:solidFill>
                      <a:srgbClr val="D6E8F7"/>
                    </a:solidFill>
                  </a:tcPr>
                </a:tc>
                <a:tc>
                  <a:txBody>
                    <a:bodyPr/>
                    <a:lstStyle/>
                    <a:p>
                      <a:pPr algn="l"/>
                      <a:r>
                        <a:rPr sz="1200" b="0">
                          <a:solidFill>
                            <a:srgbClr val="333333"/>
                          </a:solidFill>
                        </a:rPr>
                        <a:t>~USD 200–300m+</a:t>
                      </a:r>
                    </a:p>
                  </a:txBody>
                  <a:tcPr>
                    <a:solidFill>
                      <a:srgbClr val="D6E8F7"/>
                    </a:solidFill>
                  </a:tcPr>
                </a:tc>
                <a:tc>
                  <a:txBody>
                    <a:bodyPr/>
                    <a:lstStyle/>
                    <a:p>
                      <a:pPr algn="l"/>
                      <a:r>
                        <a:rPr sz="1200" b="0">
                          <a:solidFill>
                            <a:srgbClr val="333333"/>
                          </a:solidFill>
                        </a:rPr>
                        <a:t>NE plant, Buikwe (announced)</a:t>
                      </a:r>
                    </a:p>
                  </a:txBody>
                  <a:tcPr>
                    <a:solidFill>
                      <a:srgbClr val="D6E8F7"/>
                    </a:solidFill>
                  </a:tcPr>
                </a:tc>
              </a:tr>
              <a:tr h="599440">
                <a:tc>
                  <a:txBody>
                    <a:bodyPr/>
                    <a:lstStyle/>
                    <a:p>
                      <a:pPr algn="l"/>
                      <a:r>
                        <a:rPr sz="1200" b="0">
                          <a:solidFill>
                            <a:srgbClr val="333333"/>
                          </a:solidFill>
                        </a:rPr>
                        <a:t>8</a:t>
                      </a:r>
                    </a:p>
                  </a:txBody>
                  <a:tcPr>
                    <a:solidFill>
                      <a:srgbClr val="FFFFFF"/>
                    </a:solidFill>
                  </a:tcPr>
                </a:tc>
                <a:tc>
                  <a:txBody>
                    <a:bodyPr/>
                    <a:lstStyle/>
                    <a:p>
                      <a:pPr algn="l"/>
                      <a:r>
                        <a:rPr sz="1200" b="0">
                          <a:solidFill>
                            <a:srgbClr val="333333"/>
                          </a:solidFill>
                        </a:rPr>
                        <a:t>Higher-value building materials</a:t>
                      </a:r>
                    </a:p>
                  </a:txBody>
                  <a:tcPr>
                    <a:solidFill>
                      <a:srgbClr val="FFFFFF"/>
                    </a:solidFill>
                  </a:tcPr>
                </a:tc>
                <a:tc>
                  <a:txBody>
                    <a:bodyPr/>
                    <a:lstStyle/>
                    <a:p>
                      <a:pPr algn="l"/>
                      <a:r>
                        <a:rPr sz="1200" b="0">
                          <a:solidFill>
                            <a:srgbClr val="333333"/>
                          </a:solidFill>
                        </a:rPr>
                        <a:t>Cement</a:t>
                      </a:r>
                    </a:p>
                  </a:txBody>
                  <a:tcPr>
                    <a:solidFill>
                      <a:srgbClr val="FFFFFF"/>
                    </a:solidFill>
                  </a:tcPr>
                </a:tc>
                <a:tc>
                  <a:txBody>
                    <a:bodyPr/>
                    <a:lstStyle/>
                    <a:p>
                      <a:pPr algn="l"/>
                      <a:r>
                        <a:rPr sz="1200" b="0">
                          <a:solidFill>
                            <a:srgbClr val="333333"/>
                          </a:solidFill>
                        </a:rPr>
                        <a:t>Private-led</a:t>
                      </a:r>
                    </a:p>
                  </a:txBody>
                  <a:tcPr>
                    <a:solidFill>
                      <a:srgbClr val="FFFFFF"/>
                    </a:solidFill>
                  </a:tcPr>
                </a:tc>
                <a:tc>
                  <a:txBody>
                    <a:bodyPr/>
                    <a:lstStyle/>
                    <a:p>
                      <a:pPr algn="l"/>
                      <a:r>
                        <a:rPr sz="1200" b="0">
                          <a:solidFill>
                            <a:srgbClr val="333333"/>
                          </a:solidFill>
                        </a:rPr>
                        <a:t>~USD 20–60m</a:t>
                      </a:r>
                    </a:p>
                  </a:txBody>
                  <a:tcPr>
                    <a:solidFill>
                      <a:srgbClr val="FFFFFF"/>
                    </a:solidFill>
                  </a:tcPr>
                </a:tc>
                <a:tc>
                  <a:txBody>
                    <a:bodyPr/>
                    <a:lstStyle/>
                    <a:p>
                      <a:pPr algn="l"/>
                      <a:r>
                        <a:rPr sz="1200" b="0">
                          <a:solidFill>
                            <a:srgbClr val="333333"/>
                          </a:solidFill>
                        </a:rPr>
                        <a:t>Fibre-cement, tiles, precast</a:t>
                      </a:r>
                    </a:p>
                  </a:txBody>
                  <a:tcPr>
                    <a:solidFill>
                      <a:srgbClr val="FFFFFF"/>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11.2 Investment Portfolio Overview</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Portfolio logic. The largest single item (refinery, #4) is investor-led and already anchored; it is the medium-term feedstock enabler for plastics (#6) and fertilizers (#3). The fastest, highest-certainty wins are in sugar downstream (#5), plastics recycling (#6), cement clinker (#7), and essential generics (#2) — all building on existing competitive bases.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Profile 1 — Spinning/Weaving + Garment Capacity (Textiles)</a:t>
            </a:r>
          </a:p>
          <a:p>
            <a:pPr/>
            <a:r>
              <a:rPr sz="1600" b="0">
                <a:solidFill>
                  <a:srgbClr val="333333"/>
                </a:solidFill>
              </a:rPr>
              <a:t>•  Business case: ~90% of cotton lint is exported raw (~USD 11.3m, 2024); domestic processing captures the value gap to yarn, fabric, and garments. Institutional uniform and regional apparel demand anchor sales.</a:t>
            </a:r>
          </a:p>
          <a:p>
            <a:pPr/>
            <a:r>
              <a:rPr sz="1600" b="0">
                <a:solidFill>
                  <a:srgbClr val="333333"/>
                </a:solidFill>
              </a:rPr>
              <a:t>•  Anchors: Southern Range Nyanza (Nytil), Fine Spinners, Lira spinning facility.</a:t>
            </a:r>
          </a:p>
          <a:p>
            <a:pPr/>
            <a:r>
              <a:rPr sz="1600" b="0">
                <a:solidFill>
                  <a:srgbClr val="333333"/>
                </a:solidFill>
              </a:rPr>
              <a:t>•  Modality: Private-led + PPP (wet-processing/effluent infrastructure). Indicative CAPEX: USD 100–250m. Key risk: cotton supply volatility, wet-processing/effluent. Mitigation: agronomy programme, shared effluent treatment.</a:t>
            </a:r>
          </a:p>
          <a:p>
            <a:pPr/>
            <a:r>
              <a:rPr sz="1600" b="0">
                <a:solidFill>
                  <a:srgbClr val="333333"/>
                </a:solidFill>
              </a:rPr>
              <a:t>▸ Profile 2 — GMP Essential-Generics Expansion (Pharmaceuticals)</a:t>
            </a:r>
          </a:p>
          <a:p>
            <a:pPr/>
            <a:r>
              <a:rPr sz="1600" b="0">
                <a:solidFill>
                  <a:srgbClr val="333333"/>
                </a:solidFill>
              </a:rPr>
              <a:t>•  Business case: ~90% of medicines imported; medicaments imports USD 263.4m (2024). Expanding WHO-GMP generics (ARVs, antimalarials, anti-TB, NCD) substitutes imports and serves donor/regional markets.</a:t>
            </a:r>
          </a:p>
          <a:p>
            <a:pPr/>
            <a:r>
              <a:rPr sz="1600" b="0">
                <a:solidFill>
                  <a:srgbClr val="333333"/>
                </a:solidFill>
              </a:rPr>
              <a:t>•  Anchor: Cipla QCIL (~1.2bn tablets/yr) and other GMP firms.</a:t>
            </a:r>
          </a:p>
          <a:p>
            <a:pPr/>
            <a:r>
              <a:rPr sz="1600" b="0">
                <a:solidFill>
                  <a:srgbClr val="333333"/>
                </a:solidFill>
              </a:rPr>
              <a:t>•  Modality: Private-led + PPP (GMP-upgrade fund). Indicative CAPEX: USD 50–150m. Key risk: API dependence, regulatory lead time. Mitigation: preferential procurement, prequalification support.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Profile 3 — Fertilizer Revival/Blending (Petrochem/Fertilizers)</a:t>
            </a:r>
          </a:p>
          <a:p>
            <a:pPr/>
            <a:r>
              <a:rPr sz="1600" b="0">
                <a:solidFill>
                  <a:srgbClr val="333333"/>
                </a:solidFill>
              </a:rPr>
              <a:t>•  Business case: Demand approaching 1m t vs ~50,000 t imported; phosphate fertilizer imports (HS 3105) USD 32.1m (2024). Reviving/replacing Sukulu and expanding blending serves agricultural productivity.</a:t>
            </a:r>
          </a:p>
          <a:p>
            <a:pPr/>
            <a:r>
              <a:rPr sz="1600" b="0">
                <a:solidFill>
                  <a:srgbClr val="333333"/>
                </a:solidFill>
              </a:rPr>
              <a:t>•  Modality: PPP / private-led. Indicative CAPEX: USD 100–300m. Key risk: the Sukulu financing collapse precedent. Mitigation: restructure or re-tender; start with blending capacity.</a:t>
            </a:r>
          </a:p>
          <a:p>
            <a:pPr/>
            <a:r>
              <a:rPr sz="1600" b="0">
                <a:solidFill>
                  <a:srgbClr val="333333"/>
                </a:solidFill>
              </a:rPr>
              <a:t>▸ Profile 4 — Refinery &amp; Petrochemical Park (Petrochem/Fertilizers)</a:t>
            </a:r>
          </a:p>
          <a:p>
            <a:pPr/>
            <a:r>
              <a:rPr sz="1600" b="0">
                <a:solidFill>
                  <a:srgbClr val="333333"/>
                </a:solidFill>
              </a:rPr>
              <a:t>•  Business case: 60,000 bpd refinery + Kabalega Petrochemical Industrial Park; domestic fuels, polymers (plastics feedstock), and chemical inputs.</a:t>
            </a:r>
          </a:p>
          <a:p>
            <a:pPr/>
            <a:r>
              <a:rPr sz="1600" b="0">
                <a:solidFill>
                  <a:srgbClr val="333333"/>
                </a:solidFill>
              </a:rPr>
              <a:t>•  Anchor: Alpha MBM implementation agreement, March 2025 (~USD 4bn; Government ~40% via UNOC); operations ~2029–30.</a:t>
            </a:r>
          </a:p>
          <a:p>
            <a:pPr/>
            <a:r>
              <a:rPr sz="1600" b="0">
                <a:solidFill>
                  <a:srgbClr val="333333"/>
                </a:solidFill>
              </a:rPr>
              <a:t>•  Modality: Investor + UNOC (PPP). Sequencing note: the medium-term enabler for Profiles 3 and 6.</a:t>
            </a:r>
          </a:p>
          <a:p>
            <a:pPr/>
            <a:r>
              <a:rPr sz="1600" b="0">
                <a:solidFill>
                  <a:srgbClr val="333333"/>
                </a:solidFill>
              </a:rPr>
              <a:t>▸ Profile 5 — Industrial Sugar + Ethanol + Co-generation (Sugar)</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Business case: Structural surplus (~822k t output vs ~370k t consumption) plus USD 38.1m industrial-sugar imports; downstream products absorb the surplus into higher value.</a:t>
            </a:r>
          </a:p>
          <a:p>
            <a:pPr/>
            <a:r>
              <a:rPr sz="1600" b="0">
                <a:solidFill>
                  <a:srgbClr val="333333"/>
                </a:solidFill>
              </a:rPr>
              <a:t>•  Anchors: Kakira, Kinyara, SCOUL, Mayuge.</a:t>
            </a:r>
          </a:p>
          <a:p>
            <a:pPr/>
            <a:r>
              <a:rPr sz="1600" b="0">
                <a:solidFill>
                  <a:srgbClr val="333333"/>
                </a:solidFill>
              </a:rPr>
              <a:t>•  Modality: Private-led. Indicative CAPEX: USD 50–150m. High-certainty given existing cane and mills.</a:t>
            </a:r>
          </a:p>
          <a:p>
            <a:pPr/>
            <a:r>
              <a:rPr sz="1600" b="0">
                <a:solidFill>
                  <a:srgbClr val="333333"/>
                </a:solidFill>
              </a:rPr>
              <a:t>▸ Profile 6 — Plastics Recycling + Value-Added Packaging (Plastics)</a:t>
            </a:r>
          </a:p>
          <a:p>
            <a:pPr/>
            <a:r>
              <a:rPr sz="1600" b="0">
                <a:solidFill>
                  <a:srgbClr val="333333"/>
                </a:solidFill>
              </a:rPr>
              <a:t>•  Business case: ~150,000 t/yr plastics imported; packaging imports (HS 3923) USD 37.1m (2024); 600 t/day waste, &lt;40% collected. Recycling substitutes resin imports; value-added packaging substitutes finished imports; both align with the 2025 circularity policy.</a:t>
            </a:r>
          </a:p>
          <a:p>
            <a:pPr/>
            <a:r>
              <a:rPr sz="1600" b="0">
                <a:solidFill>
                  <a:srgbClr val="333333"/>
                </a:solidFill>
              </a:rPr>
              <a:t>•  Modality: Private-led (EPR framework). Indicative CAPEX: USD 30–80m. High alignment with policy direction.</a:t>
            </a:r>
          </a:p>
          <a:p>
            <a:pPr/>
            <a:r>
              <a:rPr sz="1600" b="0">
                <a:solidFill>
                  <a:srgbClr val="333333"/>
                </a:solidFill>
              </a:rPr>
              <a:t>▸ Profile 7 — Clinker Capacity Build-out (Cement)</a:t>
            </a:r>
          </a:p>
          <a:p>
            <a:pPr/>
            <a:r>
              <a:rPr sz="1600" b="0">
                <a:solidFill>
                  <a:srgbClr val="333333"/>
                </a:solidFill>
              </a:rPr>
              <a:t>•  Business case: &gt;50% of clinker imported; cement/clinker imports (HS 2523) USD 162.2m (2024) against USD 86.0m exports. Domestic clinker closes the gap and secures feedstock for grinders.</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11.3 Project Profiles (Priority Products Only)</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Anchors: USD 300m NE plant; West International USD 200m Buikwe plant.</a:t>
            </a:r>
          </a:p>
          <a:p>
            <a:pPr/>
            <a:r>
              <a:rPr sz="1600" b="0">
                <a:solidFill>
                  <a:srgbClr val="333333"/>
                </a:solidFill>
              </a:rPr>
              <a:t>•  Modality: Private-led. Indicative CAPEX: USD 200–300m+. Key risk: energy cost. Mitigation: energy agreements, alternative fuels.</a:t>
            </a:r>
          </a:p>
          <a:p>
            <a:pPr/>
            <a:r>
              <a:rPr sz="1600" b="0">
                <a:solidFill>
                  <a:srgbClr val="333333"/>
                </a:solidFill>
              </a:rPr>
              <a:t>▸ Profile 8 — Higher-Value Building Materials (Cement)</a:t>
            </a:r>
          </a:p>
          <a:p>
            <a:pPr/>
            <a:r>
              <a:rPr sz="1600" b="0">
                <a:solidFill>
                  <a:srgbClr val="333333"/>
                </a:solidFill>
              </a:rPr>
              <a:t>•  Business case: Fibre-cement, tiles, and precast add value and substitute construction-material imports.</a:t>
            </a:r>
          </a:p>
          <a:p>
            <a:pPr/>
            <a:r>
              <a:rPr sz="1600" b="0">
                <a:solidFill>
                  <a:srgbClr val="333333"/>
                </a:solidFill>
              </a:rPr>
              <a:t>•  Modality: Private-led. Indicative CAPEX: USD 20–60m.</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11.4 Implementation Roadmap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274320" y="1188720"/>
          <a:ext cx="12188950" cy="5394960"/>
        </p:xfrm>
        <a:graphic>
          <a:graphicData uri="http://schemas.openxmlformats.org/drawingml/2006/table">
            <a:tbl>
              <a:tblPr firstRow="1" bandRow="1">
                <a:tableStyleId>{5C22544A-7EE6-4342-B048-85BDC9FD1C3A}</a:tableStyleId>
              </a:tblPr>
              <a:tblGrid>
                <a:gridCol w="2437790"/>
                <a:gridCol w="2437790"/>
                <a:gridCol w="2437790"/>
                <a:gridCol w="2437790"/>
                <a:gridCol w="2437790"/>
              </a:tblGrid>
              <a:tr h="1348740">
                <a:tc>
                  <a:txBody>
                    <a:bodyPr/>
                    <a:lstStyle/>
                    <a:p>
                      <a:pPr algn="l"/>
                      <a:r>
                        <a:rPr sz="1300" b="1">
                          <a:solidFill>
                            <a:srgbClr val="FFFFFF"/>
                          </a:solidFill>
                        </a:rPr>
                        <a:t>Horizon</a:t>
                      </a:r>
                    </a:p>
                  </a:txBody>
                  <a:tcPr>
                    <a:solidFill>
                      <a:srgbClr val="002B5B"/>
                    </a:solidFill>
                  </a:tcPr>
                </a:tc>
                <a:tc>
                  <a:txBody>
                    <a:bodyPr/>
                    <a:lstStyle/>
                    <a:p>
                      <a:pPr algn="l"/>
                      <a:r>
                        <a:rPr sz="1300" b="1">
                          <a:solidFill>
                            <a:srgbClr val="FFFFFF"/>
                          </a:solidFill>
                        </a:rPr>
                        <a:t>Agro-processing (Textiles, Sugar)</a:t>
                      </a:r>
                    </a:p>
                  </a:txBody>
                  <a:tcPr>
                    <a:solidFill>
                      <a:srgbClr val="002B5B"/>
                    </a:solidFill>
                  </a:tcPr>
                </a:tc>
                <a:tc>
                  <a:txBody>
                    <a:bodyPr/>
                    <a:lstStyle/>
                    <a:p>
                      <a:pPr algn="l"/>
                      <a:r>
                        <a:rPr sz="1300" b="1">
                          <a:solidFill>
                            <a:srgbClr val="FFFFFF"/>
                          </a:solidFill>
                        </a:rPr>
                        <a:t>Health &amp; Inputs (Pharma, Fertilizer)</a:t>
                      </a:r>
                    </a:p>
                  </a:txBody>
                  <a:tcPr>
                    <a:solidFill>
                      <a:srgbClr val="002B5B"/>
                    </a:solidFill>
                  </a:tcPr>
                </a:tc>
                <a:tc>
                  <a:txBody>
                    <a:bodyPr/>
                    <a:lstStyle/>
                    <a:p>
                      <a:pPr algn="l"/>
                      <a:r>
                        <a:rPr sz="1300" b="1">
                          <a:solidFill>
                            <a:srgbClr val="FFFFFF"/>
                          </a:solidFill>
                        </a:rPr>
                        <a:t>Construction-linked (Cement, Plastics)</a:t>
                      </a:r>
                    </a:p>
                  </a:txBody>
                  <a:tcPr>
                    <a:solidFill>
                      <a:srgbClr val="002B5B"/>
                    </a:solidFill>
                  </a:tcPr>
                </a:tc>
                <a:tc>
                  <a:txBody>
                    <a:bodyPr/>
                    <a:lstStyle/>
                    <a:p>
                      <a:pPr algn="l"/>
                      <a:r>
                        <a:rPr sz="1300" b="1">
                          <a:solidFill>
                            <a:srgbClr val="FFFFFF"/>
                          </a:solidFill>
                        </a:rPr>
                        <a:t>Petrochemicals</a:t>
                      </a:r>
                    </a:p>
                  </a:txBody>
                  <a:tcPr>
                    <a:solidFill>
                      <a:srgbClr val="002B5B"/>
                    </a:solidFill>
                  </a:tcPr>
                </a:tc>
              </a:tr>
              <a:tr h="1348740">
                <a:tc>
                  <a:txBody>
                    <a:bodyPr/>
                    <a:lstStyle/>
                    <a:p>
                      <a:pPr algn="l"/>
                      <a:r>
                        <a:rPr sz="1200" b="0">
                          <a:solidFill>
                            <a:srgbClr val="333333"/>
                          </a:solidFill>
                        </a:rPr>
                        <a:t>**Year 1 (quick wins)**</a:t>
                      </a:r>
                    </a:p>
                  </a:txBody>
                  <a:tcPr>
                    <a:solidFill>
                      <a:srgbClr val="D6E8F7"/>
                    </a:solidFill>
                  </a:tcPr>
                </a:tc>
                <a:tc>
                  <a:txBody>
                    <a:bodyPr/>
                    <a:lstStyle/>
                    <a:p>
                      <a:pPr algn="l"/>
                      <a:r>
                        <a:rPr sz="1200" b="0">
                          <a:solidFill>
                            <a:srgbClr val="333333"/>
                          </a:solidFill>
                        </a:rPr>
                        <a:t>Uniform procurement; cotton agronomy; sugar licensing discipline + ethanol mandate</a:t>
                      </a:r>
                    </a:p>
                  </a:txBody>
                  <a:tcPr>
                    <a:solidFill>
                      <a:srgbClr val="D6E8F7"/>
                    </a:solidFill>
                  </a:tcPr>
                </a:tc>
                <a:tc>
                  <a:txBody>
                    <a:bodyPr/>
                    <a:lstStyle/>
                    <a:p>
                      <a:pPr algn="l"/>
                      <a:r>
                        <a:rPr sz="1200" b="0">
                          <a:solidFill>
                            <a:srgbClr val="333333"/>
                          </a:solidFill>
                        </a:rPr>
                        <a:t>NMS/JMS local-medicine procurement; resolve Sukulu; fertilizer quality enforcement</a:t>
                      </a:r>
                    </a:p>
                  </a:txBody>
                  <a:tcPr>
                    <a:solidFill>
                      <a:srgbClr val="D6E8F7"/>
                    </a:solidFill>
                  </a:tcPr>
                </a:tc>
                <a:tc>
                  <a:txBody>
                    <a:bodyPr/>
                    <a:lstStyle/>
                    <a:p>
                      <a:pPr algn="l"/>
                      <a:r>
                        <a:rPr sz="1200" b="0">
                          <a:solidFill>
                            <a:srgbClr val="333333"/>
                          </a:solidFill>
                        </a:rPr>
                        <a:t>UNBS enforcement; support new clinker plants; phased single-use-bag rules</a:t>
                      </a:r>
                    </a:p>
                  </a:txBody>
                  <a:tcPr>
                    <a:solidFill>
                      <a:srgbClr val="D6E8F7"/>
                    </a:solidFill>
                  </a:tcPr>
                </a:tc>
                <a:tc>
                  <a:txBody>
                    <a:bodyPr/>
                    <a:lstStyle/>
                    <a:p>
                      <a:pPr algn="l"/>
                      <a:r>
                        <a:rPr sz="1200" b="0">
                          <a:solidFill>
                            <a:srgbClr val="333333"/>
                          </a:solidFill>
                        </a:rPr>
                        <a:t>Park readiness planning</a:t>
                      </a:r>
                    </a:p>
                  </a:txBody>
                  <a:tcPr>
                    <a:solidFill>
                      <a:srgbClr val="D6E8F7"/>
                    </a:solidFill>
                  </a:tcPr>
                </a:tc>
              </a:tr>
              <a:tr h="1348740">
                <a:tc>
                  <a:txBody>
                    <a:bodyPr/>
                    <a:lstStyle/>
                    <a:p>
                      <a:pPr algn="l"/>
                      <a:r>
                        <a:rPr sz="1200" b="0">
                          <a:solidFill>
                            <a:srgbClr val="333333"/>
                          </a:solidFill>
                        </a:rPr>
                        <a:t>**Years 2–3 (reforms + first capital)**</a:t>
                      </a:r>
                    </a:p>
                  </a:txBody>
                  <a:tcPr>
                    <a:solidFill>
                      <a:srgbClr val="FFFFFF"/>
                    </a:solidFill>
                  </a:tcPr>
                </a:tc>
                <a:tc>
                  <a:txBody>
                    <a:bodyPr/>
                    <a:lstStyle/>
                    <a:p>
                      <a:pPr algn="l"/>
                      <a:r>
                        <a:rPr sz="1200" b="0">
                          <a:solidFill>
                            <a:srgbClr val="333333"/>
                          </a:solidFill>
                        </a:rPr>
                        <a:t>Wet-processing/effluent infra; textile &amp; food-tech skills</a:t>
                      </a:r>
                    </a:p>
                  </a:txBody>
                  <a:tcPr>
                    <a:solidFill>
                      <a:srgbClr val="FFFFFF"/>
                    </a:solidFill>
                  </a:tcPr>
                </a:tc>
                <a:tc>
                  <a:txBody>
                    <a:bodyPr/>
                    <a:lstStyle/>
                    <a:p>
                      <a:pPr algn="l"/>
                      <a:r>
                        <a:rPr sz="1200" b="0">
                          <a:solidFill>
                            <a:srgbClr val="333333"/>
                          </a:solidFill>
                        </a:rPr>
                        <a:t>GMP-upgrade fund; fertilizer strategy/subsidy</a:t>
                      </a:r>
                    </a:p>
                  </a:txBody>
                  <a:tcPr>
                    <a:solidFill>
                      <a:srgbClr val="FFFFFF"/>
                    </a:solidFill>
                  </a:tcPr>
                </a:tc>
                <a:tc>
                  <a:txBody>
                    <a:bodyPr/>
                    <a:lstStyle/>
                    <a:p>
                      <a:pPr algn="l"/>
                      <a:r>
                        <a:rPr sz="1200" b="0">
                          <a:solidFill>
                            <a:srgbClr val="333333"/>
                          </a:solidFill>
                        </a:rPr>
                        <a:t>EPR &amp; recycling framework; energy agreements for clinker</a:t>
                      </a:r>
                    </a:p>
                  </a:txBody>
                  <a:tcPr>
                    <a:solidFill>
                      <a:srgbClr val="FFFFFF"/>
                    </a:solidFill>
                  </a:tcPr>
                </a:tc>
                <a:tc>
                  <a:txBody>
                    <a:bodyPr/>
                    <a:lstStyle/>
                    <a:p>
                      <a:pPr algn="l"/>
                      <a:r>
                        <a:rPr sz="1200" b="0">
                          <a:solidFill>
                            <a:srgbClr val="333333"/>
                          </a:solidFill>
                        </a:rPr>
                        <a:t>Downstream linkage prep</a:t>
                      </a:r>
                    </a:p>
                  </a:txBody>
                  <a:tcPr>
                    <a:solidFill>
                      <a:srgbClr val="FFFFFF"/>
                    </a:solidFill>
                  </a:tcPr>
                </a:tc>
              </a:tr>
              <a:tr h="1348740">
                <a:tc>
                  <a:txBody>
                    <a:bodyPr/>
                    <a:lstStyle/>
                    <a:p>
                      <a:pPr algn="l"/>
                      <a:r>
                        <a:rPr sz="1200" b="0">
                          <a:solidFill>
                            <a:srgbClr val="333333"/>
                          </a:solidFill>
                        </a:rPr>
                        <a:t>**Years 4–5 (major investment)**</a:t>
                      </a:r>
                    </a:p>
                  </a:txBody>
                  <a:tcPr>
                    <a:solidFill>
                      <a:srgbClr val="D6E8F7"/>
                    </a:solidFill>
                  </a:tcPr>
                </a:tc>
                <a:tc>
                  <a:txBody>
                    <a:bodyPr/>
                    <a:lstStyle/>
                    <a:p>
                      <a:pPr algn="l"/>
                      <a:r>
                        <a:rPr sz="1200" b="0">
                          <a:solidFill>
                            <a:srgbClr val="333333"/>
                          </a:solidFill>
                        </a:rPr>
                        <a:t>Spinning/weaving + garment park; industrial sugar/ethanol/co-gen</a:t>
                      </a:r>
                    </a:p>
                  </a:txBody>
                  <a:tcPr>
                    <a:solidFill>
                      <a:srgbClr val="D6E8F7"/>
                    </a:solidFill>
                  </a:tcPr>
                </a:tc>
                <a:tc>
                  <a:txBody>
                    <a:bodyPr/>
                    <a:lstStyle/>
                    <a:p>
                      <a:pPr algn="l"/>
                      <a:r>
                        <a:rPr sz="1200" b="0">
                          <a:solidFill>
                            <a:srgbClr val="333333"/>
                          </a:solidFill>
                        </a:rPr>
                        <a:t>GMP generics expansion; phosphate/blending capacity</a:t>
                      </a:r>
                    </a:p>
                  </a:txBody>
                  <a:tcPr>
                    <a:solidFill>
                      <a:srgbClr val="D6E8F7"/>
                    </a:solidFill>
                  </a:tcPr>
                </a:tc>
                <a:tc>
                  <a:txBody>
                    <a:bodyPr/>
                    <a:lstStyle/>
                    <a:p>
                      <a:pPr algn="l"/>
                      <a:r>
                        <a:rPr sz="1200" b="0">
                          <a:solidFill>
                            <a:srgbClr val="333333"/>
                          </a:solidFill>
                        </a:rPr>
                        <a:t>Clinker build-out; recycling &amp; packaging; building materials</a:t>
                      </a:r>
                    </a:p>
                  </a:txBody>
                  <a:tcPr>
                    <a:solidFill>
                      <a:srgbClr val="D6E8F7"/>
                    </a:solidFill>
                  </a:tcPr>
                </a:tc>
                <a:tc>
                  <a:txBody>
                    <a:bodyPr/>
                    <a:lstStyle/>
                    <a:p>
                      <a:pPr algn="l"/>
                      <a:r>
                        <a:rPr sz="1200" b="0">
                          <a:solidFill>
                            <a:srgbClr val="333333"/>
                          </a:solidFill>
                        </a:rPr>
                        <a:t>Refinery + petrochemical park commissioning</a:t>
                      </a:r>
                    </a:p>
                  </a:txBody>
                  <a:tcPr>
                    <a:solidFill>
                      <a:srgbClr val="D6E8F7"/>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11.4 Implementation Roadmap</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Sequencing principle. Quick wins are policy and procurement (low cost, high signal). Years 2–3 build standards, skills, finance, and infrastructure. Years 4–5 are the major capital builds — with the refinery/petrochemical park as the medium-term feedstock anchor that should pull plastics and fertilizer investment into its orbit.</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11.5 Indicative Portfolio Total</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Excluding the investor-financed refinery (~USD 4bn, separately anchored), the seven other priority investments represent an indicative total in the order of USD 0.6–1.3 billion over five years, the majority private-led, with public/PPP support concentrated in standards, skills, effluent/circular-economy infrastructure, blended finance, and guaranteed procurement. All figures are indicative and require feasibility confirmation.</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685800"/>
          </a:xfrm>
          <a:prstGeom prst="rect">
            <a:avLst/>
          </a:prstGeom>
          <a:noFill/>
        </p:spPr>
        <p:txBody>
          <a:bodyPr wrap="square">
            <a:spAutoFit/>
          </a:bodyPr>
          <a:lstStyle/>
          <a:p>
            <a:pPr algn="l"/>
            <a:r>
              <a:rPr sz="2400" b="1" i="0">
                <a:solidFill>
                  <a:srgbClr val="FFFFFF"/>
                </a:solidFill>
              </a:rPr>
              <a:t>Chapter 11 — References</a:t>
            </a:r>
          </a:p>
        </p:txBody>
      </p:sp>
      <p:sp>
        <p:nvSpPr>
          <p:cNvPr id="5" name="Rectangle 4"/>
          <p:cNvSpPr/>
          <p:nvPr/>
        </p:nvSpPr>
        <p:spPr>
          <a:xfrm>
            <a:off x="0" y="1005840"/>
            <a:ext cx="12188952" cy="45720"/>
          </a:xfrm>
          <a:prstGeom prst="rect">
            <a:avLst/>
          </a:prstGeom>
          <a:solidFill>
            <a:srgbClr val="00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11430000" cy="5303520"/>
          </a:xfrm>
          <a:prstGeom prst="rect">
            <a:avLst/>
          </a:prstGeom>
          <a:noFill/>
        </p:spPr>
        <p:txBody>
          <a:bodyPr wrap="square">
            <a:spAutoFit/>
          </a:bodyPr>
          <a:lstStyle/>
          <a:p>
            <a:pPr/>
            <a:r>
              <a:rPr sz="1600" b="0">
                <a:solidFill>
                  <a:srgbClr val="333333"/>
                </a:solidFill>
              </a:rPr>
              <a:t>•  ITC TradeMap, trade statistics (2024). https://www.trademap.org</a:t>
            </a:r>
          </a:p>
          <a:p>
            <a:pPr/>
            <a:r>
              <a:rPr sz="1600" b="0">
                <a:solidFill>
                  <a:srgbClr val="333333"/>
                </a:solidFill>
              </a:rPr>
              <a:t>•  UNOC; Petroleum Authority of Uganda — refinery project. https://www.unoc.co.ug/midstream/the-uganda-refinery-project/ ; https://www.pau.go.ug/the-uganda-refinery-project/</a:t>
            </a:r>
          </a:p>
          <a:p>
            <a:pPr/>
            <a:r>
              <a:rPr sz="1600" b="0">
                <a:solidFill>
                  <a:srgbClr val="333333"/>
                </a:solidFill>
              </a:rPr>
              <a:t>•  Ecofin Agency; CemNet — new cement plants (2024–25). https://www.cemnet.com/News/story/181356/uganda-launching-us-300m-cement-plant-to-boost-industry.html</a:t>
            </a:r>
          </a:p>
          <a:p>
            <a:pPr/>
            <a:r>
              <a:rPr sz="1600" b="0">
                <a:solidFill>
                  <a:srgbClr val="333333"/>
                </a:solidFill>
              </a:rPr>
              <a:t>•  Quality Chemical Industries Limited / Cipla Uganda. https://en.wikipedia.org/wiki/Quality_Chemical_Industries_Limited</a:t>
            </a:r>
          </a:p>
          <a:p>
            <a:pPr/>
            <a:r>
              <a:rPr sz="1600" b="0">
                <a:solidFill>
                  <a:srgbClr val="333333"/>
                </a:solidFill>
              </a:rPr>
              <a:t>•  Cotton Development Organisation; EPRC cotton value-chain study. https://eprcug.org/</a:t>
            </a:r>
          </a:p>
          <a:p>
            <a:pPr/>
            <a:r>
              <a:rPr sz="1600" b="0">
                <a:solidFill>
                  <a:srgbClr val="333333"/>
                </a:solidFill>
              </a:rPr>
              <a:t>•  NEMA, Plastics Circularity Strategy 2023–2028. https://www.nema.go.ug/</a:t>
            </a:r>
          </a:p>
          <a:p>
            <a:pPr/>
            <a:r>
              <a:rPr sz="1600" b="0">
                <a:solidFill>
                  <a:srgbClr val="333333"/>
                </a:solidFill>
              </a:rPr>
              <a:t>•  Uganda Investment Authority. https://ugandainvest.go.ug/</a:t>
            </a:r>
          </a:p>
        </p:txBody>
      </p:sp>
      <p:sp>
        <p:nvSpPr>
          <p:cNvPr id="7" name="Rectangle 6"/>
          <p:cNvSpPr/>
          <p:nvPr/>
        </p:nvSpPr>
        <p:spPr>
          <a:xfrm>
            <a:off x="0" y="6629400"/>
            <a:ext cx="12188952" cy="27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