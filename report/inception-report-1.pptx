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73152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8F7"/>
                </a:solidFill>
              </a:rPr>
              <a:t>MINISTRY OF TRADE, INDUSTRY AND COOPERATIVES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8F7"/>
                </a:solidFill>
              </a:rPr>
              <a:t>Uganda-UNIDO Programme for Country Partnership (PCP)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Inception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6E8F7"/>
                </a:solidFill>
              </a:rPr>
              <a:t>Iron &amp; Steel  ·  Copper &amp; Allied Metals  ·  Automotive Value Chains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  1.  Iron &amp; Steel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87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  2.  Copper &amp; Allied Metals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35424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  3.  Automotives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Solomon Ariho  |  27 May 2026  |  Draft — for TWG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Introduction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Study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>
                <a:solidFill>
                  <a:srgbClr val="333333"/>
                </a:solidFill>
              </a:rPr>
              <a:t>This Inception Report covers three priority value chains designated under NDP IV: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  1.  Iron &amp; Steel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2.  Copper &amp; Allied Metals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3.  Automotives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Together, these chains represent Uganda's most significant opportunity for mineral-based industrialization —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anchored in the country's iron ore and copper resource endowments and the strategic push toward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domestic vehicle manufacturing through Kiira Motors Corporation.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This document sets out the study design and workplan, diagnostic framework, data plan,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stakeholder consultation approach, and prioritization methodology.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12188952" cy="27432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Study Design &amp; Workplan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Report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88720"/>
          <a:ext cx="109728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875520"/>
              </a:tblGrid>
              <a:tr h="5994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Chapter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Title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</a:tr>
              <a:tr h="5994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Executive Summary (written last)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5994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Background and Policy 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94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Methodology and Analytical Framework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5994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Iron &amp; Steel Value 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94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Copper &amp; Allied Metals Value Chain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5994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Automotive Value 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94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Cross-Cutting Priority Actions and Policy Recommendations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5994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Investment Portfolio and Implementation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Workplan and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88720"/>
          <a:ext cx="114300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0"/>
                <a:gridCol w="2743200"/>
              </a:tblGrid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Target Date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Inception Report submitted for TWG review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29 May 2026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TWG approval of Inception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31 May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Chapter 2: Background and Policy Context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31 May 2026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Chapter 3: Methodology and Analytical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1 June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Chapter 4: Iron &amp; Steel — draft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2 June 2026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Chapter 5: Copper &amp; Allied Metals — draft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3 June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Chapter 6: Automotive — draft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4 June 2026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Chapter 7: Cross-cutting recommendations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5 June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Chapter 8: Investment portfolio and roadmap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6 June 2026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Chapter 1: Executive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7 June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Final report submitted to MTIC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8 June 2026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Schedule — Gantt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51760" y="1216152"/>
            <a:ext cx="928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May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79876" y="1216152"/>
            <a:ext cx="928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May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7992" y="1216152"/>
            <a:ext cx="928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Jun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36108" y="1216152"/>
            <a:ext cx="928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Jun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4224" y="1216152"/>
            <a:ext cx="928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Jun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2340" y="1216152"/>
            <a:ext cx="928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Jun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6" y="1216152"/>
            <a:ext cx="928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Jun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8572" y="1216152"/>
            <a:ext cx="928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Jun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76688" y="1216152"/>
            <a:ext cx="928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Jun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4804" y="1216152"/>
            <a:ext cx="928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66666"/>
                </a:solidFill>
              </a:rPr>
              <a:t>Jun 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79876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7992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36108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64224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92340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0456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8572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76688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04804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932920" y="1417320"/>
            <a:ext cx="7315" cy="5257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1417320"/>
            <a:ext cx="11704320" cy="477981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1435608"/>
            <a:ext cx="2331720" cy="441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Inception Report draft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07446" y="1503356"/>
            <a:ext cx="816742" cy="305908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1913589"/>
            <a:ext cx="2331720" cy="441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TWG approval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07446" y="1981338"/>
            <a:ext cx="816742" cy="305908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" y="2373283"/>
            <a:ext cx="11704320" cy="477981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2391571"/>
            <a:ext cx="2331720" cy="441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Ch2 Background &amp; Policy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35562" y="2459320"/>
            <a:ext cx="816742" cy="305908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2869553"/>
            <a:ext cx="2331720" cy="441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Ch3 Methodology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63678" y="2937302"/>
            <a:ext cx="816742" cy="305908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8600" y="3329247"/>
            <a:ext cx="11704320" cy="477981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3347535"/>
            <a:ext cx="2331720" cy="441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Ch4 Iron &amp; Steel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91794" y="3415283"/>
            <a:ext cx="816742" cy="305908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3825517"/>
            <a:ext cx="2331720" cy="441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Ch5 Copper &amp; Allied Metals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19910" y="3893265"/>
            <a:ext cx="816742" cy="305908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8600" y="4285210"/>
            <a:ext cx="11704320" cy="477981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4303498"/>
            <a:ext cx="2331720" cy="441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Ch6 Automotive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48026" y="4371247"/>
            <a:ext cx="816742" cy="305908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4781480"/>
            <a:ext cx="2331720" cy="441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Ch7 Cross-cutting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76142" y="4849229"/>
            <a:ext cx="816742" cy="305908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8600" y="5241174"/>
            <a:ext cx="11704320" cy="477981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5259462"/>
            <a:ext cx="2331720" cy="441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Ch8 Investment Roadmap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204258" y="5327211"/>
            <a:ext cx="816742" cy="305908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5737444"/>
            <a:ext cx="2331720" cy="441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Ch1 Executive Summary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132374" y="5805193"/>
            <a:ext cx="816742" cy="305908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8600" y="6197138"/>
            <a:ext cx="11704320" cy="477981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6215426"/>
            <a:ext cx="2331720" cy="441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Final submission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060490" y="6283174"/>
            <a:ext cx="816742" cy="305908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720840"/>
            <a:ext cx="12188952" cy="27432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Diagnostic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D6E8F7"/>
                </a:solidFill>
              </a:rPr>
              <a:t>Six-part template applied across all three chains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Analytical Framework — Six Parts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>
                <a:solidFill>
                  <a:srgbClr val="333333"/>
                </a:solidFill>
              </a:rPr>
              <a:t>Part A — Value Chain Map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    Full mapping from primary inputs to all end products. Identifies where Uganda currently participates,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    where value is lost, and where import substitution and export opportunities exist.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Part B — Current State Assessment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    Production volumes, firms, employment, capacity utilization, export and import values.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Part C — Binding Constraints Analysis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    Ten dimensions: inputs, technology, energy, water, logistics, waste management,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    finance, skills, standards, and policy/regulatory environment.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Part D — Market Assessment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    Domestic, regional (EAC/COMESA), and global markets.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Part E — Prioritized Products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    3–4 products per chain selected via the scoring framework. Explicit deprioritization with rationale.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Part F — Priority Action Matrix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    Quick wins (0–12 months) · Policy reforms (1–3 years) · Investment interventions (3–5 years)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12188952" cy="27432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Data Plan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Primary Data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88720"/>
          <a:ext cx="1170432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0"/>
              </a:tblGrid>
              <a:tr h="13487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Value Chain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Primary Sources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</a:tr>
              <a:tr h="1348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Iron &amp; Steel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NPA/UDC Report on the Mapping and Value Chain Analysis (June 2025); KIIs with 40 steel firms, 5 mining players, 9 MDAs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1348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Copper &amp; Allied Metals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KIIs with copper wire/cable manufacturers; UNMC on Kilembe mine; MEMD on copper reserves and licenses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48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Automotives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KIIs with Kiira Motors Corporation (KMC); bus body fabricators; spare parts manufacturers; MWT on vehicle import data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Data Gaps and Mitigation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88720"/>
          <a:ext cx="118872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743200"/>
                <a:gridCol w="5029200"/>
              </a:tblGrid>
              <a:tr h="107899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Gap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Chain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Mitigation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</a:tr>
              <a:tr h="107899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Firm-level production data for copper processors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Copper &amp; Allied Metals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KIIs with UMA member firms; URA HS code trade data as proxy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107899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Copper reserve quantity and grade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Copper &amp; Allied Metals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MEMD consultation; UNMC data on Kilembe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7899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Automotive assembly and body fabrication capacity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Automotives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KIIs with KMC and private assemblers; URA vehicle import HS codes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107899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Regional copper and automotive market sizing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UN Comtrade; ITC Trade Map; African Development Bank sector reports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Stakeholder Consultation Plan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Key Informant Interviews (KIIs)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88720"/>
          <a:ext cx="118872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6858000"/>
                <a:gridCol w="2286000"/>
              </a:tblGrid>
              <a:tr h="67437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Stakeholder Category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Institutions / Firms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Chain(s)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Public sector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MTIC, UIA, URA, UBOS, UNBS, UEPB, MEMD, UNMC, KMC, MWT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All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Private sector — Iron &amp; Steel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40 steel firms, SINO Minerals, Tembo Steel, Abyssinia Iron &amp; Steel, Roofings Ltd, Steel &amp; Tube, Uganda Baati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Iron &amp; Steel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Private sector — Copper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Copper wire/cable manufacturers; scrap copper processors; construction materials importers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Copper &amp; Allied Metals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Private sector — Automotive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KMC; bus body fabricators; spare parts manufacturers and importers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Automotives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Industry associations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Uganda Manufacturers Association (UMA), Uganda Development Corporation (UDC)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All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Financiers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Uganda Development Bank (UDB), EADB, commercial banks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Research / academia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Makerere University (engineering, materials science), UIRI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All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Validation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>
                <a:solidFill>
                  <a:srgbClr val="333333"/>
                </a:solidFill>
              </a:rPr>
              <a:t>A structured stakeholder validation workshop will be held before the report is finalized.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The workshop will: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·  Present draft prioritization findings for each of the three value chains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·  Test priority product selections and action matrices against stakeholder knowledge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·  Identify material gaps or contested findings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·  Produce agreed outputs reflected in the final report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Proposed timing:         Week of 2–6 June 2026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                            (after chapter drafts are complete, before final submission)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Proposed participants: TWG members · Private sector representatives · MTIC · UIA · UNBS · UDB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                            and relevant development partners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12188952" cy="27432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Prioritization Methodology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Scoring Framework — Five Criteria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88720"/>
          <a:ext cx="1124712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377440"/>
                <a:gridCol w="7589520"/>
                <a:gridCol w="914400"/>
              </a:tblGrid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Criterion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Weight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Accessible market size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Size and growth rate of domestic, regional, and export market Uganda can realistically access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25%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Uganda's comparative advantage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Availability of raw material inputs, existing productive base, geographic proximity to key markets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Feasibility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Capital requirements, technology readiness, lead time to commercial scale, management capability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20%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Job creation and income potential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Direct and indirect employment, wage levels, upstream and downstream linkage effects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Import substitution impact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Value of current imports that domestic production could displace; current account benefit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15%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Scoring Scale and Interpretation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88720"/>
          <a:ext cx="118872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789920"/>
              </a:tblGrid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Score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>
                    <a:solidFill>
                      <a:srgbClr val="002B5B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Excellent — strong evidence of competitive advantage or large accessible market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Good — solid case with manageable constraints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Moderate — feasible but with significant constraints to address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Weak — limited advantage or small market; would require disproportionate investment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91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</a:rPr>
                        <a:t>Poor — Uganda has no realistic competitive position; not recommended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Analytical Principle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>
                <a:solidFill>
                  <a:srgbClr val="333333"/>
                </a:solidFill>
              </a:rPr>
              <a:t>Successful countries are known for three or four products.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The economies are built around those few.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Uganda must not try to do everything.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                                                                    — Jerome Nuwabaasa, MTIC</a:t>
            </a:r>
          </a:p>
          <a:p>
            <a:pPr/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Composite score = sum of (criterion score × criterion weight) across all five criteria.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  ·  Above 3.5   →   Priority product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·  2.5 – 3.5   →   Conditional priority (subject to enabling conditions)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·  Below 2.5   →   Explicitly deprioritized with rationale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The output of this study is a focused prioritization, not a catalogue.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Every chain analysis must conclude with a clear statement of what Uganda should do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— and what it should NOT do — at this stage.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12188952" cy="27432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Section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Request for TWG Approval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TWG is Requested to: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>
                <a:solidFill>
                  <a:srgbClr val="333333"/>
                </a:solidFill>
              </a:rPr>
              <a:t>1.   Confirm the study scope, diagnostic framework, and assessment templates (Section 3)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2.   Confirm or revise the prioritization criteria and weights (Section 6)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3.   Approve the workplan and timeline in Section 2,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      including the 8 June 2026 final submission deadline</a:t>
            </a:r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4.   Provide any additional guidance before chapter drafting commences</a:t>
            </a:r>
          </a:p>
          <a:p>
            <a:pPr/>
          </a:p>
          <a:p>
            <a:pPr/>
          </a:p>
          <a:p>
            <a:pPr/>
            <a:r>
              <a:rPr sz="1600" b="0">
                <a:solidFill>
                  <a:srgbClr val="333333"/>
                </a:solidFill>
              </a:rPr>
              <a:t>Upon TWG approval, chapter drafting will proceed in accordance with the workplan.</a:t>
            </a:r>
          </a:p>
          <a:p>
            <a:pPr/>
            <a:r>
              <a:rPr sz="1600" b="0">
                <a:solidFill>
                  <a:srgbClr val="333333"/>
                </a:solidFill>
              </a:rPr>
              <a:t>The TWG will be kept informed of progress and any material data gaps as they arise.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12188952" cy="27432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