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88952" cy="73152"/>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9144000" cy="457200"/>
          </a:xfrm>
          <a:prstGeom prst="rect">
            <a:avLst/>
          </a:prstGeom>
          <a:noFill/>
        </p:spPr>
        <p:txBody>
          <a:bodyPr wrap="square">
            <a:spAutoFit/>
          </a:bodyPr>
          <a:lstStyle/>
          <a:p>
            <a:pPr algn="l"/>
            <a:r>
              <a:rPr sz="1100" b="0" i="0">
                <a:solidFill>
                  <a:srgbClr val="D6E8F7"/>
                </a:solidFill>
              </a:rPr>
              <a:t>MINISTRY OF TRADE, INDUSTRY AND COOPERATIVES</a:t>
            </a:r>
          </a:p>
        </p:txBody>
      </p:sp>
      <p:sp>
        <p:nvSpPr>
          <p:cNvPr id="5" name="TextBox 4"/>
          <p:cNvSpPr txBox="1"/>
          <p:nvPr/>
        </p:nvSpPr>
        <p:spPr>
          <a:xfrm>
            <a:off x="457200" y="640080"/>
            <a:ext cx="9144000" cy="365760"/>
          </a:xfrm>
          <a:prstGeom prst="rect">
            <a:avLst/>
          </a:prstGeom>
          <a:noFill/>
        </p:spPr>
        <p:txBody>
          <a:bodyPr wrap="square">
            <a:spAutoFit/>
          </a:bodyPr>
          <a:lstStyle/>
          <a:p>
            <a:pPr algn="l"/>
            <a:r>
              <a:rPr sz="1100" b="0" i="1">
                <a:solidFill>
                  <a:srgbClr val="D6E8F7"/>
                </a:solidFill>
              </a:rPr>
              <a:t>Uganda-UNIDO Programme for Country Partnership (PCP)</a:t>
            </a:r>
          </a:p>
        </p:txBody>
      </p:sp>
      <p:sp>
        <p:nvSpPr>
          <p:cNvPr id="6" name="TextBox 5"/>
          <p:cNvSpPr txBox="1"/>
          <p:nvPr/>
        </p:nvSpPr>
        <p:spPr>
          <a:xfrm>
            <a:off x="457200" y="1371600"/>
            <a:ext cx="11247120" cy="1828800"/>
          </a:xfrm>
          <a:prstGeom prst="rect">
            <a:avLst/>
          </a:prstGeom>
          <a:noFill/>
        </p:spPr>
        <p:txBody>
          <a:bodyPr wrap="square">
            <a:spAutoFit/>
          </a:bodyPr>
          <a:lstStyle/>
          <a:p>
            <a:pPr algn="l"/>
            <a:r>
              <a:rPr sz="3600" b="1" i="0">
                <a:solidFill>
                  <a:srgbClr val="FFFFFF"/>
                </a:solidFill>
              </a:rPr>
              <a:t>Industrial Diagnostic Study — Report 1</a:t>
            </a:r>
          </a:p>
        </p:txBody>
      </p:sp>
      <p:sp>
        <p:nvSpPr>
          <p:cNvPr id="7" name="TextBox 6"/>
          <p:cNvSpPr txBox="1"/>
          <p:nvPr/>
        </p:nvSpPr>
        <p:spPr>
          <a:xfrm>
            <a:off x="457200" y="3291840"/>
            <a:ext cx="11247120" cy="548640"/>
          </a:xfrm>
          <a:prstGeom prst="rect">
            <a:avLst/>
          </a:prstGeom>
          <a:noFill/>
        </p:spPr>
        <p:txBody>
          <a:bodyPr wrap="square">
            <a:spAutoFit/>
          </a:bodyPr>
          <a:lstStyle/>
          <a:p>
            <a:pPr algn="l"/>
            <a:r>
              <a:rPr sz="1800" b="0" i="0">
                <a:solidFill>
                  <a:srgbClr val="D6E8F7"/>
                </a:solidFill>
              </a:rPr>
              <a:t>Iron &amp; Steel · Copper &amp; Allied Metals · Automotive</a:t>
            </a:r>
          </a:p>
        </p:txBody>
      </p:sp>
      <p:sp>
        <p:nvSpPr>
          <p:cNvPr id="8" name="TextBox 7"/>
          <p:cNvSpPr txBox="1"/>
          <p:nvPr/>
        </p:nvSpPr>
        <p:spPr>
          <a:xfrm>
            <a:off x="457200" y="3840480"/>
            <a:ext cx="9144000" cy="365760"/>
          </a:xfrm>
          <a:prstGeom prst="rect">
            <a:avLst/>
          </a:prstGeom>
          <a:noFill/>
        </p:spPr>
        <p:txBody>
          <a:bodyPr wrap="square">
            <a:spAutoFit/>
          </a:bodyPr>
          <a:lstStyle/>
          <a:p>
            <a:pPr algn="l"/>
            <a:r>
              <a:rPr sz="1500" b="0" i="0">
                <a:solidFill>
                  <a:srgbClr val="FFFFFF"/>
                </a:solidFill>
              </a:rPr>
              <a:t>  1.  Iron &amp; Steel</a:t>
            </a:r>
          </a:p>
        </p:txBody>
      </p:sp>
      <p:sp>
        <p:nvSpPr>
          <p:cNvPr id="9" name="TextBox 8"/>
          <p:cNvSpPr txBox="1"/>
          <p:nvPr/>
        </p:nvSpPr>
        <p:spPr>
          <a:xfrm>
            <a:off x="457200" y="4187952"/>
            <a:ext cx="9144000" cy="365760"/>
          </a:xfrm>
          <a:prstGeom prst="rect">
            <a:avLst/>
          </a:prstGeom>
          <a:noFill/>
        </p:spPr>
        <p:txBody>
          <a:bodyPr wrap="square">
            <a:spAutoFit/>
          </a:bodyPr>
          <a:lstStyle/>
          <a:p>
            <a:pPr algn="l"/>
            <a:r>
              <a:rPr sz="1500" b="0" i="0">
                <a:solidFill>
                  <a:srgbClr val="FFFFFF"/>
                </a:solidFill>
              </a:rPr>
              <a:t>  2.  Copper &amp; Allied Metals</a:t>
            </a:r>
          </a:p>
        </p:txBody>
      </p:sp>
      <p:sp>
        <p:nvSpPr>
          <p:cNvPr id="10" name="TextBox 9"/>
          <p:cNvSpPr txBox="1"/>
          <p:nvPr/>
        </p:nvSpPr>
        <p:spPr>
          <a:xfrm>
            <a:off x="457200" y="4535424"/>
            <a:ext cx="9144000" cy="365760"/>
          </a:xfrm>
          <a:prstGeom prst="rect">
            <a:avLst/>
          </a:prstGeom>
          <a:noFill/>
        </p:spPr>
        <p:txBody>
          <a:bodyPr wrap="square">
            <a:spAutoFit/>
          </a:bodyPr>
          <a:lstStyle/>
          <a:p>
            <a:pPr algn="l"/>
            <a:r>
              <a:rPr sz="1500" b="0" i="0">
                <a:solidFill>
                  <a:srgbClr val="FFFFFF"/>
                </a:solidFill>
              </a:rPr>
              <a:t>  3.  Automotive</a:t>
            </a:r>
          </a:p>
        </p:txBody>
      </p:sp>
      <p:sp>
        <p:nvSpPr>
          <p:cNvPr id="11" name="TextBox 10"/>
          <p:cNvSpPr txBox="1"/>
          <p:nvPr/>
        </p:nvSpPr>
        <p:spPr>
          <a:xfrm>
            <a:off x="457200" y="6400800"/>
            <a:ext cx="10972800" cy="365760"/>
          </a:xfrm>
          <a:prstGeom prst="rect">
            <a:avLst/>
          </a:prstGeom>
          <a:noFill/>
        </p:spPr>
        <p:txBody>
          <a:bodyPr wrap="square">
            <a:spAutoFit/>
          </a:bodyPr>
          <a:lstStyle/>
          <a:p>
            <a:pPr algn="l"/>
            <a:r>
              <a:rPr sz="1100" b="0" i="0">
                <a:solidFill>
                  <a:srgbClr val="666666"/>
                </a:solidFill>
              </a:rPr>
              <a:t>Solomon Ariho  |  27 May 2026  |  Draft — for TWG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1</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1: 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 — The purpose of this report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This diagnostic examines three of Uganda's NDP IV priority manufacturing value chains — Iron &amp; Steel, Copper &amp; Allied Metals, and Automotives — and identifies, for each, the three to four products or sub-sectors Uganda should prioritize to build competitive manufacturing at scale. It is a desk-based diagnostic, offered for validation through key informant interviews and a stakeholder workshop (see Chapter 3). All trade figures are drawn from ITC TradeMap (2024) and cited at the point of use.</a:t>
            </a:r>
          </a:p>
          <a:p>
            <a:pPr/>
            <a:r>
              <a:rPr sz="1600" b="0">
                <a:solidFill>
                  <a:srgbClr val="333333"/>
                </a:solidFill>
              </a:rPr>
              <a:t>•  The guiding principle, set by MTIC, is discipline: successful economies are built around a few products done exceptionally well, not a broad catalogue. This report therefore states not only what Uganda should pursue, but what it should not.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 — The integrating insight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three chains are not separate. They form one industrial system: mined metal → processed metal → fabricated product → vehicle. Iron and copper feed steel and cable; steel and cable feed vehicles built by Kiira Motors. The same constraints — energy, logistics, finance, feedstock policy — run through all three. Fixing them once lifts the whole system. This integrated framing is the strategic core of Report 1.</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 — What the evidence shows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Uganda's manufacturing sector contributes about 15.2% of GDP (2024) — below even the National Industrial Policy's own 2029/30 target of ~16% — at roughly 30% capacity utilization (World Bank; NIP 2020). Across all three Report 1 chains, the same pattern recurs: Uganda exports raw materials and imports the processed product, forgoing the value, jobs, and foreign exchange in between.</a:t>
            </a:r>
          </a:p>
          <a:p>
            <a:pPr/>
            <a:r>
              <a:rPr sz="1600" b="0">
                <a:solidFill>
                  <a:srgbClr val="333333"/>
                </a:solidFill>
              </a:rPr>
              <a:t>•  Iron &amp; Steel: Uganda is competitive in finished long products — exporting USD 55.8m of rebar in 2024, mostly to South Sudan and the DRC — but imports USD 219.5m of flat steel and USD 78.5m of semi-finished steel, and exports USD 35.8m of iron ore raw (ITC TradeMap, 2024). The missing middle is ironmaking and flat-rolling. Momentum is real: Tembo Steel's new DRI plant (Jan 2025) and Devki's USD 500m integrated complex (ground broken Nov 2025).</a:t>
            </a:r>
          </a:p>
          <a:p>
            <a:pPr/>
            <a:r>
              <a:rPr sz="1600" b="0">
                <a:solidFill>
                  <a:srgbClr val="333333"/>
                </a:solidFill>
              </a:rPr>
              <a:t>•  Copper &amp; Allied Metals: Uganda has a dormant world-class resource (Kilembe: 6.5m t ore at 1.77% Cu, plus cobalt) and an established cable industry (Cable Corporation, ~65% market share) that runs on imported metal. It imports USD 57.7m of insulated cable a year. The March 2025 production-sharing agreement to revive Kilembe could reopen the midstream for the first time in a generation.</a:t>
            </a:r>
          </a:p>
          <a:p>
            <a:pPr/>
            <a:r>
              <a:rPr sz="1600" b="0">
                <a:solidFill>
                  <a:srgbClr val="333333"/>
                </a:solidFill>
              </a:rPr>
              <a:t>•  Automotives: Uganda imports over USD 650m of vehicles and parts annually (~48,700 used vehicles) while having just commissioned, in September 2025, the Kiira Motors vehicle plant (2,500→10,000 vehicles/year; electric buses). The opportunity is buses/EVs, motorcycle assembly, and parts — not full car manufacture.</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 — Prioritized products (the core recommendation)</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4062984"/>
                <a:gridCol w="4062984"/>
                <a:gridCol w="4062984"/>
              </a:tblGrid>
              <a:tr h="1348740">
                <a:tc>
                  <a:txBody>
                    <a:bodyPr/>
                    <a:lstStyle/>
                    <a:p>
                      <a:pPr algn="l"/>
                      <a:r>
                        <a:rPr sz="1300" b="1">
                          <a:solidFill>
                            <a:srgbClr val="FFFFFF"/>
                          </a:solidFill>
                        </a:rPr>
                        <a:t>Chain</a:t>
                      </a:r>
                    </a:p>
                  </a:txBody>
                  <a:tcPr>
                    <a:solidFill>
                      <a:srgbClr val="002B5B"/>
                    </a:solidFill>
                  </a:tcPr>
                </a:tc>
                <a:tc>
                  <a:txBody>
                    <a:bodyPr/>
                    <a:lstStyle/>
                    <a:p>
                      <a:pPr algn="l"/>
                      <a:r>
                        <a:rPr sz="1300" b="1">
                          <a:solidFill>
                            <a:srgbClr val="FFFFFF"/>
                          </a:solidFill>
                        </a:rPr>
                        <a:t>Priorities</a:t>
                      </a:r>
                    </a:p>
                  </a:txBody>
                  <a:tcPr>
                    <a:solidFill>
                      <a:srgbClr val="002B5B"/>
                    </a:solidFill>
                  </a:tcPr>
                </a:tc>
                <a:tc>
                  <a:txBody>
                    <a:bodyPr/>
                    <a:lstStyle/>
                    <a:p>
                      <a:pPr algn="l"/>
                      <a:r>
                        <a:rPr sz="1300" b="1">
                          <a:solidFill>
                            <a:srgbClr val="FFFFFF"/>
                          </a:solidFill>
                        </a:rPr>
                        <a:t>Deprioritize (for now)</a:t>
                      </a:r>
                    </a:p>
                  </a:txBody>
                  <a:tcPr>
                    <a:solidFill>
                      <a:srgbClr val="002B5B"/>
                    </a:solidFill>
                  </a:tcPr>
                </a:tc>
              </a:tr>
              <a:tr h="1348740">
                <a:tc>
                  <a:txBody>
                    <a:bodyPr/>
                    <a:lstStyle/>
                    <a:p>
                      <a:pPr algn="l"/>
                      <a:r>
                        <a:rPr sz="1200" b="0">
                          <a:solidFill>
                            <a:srgbClr val="333333"/>
                          </a:solidFill>
                        </a:rPr>
                        <a:t>**Iron &amp; Steel**</a:t>
                      </a:r>
                    </a:p>
                  </a:txBody>
                  <a:tcPr>
                    <a:solidFill>
                      <a:srgbClr val="D6E8F7"/>
                    </a:solidFill>
                  </a:tcPr>
                </a:tc>
                <a:tc>
                  <a:txBody>
                    <a:bodyPr/>
                    <a:lstStyle/>
                    <a:p>
                      <a:pPr algn="l"/>
                      <a:r>
                        <a:rPr sz="1200" b="0">
                          <a:solidFill>
                            <a:srgbClr val="333333"/>
                          </a:solidFill>
                        </a:rPr>
                        <a:t>(1) Ironmaking/DRI on domestic ore; (2) Flat-steel production; (3) Long products (defend &amp; expand); (4) Iron-ore mining &amp; beneficiation</a:t>
                      </a:r>
                    </a:p>
                  </a:txBody>
                  <a:tcPr>
                    <a:solidFill>
                      <a:srgbClr val="D6E8F7"/>
                    </a:solidFill>
                  </a:tcPr>
                </a:tc>
                <a:tc>
                  <a:txBody>
                    <a:bodyPr/>
                    <a:lstStyle/>
                    <a:p>
                      <a:pPr algn="l"/>
                      <a:r>
                        <a:rPr sz="1200" b="0">
                          <a:solidFill>
                            <a:srgbClr val="333333"/>
                          </a:solidFill>
                        </a:rPr>
                        <a:t>Specialty/alloy steels; commodity flat-steel for global export</a:t>
                      </a:r>
                    </a:p>
                  </a:txBody>
                  <a:tcPr>
                    <a:solidFill>
                      <a:srgbClr val="D6E8F7"/>
                    </a:solidFill>
                  </a:tcPr>
                </a:tc>
              </a:tr>
              <a:tr h="1348740">
                <a:tc>
                  <a:txBody>
                    <a:bodyPr/>
                    <a:lstStyle/>
                    <a:p>
                      <a:pPr algn="l"/>
                      <a:r>
                        <a:rPr sz="1200" b="0">
                          <a:solidFill>
                            <a:srgbClr val="333333"/>
                          </a:solidFill>
                        </a:rPr>
                        <a:t>**Copper**</a:t>
                      </a:r>
                    </a:p>
                  </a:txBody>
                  <a:tcPr>
                    <a:solidFill>
                      <a:srgbClr val="FFFFFF"/>
                    </a:solidFill>
                  </a:tcPr>
                </a:tc>
                <a:tc>
                  <a:txBody>
                    <a:bodyPr/>
                    <a:lstStyle/>
                    <a:p>
                      <a:pPr algn="l"/>
                      <a:r>
                        <a:rPr sz="1200" b="0">
                          <a:solidFill>
                            <a:srgbClr val="333333"/>
                          </a:solidFill>
                        </a:rPr>
                        <a:t>(1) Insulated wire &amp; cable; (2) Kilembe cathode &amp; cobalt; (3) Copper wire-rod/semi-fabrication</a:t>
                      </a:r>
                    </a:p>
                  </a:txBody>
                  <a:tcPr>
                    <a:solidFill>
                      <a:srgbClr val="FFFFFF"/>
                    </a:solidFill>
                  </a:tcPr>
                </a:tc>
                <a:tc>
                  <a:txBody>
                    <a:bodyPr/>
                    <a:lstStyle/>
                    <a:p>
                      <a:pPr algn="l"/>
                      <a:r>
                        <a:rPr sz="1200" b="0">
                          <a:solidFill>
                            <a:srgbClr val="333333"/>
                          </a:solidFill>
                        </a:rPr>
                        <a:t>Greenfield primary smelting for global cathode export</a:t>
                      </a:r>
                    </a:p>
                  </a:txBody>
                  <a:tcPr>
                    <a:solidFill>
                      <a:srgbClr val="FFFFFF"/>
                    </a:solidFill>
                  </a:tcPr>
                </a:tc>
              </a:tr>
              <a:tr h="1348740">
                <a:tc>
                  <a:txBody>
                    <a:bodyPr/>
                    <a:lstStyle/>
                    <a:p>
                      <a:pPr algn="l"/>
                      <a:r>
                        <a:rPr sz="1200" b="0">
                          <a:solidFill>
                            <a:srgbClr val="333333"/>
                          </a:solidFill>
                        </a:rPr>
                        <a:t>**Automotive**</a:t>
                      </a:r>
                    </a:p>
                  </a:txBody>
                  <a:tcPr>
                    <a:solidFill>
                      <a:srgbClr val="D6E8F7"/>
                    </a:solidFill>
                  </a:tcPr>
                </a:tc>
                <a:tc>
                  <a:txBody>
                    <a:bodyPr/>
                    <a:lstStyle/>
                    <a:p>
                      <a:pPr algn="l"/>
                      <a:r>
                        <a:rPr sz="1200" b="0">
                          <a:solidFill>
                            <a:srgbClr val="333333"/>
                          </a:solidFill>
                        </a:rPr>
                        <a:t>(1) Buses/EV buses (KMC anchor); (2) Motorcycle CKD assembly; (3) Spare-parts localisation</a:t>
                      </a:r>
                    </a:p>
                  </a:txBody>
                  <a:tcPr>
                    <a:solidFill>
                      <a:srgbClr val="D6E8F7"/>
                    </a:solidFill>
                  </a:tcPr>
                </a:tc>
                <a:tc>
                  <a:txBody>
                    <a:bodyPr/>
                    <a:lstStyle/>
                    <a:p>
                      <a:pPr algn="l"/>
                      <a:r>
                        <a:rPr sz="1200" b="0">
                          <a:solidFill>
                            <a:srgbClr val="333333"/>
                          </a:solidFill>
                        </a:rPr>
                        <a:t>Full ground-up passenger-car manufacture (CKD assembly conditional)</a:t>
                      </a:r>
                    </a:p>
                  </a:txBody>
                  <a:tcPr>
                    <a:solidFill>
                      <a:srgbClr val="D6E8F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 — The six cross-cutting actions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1. Retain and process minerals domestically — tax/restrict raw-ore exports; prioritise beneficiation. (Highest-leverage single action.)</a:t>
            </a:r>
          </a:p>
          <a:p>
            <a:pPr/>
            <a:r>
              <a:rPr sz="1600" b="0">
                <a:solidFill>
                  <a:srgbClr val="333333"/>
                </a:solidFill>
              </a:rPr>
              <a:t>2. Build serviced industrial parks with reliable power for metals and automotive clusters.</a:t>
            </a:r>
          </a:p>
          <a:p>
            <a:pPr/>
            <a:r>
              <a:rPr sz="1600" b="0">
                <a:solidFill>
                  <a:srgbClr val="333333"/>
                </a:solidFill>
              </a:rPr>
              <a:t>3. Create a long-term industrial-finance facility to overcome the capital constraint (2025 liquidity tightening has crowded out private credit).</a:t>
            </a:r>
          </a:p>
          <a:p>
            <a:pPr/>
            <a:r>
              <a:rPr sz="1600" b="0">
                <a:solidFill>
                  <a:srgbClr val="333333"/>
                </a:solidFill>
              </a:rPr>
              <a:t>4. Enforce UNBS standards on steel and cable imports. (Quick win.)</a:t>
            </a:r>
          </a:p>
          <a:p>
            <a:pPr/>
            <a:r>
              <a:rPr sz="1600" b="0">
                <a:solidFill>
                  <a:srgbClr val="333333"/>
                </a:solidFill>
              </a:rPr>
              <a:t>5. Launch a metals/automotive/EV skills compact (68% of manufacturers cannot find needed technical skills).</a:t>
            </a:r>
          </a:p>
          <a:p>
            <a:pPr/>
            <a:r>
              <a:rPr sz="1600" b="0">
                <a:solidFill>
                  <a:srgbClr val="333333"/>
                </a:solidFill>
              </a:rPr>
              <a:t>6. Anchor demand through public procurement — infrastructure steel, grid cable, KMC buses.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 — Investment portfolio</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Seven priority investments total an indicative USD 1.0–2.0 billion over five years (figures indicative, pending feasibility), dominated by the integrated steel complex and Kilembe redevelopment, and mostly private- or investor-financed. The roadmap sequences policy and demand anchors in Year 1, feedstock/power/finance in Years 2–3, and major capital builds in Years 4–5 — so that large plants are not built without ore, power, or demand. Full profiles are in Chapter 8.</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 — Bottom line for decision-makers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Uganda already has the anchors — Tembo and Devki in steel, the Kilembe revival and Cable Corporation in copper, Kiira Motors in automotive. What is missing is the connective tissue: domestic feedstock, reliable industrial power, long-term finance, enforced standards, and skills. The decision this report supports is to concentrate scarce resources on the prioritized products above and the six cross-cutting actions, turning Uganda's resource endowment and its new industrial anchors into a competitive metals-to-mobility system — rather than spreading effort thinly across everything.</a:t>
            </a:r>
          </a:p>
          <a:p>
            <a:pPr/>
            <a:r>
              <a:rPr sz="1600" b="0">
                <a:solidFill>
                  <a:srgbClr val="333333"/>
                </a:solidFill>
              </a:rPr>
              <a:t>•  This summary reflects desk-based findings to be confirmed through the validation step in Chapter 3.</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2</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2: Background and Policy Context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2.1 Uganda's Industrialization Ambition</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Uganda has set out an ambitious long-term industrialization trajectory anchored in a hierarchy of national planning instruments. These instruments collectively define the targets, sectoral priorities, and institutional responsibilities that frame this diagnostic study.</a:t>
            </a:r>
          </a:p>
          <a:p>
            <a:pPr/>
            <a:r>
              <a:rPr sz="1600" b="0">
                <a:solidFill>
                  <a:srgbClr val="333333"/>
                </a:solidFill>
              </a:rPr>
              <a:t>•  Uganda Vision 2040 sets the overarching national direction: transformation from a predominantly peasant and low-income economy to a competitive upper-middle-income country. The Vision targets a GDP of approximately USD 581 billion and a per capita income of USD 9,500 by 2040, with industrialization — particularly mineral-based and agro-processing manufacturing — as a central engine of this transformation (National Planning Authority, Uganda Vision 2040).</a:t>
            </a:r>
          </a:p>
          <a:p>
            <a:pPr/>
            <a:r>
              <a:rPr sz="1600" b="0">
                <a:solidFill>
                  <a:srgbClr val="333333"/>
                </a:solidFill>
              </a:rPr>
              <a:t>•  The Fourth National Development Plan (NDP IV), FY2025/26–2029/30 is the current medium-term plan, approved by Parliament in January 2026 under the theme "Sustainable Industrialization for inclusive growth, employment, and wealth creation" (Parliament of Uganda, NDP IV approval, Jan 2026). NDP IV targets growing GDP to USD 158 billion by FY2029/30 (from USD 53.2 billion in FY2023/24), raising per capita income to USD 2,008 (from USD 1,146), and lifting the annual GDP growth rate to 10.1% by FY2029/30 (Ministry of Finance, Planning and Economic Development, NDP IV presentation to Parliament). Manufacturing and value addition are placed at the centre of this strategy, and Iron &amp; Steel, Copper &amp; Allied Metals, and Automotives are among the priority manufacturing value chains identified for industrial-policy intervention, anchored in Uganda's mineral resource endowment.</a:t>
            </a:r>
          </a:p>
          <a:p>
            <a:pPr/>
            <a:r>
              <a:rPr sz="1600" b="0">
                <a:solidFill>
                  <a:srgbClr val="333333"/>
                </a:solidFill>
              </a:rPr>
              <a:t>•  The National Industrial Policy (NIP) 2020 provides the sector-specific framework within which the NDP industrial targets are pursued. The NIP sets the goal of increasing the manufacturing sector's contribution to GDP and deepening domestic value addition, reducing dependence on imported intermediate and capital goods, and linking industrial development to Uganda's natural-resource base (MTIC, National Industrial Policy 2020). It designates MTIC as the lead coordinating ministry for industrial-policy implementation and calls for targeted diagnostics of priority value chains as the analytical foundation for investment and reform — the mandate under which this study is produced.</a:t>
            </a:r>
          </a:p>
          <a:p>
            <a:pPr/>
            <a:r>
              <a:rPr sz="1600" b="0">
                <a:solidFill>
                  <a:srgbClr val="333333"/>
                </a:solidFill>
              </a:rPr>
              <a:t>•  The MTIC Strategic Plan translates NIP objectives into ministerial priorities: facilitating private-sector investment in priority industries, leading technical working groups for value-chain development, coordinating with Uganda Investment Authority (UIA), Uganda Export Promotion Board (UEPB), Uganda National Bureau of Standards (UNBS), and other agencies, and mobilizing development-partner support.</a:t>
            </a:r>
          </a:p>
          <a:p>
            <a:pPr/>
            <a:r>
              <a:rPr sz="1600" b="0">
                <a:solidFill>
                  <a:srgbClr val="333333"/>
                </a:solidFill>
              </a:rPr>
              <a:t>•  The Tenfold Growth Strategy sets Uganda's most ambitious long-horizon target: growing the economy roughly tenfold, from around USD 50 billion to USD 500 billion, organized around four drivers summarized as ATMs — Agro-industrialization, Tourism, Minerals (and mineral-based industrialization), and Science, Technology and Innovation (STI) (Ministry of Finance / NDP IV launch materials, 2025). Mineral-based industrialization — including steel, copper, and automotive manufacturing — is a primary pillar, requiring a structural shift from low-value raw-material exports to processed and manufactured goods.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2.2 The Uganda–UNIDO Programme for Country Partnership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Uganda–UNIDO Programme for Country Partnership (PCP) for Inclusive and Sustainable Industrial Development (ISID) is the multilateral cooperation framework within which this diagnostic study is produced. The PCP is a government-led partnership model developed by UNIDO to mobilize coordinated technical assistance and investment around a country's industrial-development priorities (UNIDO, Programme for Country Partnership).</a:t>
            </a:r>
          </a:p>
          <a:p>
            <a:pPr/>
            <a:r>
              <a:rPr sz="1600" b="0">
                <a:solidFill>
                  <a:srgbClr val="333333"/>
                </a:solidFill>
              </a:rPr>
              <a:t>•  The Uganda PCP operates across six priority areas:</a:t>
            </a:r>
          </a:p>
          <a:p>
            <a:pPr/>
            <a:r>
              <a:rPr sz="1600" b="0">
                <a:solidFill>
                  <a:srgbClr val="333333"/>
                </a:solidFill>
              </a:rPr>
              <a:t>•  This diagnostic study directly supports PCP Priority Areas 1 and 2. Its findings are intended as technical inputs into PCP formulation, partner coordination, and investment mobilization specifically for the Iron &amp; Steel, Copper &amp; Allied Metals, and Automotive value chains.</a:t>
            </a:r>
          </a:p>
          <a:p>
            <a:pPr/>
            <a:r>
              <a:rPr sz="1600" b="0">
                <a:solidFill>
                  <a:srgbClr val="333333"/>
                </a:solidFill>
              </a:rPr>
              <a:t>1. Strengthening industrial policy implementation and institutional coordination — supporting MTIC and line agencies to design, implement, and monitor industrial policy effectively.</a:t>
            </a:r>
          </a:p>
          <a:p>
            <a:pPr/>
            <a:r>
              <a:rPr sz="1600" b="0">
                <a:solidFill>
                  <a:srgbClr val="333333"/>
                </a:solidFill>
              </a:rPr>
              <a:t>2. Mobilizing large-scale public and private investment for agro- and mineral-based industrialization — developing the investment pipeline in priority value chains and creating conditions for private capital mobilization.</a:t>
            </a:r>
          </a:p>
          <a:p>
            <a:pPr/>
            <a:r>
              <a:rPr sz="1600" b="0">
                <a:solidFill>
                  <a:srgbClr val="333333"/>
                </a:solidFill>
              </a:rPr>
              <a:t>3. Supporting sustainable industrial parks and free zones — developing infrastructure that clusters manufacturing activity, reduces per-firm costs, and attracts foreign direct investment.</a:t>
            </a:r>
          </a:p>
          <a:p>
            <a:pPr/>
            <a:r>
              <a:rPr sz="1600" b="0">
                <a:solidFill>
                  <a:srgbClr val="333333"/>
                </a:solidFill>
              </a:rPr>
              <a:t>4. Strengthening national standards, quality infrastructure, and accreditation systems — building Uganda's capacity to meet international standards requirements, a binding constraint to export competitiveness.</a:t>
            </a:r>
          </a:p>
          <a:p>
            <a:pPr/>
            <a:r>
              <a:rPr sz="1600" b="0">
                <a:solidFill>
                  <a:srgbClr val="333333"/>
                </a:solidFill>
              </a:rPr>
              <a:t>5. Advancing green industry, circular economy, and Industry 4.0 solutions — embedding environmental sustainability and technology upgrading into Uganda's industrial-development model.</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2.2 The Uganda–UNIDO Programme for Country Partnership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6. Supporting productive use of renewable energy and energy efficiency — reducing energy costs for manufacturers, which remain a significant competitiveness constraint.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2.3 Current State of Uganda's Manufacturing Sector</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Uganda's manufacturing sector operates below its potential. Manufacturing value added was approximately 15.2% of GDP in 2024 (World Bank, World Development Indicators), having eased from about 16.4% in 2022. The NIP 2020 sets a target of raising manufacturing's share toward 16% by 2029/30 — meaning the current share sits below even the medium-term policy target, underscoring the scale of the structural challenge (MTIC, National Industrial Policy 2020; World Bank WDI).</a:t>
            </a:r>
          </a:p>
          <a:p>
            <a:pPr/>
            <a:r>
              <a:rPr sz="1600" b="0">
                <a:solidFill>
                  <a:srgbClr val="333333"/>
                </a:solidFill>
              </a:rPr>
              <a:t>•  Manufacturing capacity utilization is estimated at around 30% on average (indicative; to be confirmed from latest UBOS data). Low utilization means manufacturers carry high fixed costs per unit of output, weakening competitiveness against imports and constraining reinvestment.</a:t>
            </a:r>
          </a:p>
          <a:p>
            <a:pPr/>
            <a:r>
              <a:rPr sz="1600" b="0">
                <a:solidFill>
                  <a:srgbClr val="333333"/>
                </a:solidFill>
              </a:rPr>
              <a:t>•  Key structural characteristics relevant to this report:</a:t>
            </a:r>
          </a:p>
          <a:p>
            <a:pPr/>
            <a:r>
              <a:rPr sz="1600" b="0">
                <a:solidFill>
                  <a:srgbClr val="333333"/>
                </a:solidFill>
              </a:rPr>
              <a:t>•  Despite these constraints, the Report 1 chains rest on genuine foundations: substantial iron-ore and copper reserves, a growing domestic and regional market, improving infrastructure connectivity, and a young, growing labour force.</a:t>
            </a:r>
          </a:p>
          <a:p>
            <a:pPr/>
            <a:r>
              <a:rPr sz="1600" b="0">
                <a:solidFill>
                  <a:srgbClr val="333333"/>
                </a:solidFill>
              </a:rPr>
              <a:t>•  High import dependency in metals and capital goods — Uganda imports the majority of its flat steel, copper products, fabricated metal goods, and vehicle parts, creating chronic current-account pressure and a large opportunity for domestic value addition (ITC TradeMap, HS 72/73/74/87, 2024).</a:t>
            </a:r>
          </a:p>
          <a:p>
            <a:pPr/>
            <a:r>
              <a:rPr sz="1600" b="0">
                <a:solidFill>
                  <a:srgbClr val="333333"/>
                </a:solidFill>
              </a:rPr>
              <a:t>•  Underdeveloped upstream mineral processing — Uganda has significant iron-ore and copper deposits that remain largely under-exploited commercially. The gap between resource endowment and the manufacturing base is the defining structural challenge for the Report 1 chains.</a:t>
            </a:r>
          </a:p>
          <a:p>
            <a:pPr/>
            <a:r>
              <a:rPr sz="1600" b="0">
                <a:solidFill>
                  <a:srgbClr val="333333"/>
                </a:solidFill>
              </a:rPr>
              <a:t>•  Growing infrastructure demand — national and regional infrastructure investment is accelerating, driving demand for steel, copper, and automotive products Uganda currently imports.</a:t>
            </a:r>
          </a:p>
          <a:p>
            <a:pPr/>
            <a:r>
              <a:rPr sz="1600" b="0">
                <a:solidFill>
                  <a:srgbClr val="333333"/>
                </a:solidFill>
              </a:rPr>
              <a:t>•  A still-shallow export base in metals — over 70% of Uganda's manufactured exports go to regional markets, but in metals Uganda participates mainly as a re-exporter of downstream finished products rather than as an upstream processor (Uganda Investment Authority, 2025).</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2.4 Rationale for the Three Priority Value Chains in This </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three value chains — Iron &amp; Steel, Copper &amp; Allied Metals, and Automotives — were selected by MTIC through a prioritization process drawing on NDP IV designations, NIP sectoral priorities, Uganda's mineral endowments, import-substitution potential, and the structure of regional export markets. They also form an integrated industrial chain: mined metal → processed metal → consumer/capital product, culminating in domestic vehicle manufacturing.</a:t>
            </a:r>
          </a:p>
          <a:p>
            <a:pPr/>
            <a:r>
              <a:rPr sz="1600" b="0">
                <a:solidFill>
                  <a:srgbClr val="333333"/>
                </a:solidFill>
              </a:rPr>
              <a:t>•  Iron &amp; Steel was selected because Uganda holds substantial iron-ore deposits (notably high-grade hematite and magnetite in the south-west and Muko area), while importing the bulk of its flat steel and semi-finished steel. The NPA/UDC Mapping and Value Chain Analysis for Uganda's Iron and Steel Industry (June 2025) records installed capacity of roughly 1.68 million tonnes per annum at about 30% utilization, with the deepest gap in upstream ironmaking and flat-steel production. Iron and steel is the foundational input for construction, infrastructure, and all downstream metal manufacturing.</a:t>
            </a:r>
          </a:p>
          <a:p>
            <a:pPr/>
            <a:r>
              <a:rPr sz="1600" b="0">
                <a:solidFill>
                  <a:srgbClr val="333333"/>
                </a:solidFill>
              </a:rPr>
              <a:t>•  Copper &amp; Allied Metals was selected on the basis of Uganda's copper endowment, particularly the Kilembe mine in Kasese District — estimated to hold in excess of 6.5 million tonnes of copper ore at 1.77% copper grade, plus associated cobalt (Directorate of Geological Survey and Mines). In March 2025, Government signed its first mineral production-sharing agreement, with Sarrai Group and Nile Fibreboard, to redevelop Kilembe for copper-cathode and cobalt production (Mining Weekly, March 2025). Downstream, Uganda has an established cable-manufacturing base — led by Cable Corporation Limited (Mehta Group), which holds roughly 65% of the domestic market — but limited primary copper refining.</a:t>
            </a:r>
          </a:p>
          <a:p>
            <a:pPr/>
            <a:r>
              <a:rPr sz="1600" b="0">
                <a:solidFill>
                  <a:srgbClr val="333333"/>
                </a:solidFill>
              </a:rPr>
              <a:t>•  Automotives was selected because Uganda has made a strategic commitment to domestic vehicle manufacturing through Kiira Motors Corporation (KMC), whose vehicle plant at Jinja was commissioned on 27 September 2025 with an installed capacity of 2,500 vehicles per year, targeting 10,000 in the medium term (Uganda Broadcasting Corporation; Kiira Motors Corporation). Steel and copper are direct inputs to vehicle manufacturing, creating natural forward linkages across all three Report 1 chains. Uganda imports roughly 48,700 used vehicles annually, underscoring the scale of the domestic market currently met by imports (Mobility Foresights, Uganda Used Car Market).</a:t>
            </a:r>
          </a:p>
          <a:p>
            <a:pPr/>
            <a:r>
              <a:rPr sz="1600" b="0">
                <a:solidFill>
                  <a:srgbClr val="333333"/>
                </a:solidFill>
              </a:rPr>
              <a:t>•  The analytical question across all three chains is identical: given Uganda's resource base, competitive position, and institutional capacity, which 3–4 products or sub-sectors within each chain offer the most credible path to competitive manufacturing at scale? This report provides that prioritization.</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2.5 NDP IV and Tenfold Targets Relevant to This Report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770708">
                <a:tc>
                  <a:txBody>
                    <a:bodyPr/>
                    <a:lstStyle/>
                    <a:p>
                      <a:pPr algn="l"/>
                      <a:r>
                        <a:rPr sz="1300" b="1">
                          <a:solidFill>
                            <a:srgbClr val="FFFFFF"/>
                          </a:solidFill>
                        </a:rPr>
                        <a:t>Indicator</a:t>
                      </a:r>
                    </a:p>
                  </a:txBody>
                  <a:tcPr>
                    <a:solidFill>
                      <a:srgbClr val="002B5B"/>
                    </a:solidFill>
                  </a:tcPr>
                </a:tc>
                <a:tc>
                  <a:txBody>
                    <a:bodyPr/>
                    <a:lstStyle/>
                    <a:p>
                      <a:pPr algn="l"/>
                      <a:r>
                        <a:rPr sz="1300" b="1">
                          <a:solidFill>
                            <a:srgbClr val="FFFFFF"/>
                          </a:solidFill>
                        </a:rPr>
                        <a:t>Current Baseline</a:t>
                      </a:r>
                    </a:p>
                  </a:txBody>
                  <a:tcPr>
                    <a:solidFill>
                      <a:srgbClr val="002B5B"/>
                    </a:solidFill>
                  </a:tcPr>
                </a:tc>
                <a:tc>
                  <a:txBody>
                    <a:bodyPr/>
                    <a:lstStyle/>
                    <a:p>
                      <a:pPr algn="l"/>
                      <a:r>
                        <a:rPr sz="1300" b="1">
                          <a:solidFill>
                            <a:srgbClr val="FFFFFF"/>
                          </a:solidFill>
                        </a:rPr>
                        <a:t>NDP IV / NIP direction</a:t>
                      </a:r>
                    </a:p>
                  </a:txBody>
                  <a:tcPr>
                    <a:solidFill>
                      <a:srgbClr val="002B5B"/>
                    </a:solidFill>
                  </a:tcPr>
                </a:tc>
                <a:tc>
                  <a:txBody>
                    <a:bodyPr/>
                    <a:lstStyle/>
                    <a:p>
                      <a:pPr algn="l"/>
                      <a:r>
                        <a:rPr sz="1300" b="1">
                          <a:solidFill>
                            <a:srgbClr val="FFFFFF"/>
                          </a:solidFill>
                        </a:rPr>
                        <a:t>Tenfold horizon (2040)</a:t>
                      </a:r>
                    </a:p>
                  </a:txBody>
                  <a:tcPr>
                    <a:solidFill>
                      <a:srgbClr val="002B5B"/>
                    </a:solidFill>
                  </a:tcPr>
                </a:tc>
              </a:tr>
              <a:tr h="770708">
                <a:tc>
                  <a:txBody>
                    <a:bodyPr/>
                    <a:lstStyle/>
                    <a:p>
                      <a:pPr algn="l"/>
                      <a:r>
                        <a:rPr sz="1200" b="0">
                          <a:solidFill>
                            <a:srgbClr val="333333"/>
                          </a:solidFill>
                        </a:rPr>
                        <a:t>Manufacturing share of GDP</a:t>
                      </a:r>
                    </a:p>
                  </a:txBody>
                  <a:tcPr>
                    <a:solidFill>
                      <a:srgbClr val="D6E8F7"/>
                    </a:solidFill>
                  </a:tcPr>
                </a:tc>
                <a:tc>
                  <a:txBody>
                    <a:bodyPr/>
                    <a:lstStyle/>
                    <a:p>
                      <a:pPr algn="l"/>
                      <a:r>
                        <a:rPr sz="1200" b="0">
                          <a:solidFill>
                            <a:srgbClr val="333333"/>
                          </a:solidFill>
                        </a:rPr>
                        <a:t>15.2% (2024, World Bank)</a:t>
                      </a:r>
                    </a:p>
                  </a:txBody>
                  <a:tcPr>
                    <a:solidFill>
                      <a:srgbClr val="D6E8F7"/>
                    </a:solidFill>
                  </a:tcPr>
                </a:tc>
                <a:tc>
                  <a:txBody>
                    <a:bodyPr/>
                    <a:lstStyle/>
                    <a:p>
                      <a:pPr algn="l"/>
                      <a:r>
                        <a:rPr sz="1200" b="0">
                          <a:solidFill>
                            <a:srgbClr val="333333"/>
                          </a:solidFill>
                        </a:rPr>
                        <a:t>toward 16%+ by FY29/30 (NIP)</a:t>
                      </a:r>
                    </a:p>
                  </a:txBody>
                  <a:tcPr>
                    <a:solidFill>
                      <a:srgbClr val="D6E8F7"/>
                    </a:solidFill>
                  </a:tcPr>
                </a:tc>
                <a:tc>
                  <a:txBody>
                    <a:bodyPr/>
                    <a:lstStyle/>
                    <a:p>
                      <a:pPr algn="l"/>
                      <a:r>
                        <a:rPr sz="1200" b="0">
                          <a:solidFill>
                            <a:srgbClr val="333333"/>
                          </a:solidFill>
                        </a:rPr>
                        <a:t>20%+ (Vision 2040)</a:t>
                      </a:r>
                    </a:p>
                  </a:txBody>
                  <a:tcPr>
                    <a:solidFill>
                      <a:srgbClr val="D6E8F7"/>
                    </a:solidFill>
                  </a:tcPr>
                </a:tc>
              </a:tr>
              <a:tr h="770708">
                <a:tc>
                  <a:txBody>
                    <a:bodyPr/>
                    <a:lstStyle/>
                    <a:p>
                      <a:pPr algn="l"/>
                      <a:r>
                        <a:rPr sz="1200" b="0">
                          <a:solidFill>
                            <a:srgbClr val="333333"/>
                          </a:solidFill>
                        </a:rPr>
                        <a:t>GDP</a:t>
                      </a:r>
                    </a:p>
                  </a:txBody>
                  <a:tcPr>
                    <a:solidFill>
                      <a:srgbClr val="FFFFFF"/>
                    </a:solidFill>
                  </a:tcPr>
                </a:tc>
                <a:tc>
                  <a:txBody>
                    <a:bodyPr/>
                    <a:lstStyle/>
                    <a:p>
                      <a:pPr algn="l"/>
                      <a:r>
                        <a:rPr sz="1200" b="0">
                          <a:solidFill>
                            <a:srgbClr val="333333"/>
                          </a:solidFill>
                        </a:rPr>
                        <a:t>USD 53.2bn (FY23/24)</a:t>
                      </a:r>
                    </a:p>
                  </a:txBody>
                  <a:tcPr>
                    <a:solidFill>
                      <a:srgbClr val="FFFFFF"/>
                    </a:solidFill>
                  </a:tcPr>
                </a:tc>
                <a:tc>
                  <a:txBody>
                    <a:bodyPr/>
                    <a:lstStyle/>
                    <a:p>
                      <a:pPr algn="l"/>
                      <a:r>
                        <a:rPr sz="1200" b="0">
                          <a:solidFill>
                            <a:srgbClr val="333333"/>
                          </a:solidFill>
                        </a:rPr>
                        <a:t>USD 158bn by FY29/30 (NDP IV)</a:t>
                      </a:r>
                    </a:p>
                  </a:txBody>
                  <a:tcPr>
                    <a:solidFill>
                      <a:srgbClr val="FFFFFF"/>
                    </a:solidFill>
                  </a:tcPr>
                </a:tc>
                <a:tc>
                  <a:txBody>
                    <a:bodyPr/>
                    <a:lstStyle/>
                    <a:p>
                      <a:pPr algn="l"/>
                      <a:r>
                        <a:rPr sz="1200" b="0">
                          <a:solidFill>
                            <a:srgbClr val="333333"/>
                          </a:solidFill>
                        </a:rPr>
                        <a:t>~USD 500bn (Tenfold)</a:t>
                      </a:r>
                    </a:p>
                  </a:txBody>
                  <a:tcPr>
                    <a:solidFill>
                      <a:srgbClr val="FFFFFF"/>
                    </a:solidFill>
                  </a:tcPr>
                </a:tc>
              </a:tr>
              <a:tr h="770708">
                <a:tc>
                  <a:txBody>
                    <a:bodyPr/>
                    <a:lstStyle/>
                    <a:p>
                      <a:pPr algn="l"/>
                      <a:r>
                        <a:rPr sz="1200" b="0">
                          <a:solidFill>
                            <a:srgbClr val="333333"/>
                          </a:solidFill>
                        </a:rPr>
                        <a:t>Per capita income</a:t>
                      </a:r>
                    </a:p>
                  </a:txBody>
                  <a:tcPr>
                    <a:solidFill>
                      <a:srgbClr val="D6E8F7"/>
                    </a:solidFill>
                  </a:tcPr>
                </a:tc>
                <a:tc>
                  <a:txBody>
                    <a:bodyPr/>
                    <a:lstStyle/>
                    <a:p>
                      <a:pPr algn="l"/>
                      <a:r>
                        <a:rPr sz="1200" b="0">
                          <a:solidFill>
                            <a:srgbClr val="333333"/>
                          </a:solidFill>
                        </a:rPr>
                        <a:t>USD 1,146 (FY23/24)</a:t>
                      </a:r>
                    </a:p>
                  </a:txBody>
                  <a:tcPr>
                    <a:solidFill>
                      <a:srgbClr val="D6E8F7"/>
                    </a:solidFill>
                  </a:tcPr>
                </a:tc>
                <a:tc>
                  <a:txBody>
                    <a:bodyPr/>
                    <a:lstStyle/>
                    <a:p>
                      <a:pPr algn="l"/>
                      <a:r>
                        <a:rPr sz="1200" b="0">
                          <a:solidFill>
                            <a:srgbClr val="333333"/>
                          </a:solidFill>
                        </a:rPr>
                        <a:t>USD 2,008 by FY29/30 (NDP IV)</a:t>
                      </a:r>
                    </a:p>
                  </a:txBody>
                  <a:tcPr>
                    <a:solidFill>
                      <a:srgbClr val="D6E8F7"/>
                    </a:solidFill>
                  </a:tcPr>
                </a:tc>
                <a:tc>
                  <a:txBody>
                    <a:bodyPr/>
                    <a:lstStyle/>
                    <a:p>
                      <a:pPr algn="l"/>
                      <a:r>
                        <a:rPr sz="1200" b="0">
                          <a:solidFill>
                            <a:srgbClr val="333333"/>
                          </a:solidFill>
                        </a:rPr>
                        <a:t>USD 9,500 (Vision 2040)</a:t>
                      </a:r>
                    </a:p>
                  </a:txBody>
                  <a:tcPr>
                    <a:solidFill>
                      <a:srgbClr val="D6E8F7"/>
                    </a:solidFill>
                  </a:tcPr>
                </a:tc>
              </a:tr>
              <a:tr h="770708">
                <a:tc>
                  <a:txBody>
                    <a:bodyPr/>
                    <a:lstStyle/>
                    <a:p>
                      <a:pPr algn="l"/>
                      <a:r>
                        <a:rPr sz="1200" b="0">
                          <a:solidFill>
                            <a:srgbClr val="333333"/>
                          </a:solidFill>
                        </a:rPr>
                        <a:t>Annual GDP growth</a:t>
                      </a:r>
                    </a:p>
                  </a:txBody>
                  <a:tcPr>
                    <a:solidFill>
                      <a:srgbClr val="FFFFFF"/>
                    </a:solidFill>
                  </a:tcPr>
                </a:tc>
                <a:tc>
                  <a:txBody>
                    <a:bodyPr/>
                    <a:lstStyle/>
                    <a:p>
                      <a:pPr algn="l"/>
                      <a:r>
                        <a:rPr sz="1200" b="0">
                          <a:solidFill>
                            <a:srgbClr val="333333"/>
                          </a:solidFill>
                        </a:rPr>
                        <a:t>6.6% (FY24/25)</a:t>
                      </a:r>
                    </a:p>
                  </a:txBody>
                  <a:tcPr>
                    <a:solidFill>
                      <a:srgbClr val="FFFFFF"/>
                    </a:solidFill>
                  </a:tcPr>
                </a:tc>
                <a:tc>
                  <a:txBody>
                    <a:bodyPr/>
                    <a:lstStyle/>
                    <a:p>
                      <a:pPr algn="l"/>
                      <a:r>
                        <a:rPr sz="1200" b="0">
                          <a:solidFill>
                            <a:srgbClr val="333333"/>
                          </a:solidFill>
                        </a:rPr>
                        <a:t>10.1% by FY29/30 (NDP IV)</a:t>
                      </a:r>
                    </a:p>
                  </a:txBody>
                  <a:tcPr>
                    <a:solidFill>
                      <a:srgbClr val="FFFFFF"/>
                    </a:solidFill>
                  </a:tcPr>
                </a:tc>
                <a:tc>
                  <a:txBody>
                    <a:bodyPr/>
                    <a:lstStyle/>
                    <a:p>
                      <a:pPr algn="l"/>
                      <a:r>
                        <a:rPr sz="1200" b="0">
                          <a:solidFill>
                            <a:srgbClr val="333333"/>
                          </a:solidFill>
                        </a:rPr>
                        <a:t>sustained double digits</a:t>
                      </a:r>
                    </a:p>
                  </a:txBody>
                  <a:tcPr>
                    <a:solidFill>
                      <a:srgbClr val="FFFFFF"/>
                    </a:solidFill>
                  </a:tcPr>
                </a:tc>
              </a:tr>
              <a:tr h="770708">
                <a:tc>
                  <a:txBody>
                    <a:bodyPr/>
                    <a:lstStyle/>
                    <a:p>
                      <a:pPr algn="l"/>
                      <a:r>
                        <a:rPr sz="1200" b="0">
                          <a:solidFill>
                            <a:srgbClr val="333333"/>
                          </a:solidFill>
                        </a:rPr>
                        <a:t>Manufactured exports to region</a:t>
                      </a:r>
                    </a:p>
                  </a:txBody>
                  <a:tcPr>
                    <a:solidFill>
                      <a:srgbClr val="D6E8F7"/>
                    </a:solidFill>
                  </a:tcPr>
                </a:tc>
                <a:tc>
                  <a:txBody>
                    <a:bodyPr/>
                    <a:lstStyle/>
                    <a:p>
                      <a:pPr algn="l"/>
                      <a:r>
                        <a:rPr sz="1200" b="0">
                          <a:solidFill>
                            <a:srgbClr val="333333"/>
                          </a:solidFill>
                        </a:rPr>
                        <a:t>&gt;70% of mfg exports regional (UIA 2025)</a:t>
                      </a:r>
                    </a:p>
                  </a:txBody>
                  <a:tcPr>
                    <a:solidFill>
                      <a:srgbClr val="D6E8F7"/>
                    </a:solidFill>
                  </a:tcPr>
                </a:tc>
                <a:tc>
                  <a:txBody>
                    <a:bodyPr/>
                    <a:lstStyle/>
                    <a:p>
                      <a:pPr algn="l"/>
                      <a:r>
                        <a:rPr sz="1200" b="0">
                          <a:solidFill>
                            <a:srgbClr val="333333"/>
                          </a:solidFill>
                        </a:rPr>
                        <a:t>rising</a:t>
                      </a:r>
                    </a:p>
                  </a:txBody>
                  <a:tcPr>
                    <a:solidFill>
                      <a:srgbClr val="D6E8F7"/>
                    </a:solidFill>
                  </a:tcPr>
                </a:tc>
                <a:tc>
                  <a:txBody>
                    <a:bodyPr/>
                    <a:lstStyle/>
                    <a:p>
                      <a:pPr algn="l"/>
                      <a:r>
                        <a:rPr sz="1200" b="0">
                          <a:solidFill>
                            <a:srgbClr val="333333"/>
                          </a:solidFill>
                        </a:rPr>
                        <a:t>dominant</a:t>
                      </a:r>
                    </a:p>
                  </a:txBody>
                  <a:tcPr>
                    <a:solidFill>
                      <a:srgbClr val="D6E8F7"/>
                    </a:solidFill>
                  </a:tcPr>
                </a:tc>
              </a:tr>
              <a:tr h="770712">
                <a:tc>
                  <a:txBody>
                    <a:bodyPr/>
                    <a:lstStyle/>
                    <a:p>
                      <a:pPr algn="l"/>
                      <a:r>
                        <a:rPr sz="1200" b="0">
                          <a:solidFill>
                            <a:srgbClr val="333333"/>
                          </a:solidFill>
                        </a:rPr>
                        <a:t>Capacity utilization (mfg)</a:t>
                      </a:r>
                    </a:p>
                  </a:txBody>
                  <a:tcPr>
                    <a:solidFill>
                      <a:srgbClr val="FFFFFF"/>
                    </a:solidFill>
                  </a:tcPr>
                </a:tc>
                <a:tc>
                  <a:txBody>
                    <a:bodyPr/>
                    <a:lstStyle/>
                    <a:p>
                      <a:pPr algn="l"/>
                      <a:r>
                        <a:rPr sz="1200" b="0">
                          <a:solidFill>
                            <a:srgbClr val="333333"/>
                          </a:solidFill>
                        </a:rPr>
                        <a:t>~30% (indicative, confirm UBOS)</a:t>
                      </a:r>
                    </a:p>
                  </a:txBody>
                  <a:tcPr>
                    <a:solidFill>
                      <a:srgbClr val="FFFFFF"/>
                    </a:solidFill>
                  </a:tcPr>
                </a:tc>
                <a:tc>
                  <a:txBody>
                    <a:bodyPr/>
                    <a:lstStyle/>
                    <a:p>
                      <a:pPr algn="l"/>
                      <a:r>
                        <a:rPr sz="1200" b="0">
                          <a:solidFill>
                            <a:srgbClr val="333333"/>
                          </a:solidFill>
                        </a:rPr>
                        <a:t>60%+</a:t>
                      </a:r>
                    </a:p>
                  </a:txBody>
                  <a:tcPr>
                    <a:solidFill>
                      <a:srgbClr val="FFFFFF"/>
                    </a:solidFill>
                  </a:tcPr>
                </a:tc>
                <a:tc>
                  <a:txBody>
                    <a:bodyPr/>
                    <a:lstStyle/>
                    <a:p>
                      <a:pPr algn="l"/>
                      <a:r>
                        <a:rPr sz="1200" b="0">
                          <a:solidFill>
                            <a:srgbClr val="333333"/>
                          </a:solidFill>
                        </a:rPr>
                        <a:t>75%+</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2.5 NDP IV and Tenfold Targets Relevant to This Report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following targets frame the ambition against which this report's recommendations are calibrated. Baseline figures are current; targets are drawn from NDP IV and the Tenfold Growth Strategy.</a:t>
            </a:r>
          </a:p>
          <a:p>
            <a:pPr/>
            <a:r>
              <a:rPr sz="1600" b="0">
                <a:solidFill>
                  <a:srgbClr val="333333"/>
                </a:solidFill>
              </a:rPr>
              <a:t>•  Achieving these targets in the Report 1 chains requires upstream investment in mineral extraction and processing — not only downstream manufacturing expansion. The diagnostic findings and recommendations in Chapters 4–6 are calibrated to this ambition.</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National Planning Authority, Uganda Vision 2040. https://npa.go.ug/uganda-vision-2040/</a:t>
            </a:r>
          </a:p>
          <a:p>
            <a:pPr/>
            <a:r>
              <a:rPr sz="1600" b="0">
                <a:solidFill>
                  <a:srgbClr val="333333"/>
                </a:solidFill>
              </a:rPr>
              <a:t>•  National Planning Authority, National Development Plan IV (FY2025/26–2029/30). https://npa.go.ug/national-development-plan/</a:t>
            </a:r>
          </a:p>
          <a:p>
            <a:pPr/>
            <a:r>
              <a:rPr sz="1600" b="0">
                <a:solidFill>
                  <a:srgbClr val="333333"/>
                </a:solidFill>
              </a:rPr>
              <a:t>•  Parliament of Uganda, "President Launches NDP IV to Drive Uganda's Economic Transformation." https://www.parliament.go.ug/news/3724/president-launches-ndp-iv-drive-ugandas-economic-transformation</a:t>
            </a:r>
          </a:p>
          <a:p>
            <a:pPr/>
            <a:r>
              <a:rPr sz="1600" b="0">
                <a:solidFill>
                  <a:srgbClr val="333333"/>
                </a:solidFill>
              </a:rPr>
              <a:t>•  Ministry of Finance, Planning and Economic Development, "Presentation of the Fourth National Development Plan (NDP IV) to the Parliamentary Committee on Budget." https://www.finance.go.ug/media-center/news-and-updates/presentation-fourth-national-development-plan-ndpiv-parliamentary</a:t>
            </a:r>
          </a:p>
          <a:p>
            <a:pPr/>
            <a:r>
              <a:rPr sz="1600" b="0">
                <a:solidFill>
                  <a:srgbClr val="333333"/>
                </a:solidFill>
              </a:rPr>
              <a:t>•  MTIC, National Industrial Policy 2020. https://www.mtic.go.ug/</a:t>
            </a:r>
          </a:p>
          <a:p>
            <a:pPr/>
            <a:r>
              <a:rPr sz="1600" b="0">
                <a:solidFill>
                  <a:srgbClr val="333333"/>
                </a:solidFill>
              </a:rPr>
              <a:t>•  UNIDO, Programme for Country Partnership. https://www.unido.org/programme-country-partnership</a:t>
            </a:r>
          </a:p>
          <a:p>
            <a:pPr/>
            <a:r>
              <a:rPr sz="1600" b="0">
                <a:solidFill>
                  <a:srgbClr val="333333"/>
                </a:solidFill>
              </a:rPr>
              <a:t>•  World Bank, World Development Indicators — Manufacturing, value added (% of GDP), Uganda. https://data.worldbank.org/indicator/NV.IND.MANF.ZS?locations=UG</a:t>
            </a:r>
          </a:p>
          <a:p>
            <a:pPr/>
            <a:r>
              <a:rPr sz="1600" b="0">
                <a:solidFill>
                  <a:srgbClr val="333333"/>
                </a:solidFill>
              </a:rPr>
              <a:t>•  NPA/UDC, Report on the Mapping and Value Chain Analysis for Uganda's Iron and Steel Industry (June 2025). [Repository: data/ — provided by MTIC]</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Directorate of Geological Survey and Mines, "Redevelopment of Kilembe Mines." https://dgsm.go.ug/redevelopment-of-kilembe-mines/</a:t>
            </a:r>
          </a:p>
          <a:p>
            <a:pPr/>
            <a:r>
              <a:rPr sz="1600" b="0">
                <a:solidFill>
                  <a:srgbClr val="333333"/>
                </a:solidFill>
              </a:rPr>
              <a:t>•  Mining Weekly, "Uganda signs maiden production-sharing deal to revive copper mine" (4 March 2025). https://www.miningweekly.com/article/uganda-signs-maiden-production-sharing-deal-to-revive-copper-mine-2025-03-04</a:t>
            </a:r>
          </a:p>
          <a:p>
            <a:pPr/>
            <a:r>
              <a:rPr sz="1600" b="0">
                <a:solidFill>
                  <a:srgbClr val="333333"/>
                </a:solidFill>
              </a:rPr>
              <a:t>•  Uganda Broadcasting Corporation, "Uganda Commissions Africa's Most Advanced Vehicle Plant" (27 September 2025). https://ubc.go.ug/2025/09/27/uganda-commissions-africas-most-advanced-vehicle-plant-a-historic-milestone-for-industrialization-and-innovation/</a:t>
            </a:r>
          </a:p>
          <a:p>
            <a:pPr/>
            <a:r>
              <a:rPr sz="1600" b="0">
                <a:solidFill>
                  <a:srgbClr val="333333"/>
                </a:solidFill>
              </a:rPr>
              <a:t>•  Mobility Foresights, Uganda Used Car Market 2024–2030. https://mobilityforesights.com/product/uganda-used-car-market</a:t>
            </a:r>
          </a:p>
          <a:p>
            <a:pPr/>
            <a:r>
              <a:rPr sz="1600" b="0">
                <a:solidFill>
                  <a:srgbClr val="333333"/>
                </a:solidFill>
              </a:rPr>
              <a:t>•  Uganda Investment Authority, "Uganda seeing surge in export of manufactured products" (2025). https://ugandainvest.go.ug/uganda-seeing-surge-in-export-of-manufactured-products/</a:t>
            </a:r>
          </a:p>
          <a:p>
            <a:pPr/>
            <a:r>
              <a:rPr sz="1600" b="0">
                <a:solidFill>
                  <a:srgbClr val="333333"/>
                </a:solidFill>
              </a:rPr>
              <a:t>•  ITC TradeMap, trade statistics by HS code. https://www.trademap.org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3</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3: Methodology and Analytical Framework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3.1 Overview of the Research Approach</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This is a desk-based diagnostic. Its findings are built from a structured review of government and sector documents provided by MTIC, official Ugandan data sources, live international trade data, and current published evidence — not from primary fieldwork. This is stated plainly because the credibility of a diagnostic that will inform national investment decisions depends on an honest account of how it was produced.</a:t>
            </a:r>
          </a:p>
          <a:p>
            <a:pPr/>
            <a:r>
              <a:rPr sz="1600" b="0">
                <a:solidFill>
                  <a:srgbClr val="333333"/>
                </a:solidFill>
              </a:rPr>
              <a:t>•  The study was preceded by an Inception Report that documented the study design, diagnostic framework, data plan, and stakeholder-consultation plan, submitted to the Technical Working Group (TWG) prior to the diagnostic phase. This chapter describes the methodology as executed.</a:t>
            </a:r>
          </a:p>
          <a:p>
            <a:pPr/>
            <a:r>
              <a:rPr sz="1600" b="0">
                <a:solidFill>
                  <a:srgbClr val="333333"/>
                </a:solidFill>
              </a:rPr>
              <a:t>•  The work proceeded in three phases:</a:t>
            </a:r>
          </a:p>
          <a:p>
            <a:pPr/>
            <a:r>
              <a:rPr sz="1600" b="0">
                <a:solidFill>
                  <a:srgbClr val="333333"/>
                </a:solidFill>
              </a:rPr>
              <a:t>•  The findings in this report are therefore presented for validation. Where the report states a finding, it reflects the best available desk evidence at the time of writing and is subject to the validation step described in Section 3.7.</a:t>
            </a:r>
          </a:p>
          <a:p>
            <a:pPr/>
            <a:r>
              <a:rPr sz="1600" b="0">
                <a:solidFill>
                  <a:srgbClr val="333333"/>
                </a:solidFill>
              </a:rPr>
              <a:t>1. Evidence assembly — compilation and structured review of policy documents, sector studies, official statistics, and trade data.</a:t>
            </a:r>
          </a:p>
          <a:p>
            <a:pPr/>
            <a:r>
              <a:rPr sz="1600" b="0">
                <a:solidFill>
                  <a:srgbClr val="333333"/>
                </a:solidFill>
              </a:rPr>
              <a:t>2. Value-chain analysis and prioritization scoring — application of the six-part analytical framework and the five-criterion scoring model to each chain.</a:t>
            </a:r>
          </a:p>
          <a:p>
            <a:pPr/>
            <a:r>
              <a:rPr sz="1600" b="0">
                <a:solidFill>
                  <a:srgbClr val="333333"/>
                </a:solidFill>
              </a:rPr>
              <a:t>3. Validation (planned, post-submission) — testing of findings through key informant interviews and a structured stakeholder workshop, with results incorporated into the final version.</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3.2 Evidence Base and Data Sources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diagnostic draws on the following sources, prioritizing official Ugandan and primary institutional data wherever available:</a:t>
            </a:r>
          </a:p>
          <a:p>
            <a:pPr/>
            <a:r>
              <a:rPr sz="1600" b="0">
                <a:solidFill>
                  <a:srgbClr val="333333"/>
                </a:solidFill>
              </a:rPr>
              <a:t>•  Government policy and planning documents — Uganda Vision 2040; National Development Plan IV (FY2025/26–2029/30); National Industrial Policy 2020; the MTIC Strategic Plan; and the Tenfold Growth Strategy.</a:t>
            </a:r>
          </a:p>
          <a:p>
            <a:pPr/>
            <a:r>
              <a:rPr sz="1600" b="0">
                <a:solidFill>
                  <a:srgbClr val="333333"/>
                </a:solidFill>
              </a:rPr>
              <a:t>•  Sector studies provided by MTIC — most importantly the NPA/UDC Report on the Mapping and Value Chain Analysis for Uganda's Iron and Steel Industry (June 2025), which provides firm-level and capacity data for the iron and steel chain, together with mineral-sector and automotive-sector documents supplied for this study.</a:t>
            </a:r>
          </a:p>
          <a:p>
            <a:pPr/>
            <a:r>
              <a:rPr sz="1600" b="0">
                <a:solidFill>
                  <a:srgbClr val="333333"/>
                </a:solidFill>
              </a:rPr>
              <a:t>•  Official Ugandan data sources — Uganda Bureau of Statistics (UBOS) for production, employment, and national accounts; the Directorate of Geological Survey and Mines (DGSM) / Ministry of Energy and Mineral Development for mineral reserves and licensing; Uganda National Bureau of Standards (UNBS); the Electricity Regulatory Authority (ERA) for tariffs; and the Uganda Investment Authority (UIA) for the investment pipeline.</a:t>
            </a:r>
          </a:p>
          <a:p>
            <a:pPr/>
            <a:r>
              <a:rPr sz="1600" b="0">
                <a:solidFill>
                  <a:srgbClr val="333333"/>
                </a:solidFill>
              </a:rPr>
              <a:t>•  Trade data — ITC TradeMap (the International Trade Centre's trade-statistics platform, drawing on the same underlying data as UN Comtrade and used by the WTO) is the source for all import/export values, partner breakdowns, and time series in this report. TradeMap figures are pulled directly and cited inline at the point of use, with the relevant HS codes and year.</a:t>
            </a:r>
          </a:p>
          <a:p>
            <a:pPr/>
            <a:r>
              <a:rPr sz="1600" b="0">
                <a:solidFill>
                  <a:srgbClr val="333333"/>
                </a:solidFill>
              </a:rPr>
              <a:t>•  Global benchmarks — World Steel Association (World Steel in Figures / Statistical Yearbook 2025) and the International Copper Study Group (World Copper Factbook 2025) for global production, consumption, and price context.</a:t>
            </a:r>
          </a:p>
          <a:p>
            <a:pPr/>
            <a:r>
              <a:rPr sz="1600" b="0">
                <a:solidFill>
                  <a:srgbClr val="333333"/>
                </a:solidFill>
              </a:rPr>
              <a:t>•  Development-partner and industry sources — World Bank World Development Indicators; UNIDO; the Uganda Bankers Association Unlocking the Potential of Uganda's Manufacturing Sector (2024); and company and regulator disclosures, cited where used.</a:t>
            </a:r>
          </a:p>
          <a:p>
            <a:pPr/>
            <a:r>
              <a:rPr sz="1600" b="0">
                <a:solidFill>
                  <a:srgbClr val="333333"/>
                </a:solidFill>
              </a:rPr>
              <a:t>•  Where a figure is an estimate, a proxy, or carries a currency caveat, this is flagged in the relevant chapter. Material data gaps are marked DATA NEEDED so the validation step can target them.</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3.3 Analytical Framework</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Each of the three value chains was analysed using a consistent six-part diagnostic framework, applied uniformly to ensure comparability of findings and recommendations.</a:t>
            </a:r>
          </a:p>
          <a:p>
            <a:pPr/>
            <a:r>
              <a:rPr sz="1600" b="0">
                <a:solidFill>
                  <a:srgbClr val="333333"/>
                </a:solidFill>
              </a:rPr>
              <a:t>•  a. Value Chain Mapping — the full chain is mapped from primary inputs through intermediate processing to final end products, identifying where Uganda currently participates, where value is lost (through export of unprocessed inputs or import of intermediates), and where import-substitution and export opportunities exist. Each chain's map is also rendered as an interactive decomposition in the accompanying Value Chains application.</a:t>
            </a:r>
          </a:p>
          <a:p>
            <a:pPr/>
            <a:r>
              <a:rPr sz="1600" b="0">
                <a:solidFill>
                  <a:srgbClr val="333333"/>
                </a:solidFill>
              </a:rPr>
              <a:t>•  b. Current State Assessment — production volumes, number of active firms, employment, capacity utilization, and import/export values are compiled for each chain, with key public and private players identified.</a:t>
            </a:r>
          </a:p>
          <a:p>
            <a:pPr/>
            <a:r>
              <a:rPr sz="1600" b="0">
                <a:solidFill>
                  <a:srgbClr val="333333"/>
                </a:solidFill>
              </a:rPr>
              <a:t>•  c. Binding Constraints Analysis — constraints are assessed across ten dimensions (Section 3.4).</a:t>
            </a:r>
          </a:p>
          <a:p>
            <a:pPr/>
            <a:r>
              <a:rPr sz="1600" b="0">
                <a:solidFill>
                  <a:srgbClr val="333333"/>
                </a:solidFill>
              </a:rPr>
              <a:t>•  d. Market Assessment — markets are assessed at three levels (domestic, regional EAC/COMESA, and global), covering market size, growth, Uganda's share, the competitive landscape, and realistic access potential.</a:t>
            </a:r>
          </a:p>
          <a:p>
            <a:pPr/>
            <a:r>
              <a:rPr sz="1600" b="0">
                <a:solidFill>
                  <a:srgbClr val="333333"/>
                </a:solidFill>
              </a:rPr>
              <a:t>•  e. Prioritization Scoring — each product/sub-sector is scored against five weighted criteria (Section 3.5) to identify the 3–4 priorities per chain.</a:t>
            </a:r>
          </a:p>
          <a:p>
            <a:pPr/>
            <a:r>
              <a:rPr sz="1600" b="0">
                <a:solidFill>
                  <a:srgbClr val="333333"/>
                </a:solidFill>
              </a:rPr>
              <a:t>•  f. Priority Action Matrix — actions are organized by timeframe: quick wins (0–12 months), policy/institutional reforms (1–3 years), and investment interventions (3–5 years).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3.4 Binding-Constraints Dimensions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4062984"/>
                <a:gridCol w="4062984"/>
                <a:gridCol w="4062984"/>
              </a:tblGrid>
              <a:tr h="490450">
                <a:tc>
                  <a:txBody>
                    <a:bodyPr/>
                    <a:lstStyle/>
                    <a:p>
                      <a:pPr algn="l"/>
                      <a:r>
                        <a:rPr sz="1300" b="1">
                          <a:solidFill>
                            <a:srgbClr val="FFFFFF"/>
                          </a:solidFill>
                        </a:rPr>
                        <a:t>Dimension</a:t>
                      </a:r>
                    </a:p>
                  </a:txBody>
                  <a:tcPr>
                    <a:solidFill>
                      <a:srgbClr val="002B5B"/>
                    </a:solidFill>
                  </a:tcPr>
                </a:tc>
                <a:tc>
                  <a:txBody>
                    <a:bodyPr/>
                    <a:lstStyle/>
                    <a:p>
                      <a:pPr algn="l"/>
                      <a:r>
                        <a:rPr sz="1300" b="1">
                          <a:solidFill>
                            <a:srgbClr val="FFFFFF"/>
                          </a:solidFill>
                        </a:rPr>
                        <a:t>Key questions</a:t>
                      </a:r>
                    </a:p>
                  </a:txBody>
                  <a:tcPr>
                    <a:solidFill>
                      <a:srgbClr val="002B5B"/>
                    </a:solidFill>
                  </a:tcPr>
                </a:tc>
                <a:tc>
                  <a:txBody>
                    <a:bodyPr/>
                    <a:lstStyle/>
                    <a:p>
                      <a:pPr algn="l"/>
                      <a:r>
                        <a:rPr sz="1300" b="1">
                          <a:solidFill>
                            <a:srgbClr val="FFFFFF"/>
                          </a:solidFill>
                        </a:rPr>
                        <a:t>Primary evidence used</a:t>
                      </a:r>
                    </a:p>
                  </a:txBody>
                  <a:tcPr>
                    <a:solidFill>
                      <a:srgbClr val="002B5B"/>
                    </a:solidFill>
                  </a:tcPr>
                </a:tc>
              </a:tr>
              <a:tr h="490450">
                <a:tc>
                  <a:txBody>
                    <a:bodyPr/>
                    <a:lstStyle/>
                    <a:p>
                      <a:pPr algn="l"/>
                      <a:r>
                        <a:rPr sz="1200" b="0">
                          <a:solidFill>
                            <a:srgbClr val="333333"/>
                          </a:solidFill>
                        </a:rPr>
                        <a:t>Inputs and raw materials</a:t>
                      </a:r>
                    </a:p>
                  </a:txBody>
                  <a:tcPr>
                    <a:solidFill>
                      <a:srgbClr val="D6E8F7"/>
                    </a:solidFill>
                  </a:tcPr>
                </a:tc>
                <a:tc>
                  <a:txBody>
                    <a:bodyPr/>
                    <a:lstStyle/>
                    <a:p>
                      <a:pPr algn="l"/>
                      <a:r>
                        <a:rPr sz="1200" b="0">
                          <a:solidFill>
                            <a:srgbClr val="333333"/>
                          </a:solidFill>
                        </a:rPr>
                        <a:t>Availability, quality, cost, supply reliability</a:t>
                      </a:r>
                    </a:p>
                  </a:txBody>
                  <a:tcPr>
                    <a:solidFill>
                      <a:srgbClr val="D6E8F7"/>
                    </a:solidFill>
                  </a:tcPr>
                </a:tc>
                <a:tc>
                  <a:txBody>
                    <a:bodyPr/>
                    <a:lstStyle/>
                    <a:p>
                      <a:pPr algn="l"/>
                      <a:r>
                        <a:rPr sz="1200" b="0">
                          <a:solidFill>
                            <a:srgbClr val="333333"/>
                          </a:solidFill>
                        </a:rPr>
                        <a:t>Reserves data (DGSM); sector studies; TradeMap</a:t>
                      </a:r>
                    </a:p>
                  </a:txBody>
                  <a:tcPr>
                    <a:solidFill>
                      <a:srgbClr val="D6E8F7"/>
                    </a:solidFill>
                  </a:tcPr>
                </a:tc>
              </a:tr>
              <a:tr h="490450">
                <a:tc>
                  <a:txBody>
                    <a:bodyPr/>
                    <a:lstStyle/>
                    <a:p>
                      <a:pPr algn="l"/>
                      <a:r>
                        <a:rPr sz="1200" b="0">
                          <a:solidFill>
                            <a:srgbClr val="333333"/>
                          </a:solidFill>
                        </a:rPr>
                        <a:t>Technology and productivity</a:t>
                      </a:r>
                    </a:p>
                  </a:txBody>
                  <a:tcPr>
                    <a:solidFill>
                      <a:srgbClr val="FFFFFF"/>
                    </a:solidFill>
                  </a:tcPr>
                </a:tc>
                <a:tc>
                  <a:txBody>
                    <a:bodyPr/>
                    <a:lstStyle/>
                    <a:p>
                      <a:pPr algn="l"/>
                      <a:r>
                        <a:rPr sz="1200" b="0">
                          <a:solidFill>
                            <a:srgbClr val="333333"/>
                          </a:solidFill>
                        </a:rPr>
                        <a:t>Equipment vintage; productivity gap vs peers</a:t>
                      </a:r>
                    </a:p>
                  </a:txBody>
                  <a:tcPr>
                    <a:solidFill>
                      <a:srgbClr val="FFFFFF"/>
                    </a:solidFill>
                  </a:tcPr>
                </a:tc>
                <a:tc>
                  <a:txBody>
                    <a:bodyPr/>
                    <a:lstStyle/>
                    <a:p>
                      <a:pPr algn="l"/>
                      <a:r>
                        <a:rPr sz="1200" b="0">
                          <a:solidFill>
                            <a:srgbClr val="333333"/>
                          </a:solidFill>
                        </a:rPr>
                        <a:t>Sector studies; global benchmarks</a:t>
                      </a:r>
                    </a:p>
                  </a:txBody>
                  <a:tcPr>
                    <a:solidFill>
                      <a:srgbClr val="FFFFFF"/>
                    </a:solidFill>
                  </a:tcPr>
                </a:tc>
              </a:tr>
              <a:tr h="490450">
                <a:tc>
                  <a:txBody>
                    <a:bodyPr/>
                    <a:lstStyle/>
                    <a:p>
                      <a:pPr algn="l"/>
                      <a:r>
                        <a:rPr sz="1200" b="0">
                          <a:solidFill>
                            <a:srgbClr val="333333"/>
                          </a:solidFill>
                        </a:rPr>
                        <a:t>Energy</a:t>
                      </a:r>
                    </a:p>
                  </a:txBody>
                  <a:tcPr>
                    <a:solidFill>
                      <a:srgbClr val="D6E8F7"/>
                    </a:solidFill>
                  </a:tcPr>
                </a:tc>
                <a:tc>
                  <a:txBody>
                    <a:bodyPr/>
                    <a:lstStyle/>
                    <a:p>
                      <a:pPr algn="l"/>
                      <a:r>
                        <a:rPr sz="1200" b="0">
                          <a:solidFill>
                            <a:srgbClr val="333333"/>
                          </a:solidFill>
                        </a:rPr>
                        <a:t>Cost, reliability, access</a:t>
                      </a:r>
                    </a:p>
                  </a:txBody>
                  <a:tcPr>
                    <a:solidFill>
                      <a:srgbClr val="D6E8F7"/>
                    </a:solidFill>
                  </a:tcPr>
                </a:tc>
                <a:tc>
                  <a:txBody>
                    <a:bodyPr/>
                    <a:lstStyle/>
                    <a:p>
                      <a:pPr algn="l"/>
                      <a:r>
                        <a:rPr sz="1200" b="0">
                          <a:solidFill>
                            <a:srgbClr val="333333"/>
                          </a:solidFill>
                        </a:rPr>
                        <a:t>ERA tariffs 2025; UEDCL</a:t>
                      </a:r>
                    </a:p>
                  </a:txBody>
                  <a:tcPr>
                    <a:solidFill>
                      <a:srgbClr val="D6E8F7"/>
                    </a:solidFill>
                  </a:tcPr>
                </a:tc>
              </a:tr>
              <a:tr h="490450">
                <a:tc>
                  <a:txBody>
                    <a:bodyPr/>
                    <a:lstStyle/>
                    <a:p>
                      <a:pPr algn="l"/>
                      <a:r>
                        <a:rPr sz="1200" b="0">
                          <a:solidFill>
                            <a:srgbClr val="333333"/>
                          </a:solidFill>
                        </a:rPr>
                        <a:t>Water</a:t>
                      </a:r>
                    </a:p>
                  </a:txBody>
                  <a:tcPr>
                    <a:solidFill>
                      <a:srgbClr val="FFFFFF"/>
                    </a:solidFill>
                  </a:tcPr>
                </a:tc>
                <a:tc>
                  <a:txBody>
                    <a:bodyPr/>
                    <a:lstStyle/>
                    <a:p>
                      <a:pPr algn="l"/>
                      <a:r>
                        <a:rPr sz="1200" b="0">
                          <a:solidFill>
                            <a:srgbClr val="333333"/>
                          </a:solidFill>
                        </a:rPr>
                        <a:t>Availability and cost for industry</a:t>
                      </a:r>
                    </a:p>
                  </a:txBody>
                  <a:tcPr>
                    <a:solidFill>
                      <a:srgbClr val="FFFFFF"/>
                    </a:solidFill>
                  </a:tcPr>
                </a:tc>
                <a:tc>
                  <a:txBody>
                    <a:bodyPr/>
                    <a:lstStyle/>
                    <a:p>
                      <a:pPr algn="l"/>
                      <a:r>
                        <a:rPr sz="1200" b="0">
                          <a:solidFill>
                            <a:srgbClr val="333333"/>
                          </a:solidFill>
                        </a:rPr>
                        <a:t>NWSC; NEMA framework</a:t>
                      </a:r>
                    </a:p>
                  </a:txBody>
                  <a:tcPr>
                    <a:solidFill>
                      <a:srgbClr val="FFFFFF"/>
                    </a:solidFill>
                  </a:tcPr>
                </a:tc>
              </a:tr>
              <a:tr h="490450">
                <a:tc>
                  <a:txBody>
                    <a:bodyPr/>
                    <a:lstStyle/>
                    <a:p>
                      <a:pPr algn="l"/>
                      <a:r>
                        <a:rPr sz="1200" b="0">
                          <a:solidFill>
                            <a:srgbClr val="333333"/>
                          </a:solidFill>
                        </a:rPr>
                        <a:t>Logistics and transport</a:t>
                      </a:r>
                    </a:p>
                  </a:txBody>
                  <a:tcPr>
                    <a:solidFill>
                      <a:srgbClr val="D6E8F7"/>
                    </a:solidFill>
                  </a:tcPr>
                </a:tc>
                <a:tc>
                  <a:txBody>
                    <a:bodyPr/>
                    <a:lstStyle/>
                    <a:p>
                      <a:pPr algn="l"/>
                      <a:r>
                        <a:rPr sz="1200" b="0">
                          <a:solidFill>
                            <a:srgbClr val="333333"/>
                          </a:solidFill>
                        </a:rPr>
                        <a:t>Transport cost, corridor and customs efficiency</a:t>
                      </a:r>
                    </a:p>
                  </a:txBody>
                  <a:tcPr>
                    <a:solidFill>
                      <a:srgbClr val="D6E8F7"/>
                    </a:solidFill>
                  </a:tcPr>
                </a:tc>
                <a:tc>
                  <a:txBody>
                    <a:bodyPr/>
                    <a:lstStyle/>
                    <a:p>
                      <a:pPr algn="l"/>
                      <a:r>
                        <a:rPr sz="1200" b="0">
                          <a:solidFill>
                            <a:srgbClr val="333333"/>
                          </a:solidFill>
                        </a:rPr>
                        <a:t>Sector analyses (logistics ≈18–20% of sale price)</a:t>
                      </a:r>
                    </a:p>
                  </a:txBody>
                  <a:tcPr>
                    <a:solidFill>
                      <a:srgbClr val="D6E8F7"/>
                    </a:solidFill>
                  </a:tcPr>
                </a:tc>
              </a:tr>
              <a:tr h="490450">
                <a:tc>
                  <a:txBody>
                    <a:bodyPr/>
                    <a:lstStyle/>
                    <a:p>
                      <a:pPr algn="l"/>
                      <a:r>
                        <a:rPr sz="1200" b="0">
                          <a:solidFill>
                            <a:srgbClr val="333333"/>
                          </a:solidFill>
                        </a:rPr>
                        <a:t>Waste and effluent management</a:t>
                      </a:r>
                    </a:p>
                  </a:txBody>
                  <a:tcPr>
                    <a:solidFill>
                      <a:srgbClr val="FFFFFF"/>
                    </a:solidFill>
                  </a:tcPr>
                </a:tc>
                <a:tc>
                  <a:txBody>
                    <a:bodyPr/>
                    <a:lstStyle/>
                    <a:p>
                      <a:pPr algn="l"/>
                      <a:r>
                        <a:rPr sz="1200" b="0">
                          <a:solidFill>
                            <a:srgbClr val="333333"/>
                          </a:solidFill>
                        </a:rPr>
                        <a:t>Compliance cost, circular-economy options</a:t>
                      </a:r>
                    </a:p>
                  </a:txBody>
                  <a:tcPr>
                    <a:solidFill>
                      <a:srgbClr val="FFFFFF"/>
                    </a:solidFill>
                  </a:tcPr>
                </a:tc>
                <a:tc>
                  <a:txBody>
                    <a:bodyPr/>
                    <a:lstStyle/>
                    <a:p>
                      <a:pPr algn="l"/>
                      <a:r>
                        <a:rPr sz="1200" b="0">
                          <a:solidFill>
                            <a:srgbClr val="333333"/>
                          </a:solidFill>
                        </a:rPr>
                        <a:t>NEMA Effluent Discharge Regulations 2020</a:t>
                      </a:r>
                    </a:p>
                  </a:txBody>
                  <a:tcPr>
                    <a:solidFill>
                      <a:srgbClr val="FFFFFF"/>
                    </a:solidFill>
                  </a:tcPr>
                </a:tc>
              </a:tr>
              <a:tr h="490450">
                <a:tc>
                  <a:txBody>
                    <a:bodyPr/>
                    <a:lstStyle/>
                    <a:p>
                      <a:pPr algn="l"/>
                      <a:r>
                        <a:rPr sz="1200" b="0">
                          <a:solidFill>
                            <a:srgbClr val="333333"/>
                          </a:solidFill>
                        </a:rPr>
                        <a:t>Finance and investment</a:t>
                      </a:r>
                    </a:p>
                  </a:txBody>
                  <a:tcPr>
                    <a:solidFill>
                      <a:srgbClr val="D6E8F7"/>
                    </a:solidFill>
                  </a:tcPr>
                </a:tc>
                <a:tc>
                  <a:txBody>
                    <a:bodyPr/>
                    <a:lstStyle/>
                    <a:p>
                      <a:pPr algn="l"/>
                      <a:r>
                        <a:rPr sz="1200" b="0">
                          <a:solidFill>
                            <a:srgbClr val="333333"/>
                          </a:solidFill>
                        </a:rPr>
                        <a:t>Long-term capital, rates, collateral</a:t>
                      </a:r>
                    </a:p>
                  </a:txBody>
                  <a:tcPr>
                    <a:solidFill>
                      <a:srgbClr val="D6E8F7"/>
                    </a:solidFill>
                  </a:tcPr>
                </a:tc>
                <a:tc>
                  <a:txBody>
                    <a:bodyPr/>
                    <a:lstStyle/>
                    <a:p>
                      <a:pPr algn="l"/>
                      <a:r>
                        <a:rPr sz="1200" b="0">
                          <a:solidFill>
                            <a:srgbClr val="333333"/>
                          </a:solidFill>
                        </a:rPr>
                        <a:t>KPMG Budget Brief 2025/26; UDB</a:t>
                      </a:r>
                    </a:p>
                  </a:txBody>
                  <a:tcPr>
                    <a:solidFill>
                      <a:srgbClr val="D6E8F7"/>
                    </a:solidFill>
                  </a:tcPr>
                </a:tc>
              </a:tr>
              <a:tr h="490450">
                <a:tc>
                  <a:txBody>
                    <a:bodyPr/>
                    <a:lstStyle/>
                    <a:p>
                      <a:pPr algn="l"/>
                      <a:r>
                        <a:rPr sz="1200" b="0">
                          <a:solidFill>
                            <a:srgbClr val="333333"/>
                          </a:solidFill>
                        </a:rPr>
                        <a:t>Skills and workforce</a:t>
                      </a:r>
                    </a:p>
                  </a:txBody>
                  <a:tcPr>
                    <a:solidFill>
                      <a:srgbClr val="FFFFFF"/>
                    </a:solidFill>
                  </a:tcPr>
                </a:tc>
                <a:tc>
                  <a:txBody>
                    <a:bodyPr/>
                    <a:lstStyle/>
                    <a:p>
                      <a:pPr algn="l"/>
                      <a:r>
                        <a:rPr sz="1200" b="0">
                          <a:solidFill>
                            <a:srgbClr val="333333"/>
                          </a:solidFill>
                        </a:rPr>
                        <a:t>Technical, vocational, managerial skills</a:t>
                      </a:r>
                    </a:p>
                  </a:txBody>
                  <a:tcPr>
                    <a:solidFill>
                      <a:srgbClr val="FFFFFF"/>
                    </a:solidFill>
                  </a:tcPr>
                </a:tc>
                <a:tc>
                  <a:txBody>
                    <a:bodyPr/>
                    <a:lstStyle/>
                    <a:p>
                      <a:pPr algn="l"/>
                      <a:r>
                        <a:rPr sz="1200" b="0">
                          <a:solidFill>
                            <a:srgbClr val="333333"/>
                          </a:solidFill>
                        </a:rPr>
                        <a:t>UMA/UNIDO skills evidence</a:t>
                      </a:r>
                    </a:p>
                  </a:txBody>
                  <a:tcPr>
                    <a:solidFill>
                      <a:srgbClr val="FFFFFF"/>
                    </a:solidFill>
                  </a:tcPr>
                </a:tc>
              </a:tr>
              <a:tr h="490450">
                <a:tc>
                  <a:txBody>
                    <a:bodyPr/>
                    <a:lstStyle/>
                    <a:p>
                      <a:pPr algn="l"/>
                      <a:r>
                        <a:rPr sz="1200" b="0">
                          <a:solidFill>
                            <a:srgbClr val="333333"/>
                          </a:solidFill>
                        </a:rPr>
                        <a:t>Standards and quality</a:t>
                      </a:r>
                    </a:p>
                  </a:txBody>
                  <a:tcPr>
                    <a:solidFill>
                      <a:srgbClr val="D6E8F7"/>
                    </a:solidFill>
                  </a:tcPr>
                </a:tc>
                <a:tc>
                  <a:txBody>
                    <a:bodyPr/>
                    <a:lstStyle/>
                    <a:p>
                      <a:pPr algn="l"/>
                      <a:r>
                        <a:rPr sz="1200" b="0">
                          <a:solidFill>
                            <a:srgbClr val="333333"/>
                          </a:solidFill>
                        </a:rPr>
                        <a:t>UNBS and international compliance</a:t>
                      </a:r>
                    </a:p>
                  </a:txBody>
                  <a:tcPr>
                    <a:solidFill>
                      <a:srgbClr val="D6E8F7"/>
                    </a:solidFill>
                  </a:tcPr>
                </a:tc>
                <a:tc>
                  <a:txBody>
                    <a:bodyPr/>
                    <a:lstStyle/>
                    <a:p>
                      <a:pPr algn="l"/>
                      <a:r>
                        <a:rPr sz="1200" b="0">
                          <a:solidFill>
                            <a:srgbClr val="333333"/>
                          </a:solidFill>
                        </a:rPr>
                        <a:t>UNBS</a:t>
                      </a:r>
                    </a:p>
                  </a:txBody>
                  <a:tcPr>
                    <a:solidFill>
                      <a:srgbClr val="D6E8F7"/>
                    </a:solidFill>
                  </a:tcPr>
                </a:tc>
              </a:tr>
              <a:tr h="490460">
                <a:tc>
                  <a:txBody>
                    <a:bodyPr/>
                    <a:lstStyle/>
                    <a:p>
                      <a:pPr algn="l"/>
                      <a:r>
                        <a:rPr sz="1200" b="0">
                          <a:solidFill>
                            <a:srgbClr val="333333"/>
                          </a:solidFill>
                        </a:rPr>
                        <a:t>Policy and regulatory</a:t>
                      </a:r>
                    </a:p>
                  </a:txBody>
                  <a:tcPr>
                    <a:solidFill>
                      <a:srgbClr val="FFFFFF"/>
                    </a:solidFill>
                  </a:tcPr>
                </a:tc>
                <a:tc>
                  <a:txBody>
                    <a:bodyPr/>
                    <a:lstStyle/>
                    <a:p>
                      <a:pPr algn="l"/>
                      <a:r>
                        <a:rPr sz="1200" b="0">
                          <a:solidFill>
                            <a:srgbClr val="333333"/>
                          </a:solidFill>
                        </a:rPr>
                        <a:t>Tariffs, NTBs, licensing, land, incentives</a:t>
                      </a:r>
                    </a:p>
                  </a:txBody>
                  <a:tcPr>
                    <a:solidFill>
                      <a:srgbClr val="FFFFFF"/>
                    </a:solidFill>
                  </a:tcPr>
                </a:tc>
                <a:tc>
                  <a:txBody>
                    <a:bodyPr/>
                    <a:lstStyle/>
                    <a:p>
                      <a:pPr algn="l"/>
                      <a:r>
                        <a:rPr sz="1200" b="0">
                          <a:solidFill>
                            <a:srgbClr val="333333"/>
                          </a:solidFill>
                        </a:rPr>
                        <a:t>NIP 2020; sector Acts; EAC CET</a:t>
                      </a:r>
                    </a:p>
                  </a:txBody>
                  <a:tcP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3.5 Prioritization Framework</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4062984"/>
                <a:gridCol w="4062984"/>
                <a:gridCol w="4062984"/>
              </a:tblGrid>
              <a:tr h="899160">
                <a:tc>
                  <a:txBody>
                    <a:bodyPr/>
                    <a:lstStyle/>
                    <a:p>
                      <a:pPr algn="l"/>
                      <a:r>
                        <a:rPr sz="1300" b="1">
                          <a:solidFill>
                            <a:srgbClr val="FFFFFF"/>
                          </a:solidFill>
                        </a:rPr>
                        <a:t>Criterion</a:t>
                      </a:r>
                    </a:p>
                  </a:txBody>
                  <a:tcPr>
                    <a:solidFill>
                      <a:srgbClr val="002B5B"/>
                    </a:solidFill>
                  </a:tcPr>
                </a:tc>
                <a:tc>
                  <a:txBody>
                    <a:bodyPr/>
                    <a:lstStyle/>
                    <a:p>
                      <a:pPr algn="l"/>
                      <a:r>
                        <a:rPr sz="1300" b="1">
                          <a:solidFill>
                            <a:srgbClr val="FFFFFF"/>
                          </a:solidFill>
                        </a:rPr>
                        <a:t>Description</a:t>
                      </a:r>
                    </a:p>
                  </a:txBody>
                  <a:tcPr>
                    <a:solidFill>
                      <a:srgbClr val="002B5B"/>
                    </a:solidFill>
                  </a:tcPr>
                </a:tc>
                <a:tc>
                  <a:txBody>
                    <a:bodyPr/>
                    <a:lstStyle/>
                    <a:p>
                      <a:pPr algn="l"/>
                      <a:r>
                        <a:rPr sz="1300" b="1">
                          <a:solidFill>
                            <a:srgbClr val="FFFFFF"/>
                          </a:solidFill>
                        </a:rPr>
                        <a:t>Weight</a:t>
                      </a:r>
                    </a:p>
                  </a:txBody>
                  <a:tcPr>
                    <a:solidFill>
                      <a:srgbClr val="002B5B"/>
                    </a:solidFill>
                  </a:tcPr>
                </a:tc>
              </a:tr>
              <a:tr h="899160">
                <a:tc>
                  <a:txBody>
                    <a:bodyPr/>
                    <a:lstStyle/>
                    <a:p>
                      <a:pPr algn="l"/>
                      <a:r>
                        <a:rPr sz="1200" b="0">
                          <a:solidFill>
                            <a:srgbClr val="333333"/>
                          </a:solidFill>
                        </a:rPr>
                        <a:t>1. Accessible market size</a:t>
                      </a:r>
                    </a:p>
                  </a:txBody>
                  <a:tcPr>
                    <a:solidFill>
                      <a:srgbClr val="D6E8F7"/>
                    </a:solidFill>
                  </a:tcPr>
                </a:tc>
                <a:tc>
                  <a:txBody>
                    <a:bodyPr/>
                    <a:lstStyle/>
                    <a:p>
                      <a:pPr algn="l"/>
                      <a:r>
                        <a:rPr sz="1200" b="0">
                          <a:solidFill>
                            <a:srgbClr val="333333"/>
                          </a:solidFill>
                        </a:rPr>
                        <a:t>Size and growth of the domestic, regional, and export market Uganda can realistically access</a:t>
                      </a:r>
                    </a:p>
                  </a:txBody>
                  <a:tcPr>
                    <a:solidFill>
                      <a:srgbClr val="D6E8F7"/>
                    </a:solidFill>
                  </a:tcPr>
                </a:tc>
                <a:tc>
                  <a:txBody>
                    <a:bodyPr/>
                    <a:lstStyle/>
                    <a:p>
                      <a:pPr algn="l"/>
                      <a:r>
                        <a:rPr sz="1200" b="0">
                          <a:solidFill>
                            <a:srgbClr val="333333"/>
                          </a:solidFill>
                        </a:rPr>
                        <a:t>25%</a:t>
                      </a:r>
                    </a:p>
                  </a:txBody>
                  <a:tcPr>
                    <a:solidFill>
                      <a:srgbClr val="D6E8F7"/>
                    </a:solidFill>
                  </a:tcPr>
                </a:tc>
              </a:tr>
              <a:tr h="899160">
                <a:tc>
                  <a:txBody>
                    <a:bodyPr/>
                    <a:lstStyle/>
                    <a:p>
                      <a:pPr algn="l"/>
                      <a:r>
                        <a:rPr sz="1200" b="0">
                          <a:solidFill>
                            <a:srgbClr val="333333"/>
                          </a:solidFill>
                        </a:rPr>
                        <a:t>2. Uganda's comparative advantage</a:t>
                      </a:r>
                    </a:p>
                  </a:txBody>
                  <a:tcPr>
                    <a:solidFill>
                      <a:srgbClr val="FFFFFF"/>
                    </a:solidFill>
                  </a:tcPr>
                </a:tc>
                <a:tc>
                  <a:txBody>
                    <a:bodyPr/>
                    <a:lstStyle/>
                    <a:p>
                      <a:pPr algn="l"/>
                      <a:r>
                        <a:rPr sz="1200" b="0">
                          <a:solidFill>
                            <a:srgbClr val="333333"/>
                          </a:solidFill>
                        </a:rPr>
                        <a:t>Raw-material availability, existing productive base, geographic proximity</a:t>
                      </a:r>
                    </a:p>
                  </a:txBody>
                  <a:tcPr>
                    <a:solidFill>
                      <a:srgbClr val="FFFFFF"/>
                    </a:solidFill>
                  </a:tcPr>
                </a:tc>
                <a:tc>
                  <a:txBody>
                    <a:bodyPr/>
                    <a:lstStyle/>
                    <a:p>
                      <a:pPr algn="l"/>
                      <a:r>
                        <a:rPr sz="1200" b="0">
                          <a:solidFill>
                            <a:srgbClr val="333333"/>
                          </a:solidFill>
                        </a:rPr>
                        <a:t>25%</a:t>
                      </a:r>
                    </a:p>
                  </a:txBody>
                  <a:tcPr>
                    <a:solidFill>
                      <a:srgbClr val="FFFFFF"/>
                    </a:solidFill>
                  </a:tcPr>
                </a:tc>
              </a:tr>
              <a:tr h="899160">
                <a:tc>
                  <a:txBody>
                    <a:bodyPr/>
                    <a:lstStyle/>
                    <a:p>
                      <a:pPr algn="l"/>
                      <a:r>
                        <a:rPr sz="1200" b="0">
                          <a:solidFill>
                            <a:srgbClr val="333333"/>
                          </a:solidFill>
                        </a:rPr>
                        <a:t>3. Feasibility</a:t>
                      </a:r>
                    </a:p>
                  </a:txBody>
                  <a:tcPr>
                    <a:solidFill>
                      <a:srgbClr val="D6E8F7"/>
                    </a:solidFill>
                  </a:tcPr>
                </a:tc>
                <a:tc>
                  <a:txBody>
                    <a:bodyPr/>
                    <a:lstStyle/>
                    <a:p>
                      <a:pPr algn="l"/>
                      <a:r>
                        <a:rPr sz="1200" b="0">
                          <a:solidFill>
                            <a:srgbClr val="333333"/>
                          </a:solidFill>
                        </a:rPr>
                        <a:t>Capital requirements, technology readiness, lead time, management capability</a:t>
                      </a:r>
                    </a:p>
                  </a:txBody>
                  <a:tcPr>
                    <a:solidFill>
                      <a:srgbClr val="D6E8F7"/>
                    </a:solidFill>
                  </a:tcPr>
                </a:tc>
                <a:tc>
                  <a:txBody>
                    <a:bodyPr/>
                    <a:lstStyle/>
                    <a:p>
                      <a:pPr algn="l"/>
                      <a:r>
                        <a:rPr sz="1200" b="0">
                          <a:solidFill>
                            <a:srgbClr val="333333"/>
                          </a:solidFill>
                        </a:rPr>
                        <a:t>20%</a:t>
                      </a:r>
                    </a:p>
                  </a:txBody>
                  <a:tcPr>
                    <a:solidFill>
                      <a:srgbClr val="D6E8F7"/>
                    </a:solidFill>
                  </a:tcPr>
                </a:tc>
              </a:tr>
              <a:tr h="899160">
                <a:tc>
                  <a:txBody>
                    <a:bodyPr/>
                    <a:lstStyle/>
                    <a:p>
                      <a:pPr algn="l"/>
                      <a:r>
                        <a:rPr sz="1200" b="0">
                          <a:solidFill>
                            <a:srgbClr val="333333"/>
                          </a:solidFill>
                        </a:rPr>
                        <a:t>4. Job creation and income potential</a:t>
                      </a:r>
                    </a:p>
                  </a:txBody>
                  <a:tcPr>
                    <a:solidFill>
                      <a:srgbClr val="FFFFFF"/>
                    </a:solidFill>
                  </a:tcPr>
                </a:tc>
                <a:tc>
                  <a:txBody>
                    <a:bodyPr/>
                    <a:lstStyle/>
                    <a:p>
                      <a:pPr algn="l"/>
                      <a:r>
                        <a:rPr sz="1200" b="0">
                          <a:solidFill>
                            <a:srgbClr val="333333"/>
                          </a:solidFill>
                        </a:rPr>
                        <a:t>Direct/indirect employment, wages, linkage effects</a:t>
                      </a:r>
                    </a:p>
                  </a:txBody>
                  <a:tcPr>
                    <a:solidFill>
                      <a:srgbClr val="FFFFFF"/>
                    </a:solidFill>
                  </a:tcPr>
                </a:tc>
                <a:tc>
                  <a:txBody>
                    <a:bodyPr/>
                    <a:lstStyle/>
                    <a:p>
                      <a:pPr algn="l"/>
                      <a:r>
                        <a:rPr sz="1200" b="0">
                          <a:solidFill>
                            <a:srgbClr val="333333"/>
                          </a:solidFill>
                        </a:rPr>
                        <a:t>15%</a:t>
                      </a:r>
                    </a:p>
                  </a:txBody>
                  <a:tcPr>
                    <a:solidFill>
                      <a:srgbClr val="FFFFFF"/>
                    </a:solidFill>
                  </a:tcPr>
                </a:tc>
              </a:tr>
              <a:tr h="899160">
                <a:tc>
                  <a:txBody>
                    <a:bodyPr/>
                    <a:lstStyle/>
                    <a:p>
                      <a:pPr algn="l"/>
                      <a:r>
                        <a:rPr sz="1200" b="0">
                          <a:solidFill>
                            <a:srgbClr val="333333"/>
                          </a:solidFill>
                        </a:rPr>
                        <a:t>5. Import substitution impact</a:t>
                      </a:r>
                    </a:p>
                  </a:txBody>
                  <a:tcPr>
                    <a:solidFill>
                      <a:srgbClr val="D6E8F7"/>
                    </a:solidFill>
                  </a:tcPr>
                </a:tc>
                <a:tc>
                  <a:txBody>
                    <a:bodyPr/>
                    <a:lstStyle/>
                    <a:p>
                      <a:pPr algn="l"/>
                      <a:r>
                        <a:rPr sz="1200" b="0">
                          <a:solidFill>
                            <a:srgbClr val="333333"/>
                          </a:solidFill>
                        </a:rPr>
                        <a:t>Value of imports domestic production could displace; current-account benefit</a:t>
                      </a:r>
                    </a:p>
                  </a:txBody>
                  <a:tcPr>
                    <a:solidFill>
                      <a:srgbClr val="D6E8F7"/>
                    </a:solidFill>
                  </a:tcPr>
                </a:tc>
                <a:tc>
                  <a:txBody>
                    <a:bodyPr/>
                    <a:lstStyle/>
                    <a:p>
                      <a:pPr algn="l"/>
                      <a:r>
                        <a:rPr sz="1200" b="0">
                          <a:solidFill>
                            <a:srgbClr val="333333"/>
                          </a:solidFill>
                        </a:rPr>
                        <a:t>15%</a:t>
                      </a:r>
                    </a:p>
                  </a:txBody>
                  <a:tcPr>
                    <a:solidFill>
                      <a:srgbClr val="D6E8F7"/>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3.5 Prioritization Framework</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A transparent, criteria-based scoring framework was applied consistently across all three chains, reflecting the study's core principle: successful industrial economies are built around a small number of products done exceptionally well, not a broad catalogue of marginal interventions.</a:t>
            </a:r>
          </a:p>
          <a:p>
            <a:pPr/>
            <a:r>
              <a:rPr sz="1600" b="0">
                <a:solidFill>
                  <a:srgbClr val="333333"/>
                </a:solidFill>
              </a:rPr>
              <a:t>•  Each product/sub-sector is scored 1–5 per criterion and weighted into a composite score. Products scoring above 3.5 are designated priorities; those below 2.5 are explicitly deprioritized with rationale; those between are conditional priorities. Explicit deprioritization is a required output for each chain — stating what Uganda should not pursue at this stage is as important as stating what it should.</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3.6 The Value Chains Application</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To make the diagnostic usable beyond the written report, each value chain is modelled as a single underlying data graph that drives both this report and an interactive Value Chains application. The application renders each chain as a decomposition from finished product to inputs, with each node carrying its function, HS codes, live ITC TradeMap trade data, and sources. This ensures the report and the interactive tool remain consistent: the analysis is produced once and presented in both forms.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3.7 Validation (Planned)</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Because this is a desk-based diagnostic, validation is a distinct, planned step that follows submission. Two mechanisms are planned:</a:t>
            </a:r>
          </a:p>
          <a:p>
            <a:pPr/>
            <a:r>
              <a:rPr sz="1600" b="0">
                <a:solidFill>
                  <a:srgbClr val="333333"/>
                </a:solidFill>
              </a:rPr>
              <a:t>•  Key informant interviews (KIIs) — structured interviews with public-sector institutions (MTIC, UIA, URA, UBOS, UNBS, MEMD/DGSM, UNMC, KMC), private-sector manufacturers across the three chains, industry associations (UMA), financial institutions (UDB, UDC, EADB), and research institutions (Makerere, UIRI), to test and enrich the desk findings.</a:t>
            </a:r>
          </a:p>
          <a:p>
            <a:pPr/>
            <a:r>
              <a:rPr sz="1600" b="0">
                <a:solidFill>
                  <a:srgbClr val="333333"/>
                </a:solidFill>
              </a:rPr>
              <a:t>•  Stakeholder validation workshop — a structured workshop with the TWG, private-sector actors, financiers, and development partners to test the prioritization findings and action matrices, surface contested points, and agree the final priorities.</a:t>
            </a:r>
          </a:p>
          <a:p>
            <a:pPr/>
            <a:r>
              <a:rPr sz="1600" b="0">
                <a:solidFill>
                  <a:srgbClr val="333333"/>
                </a:solidFill>
              </a:rPr>
              <a:t>•  Inputs from this process will be incorporated into the final version of the report. Until then, the findings stand as a desk-based diagnostic offered for validation.</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3.8 Limitations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These limitations define where the validation step and subsequent monitoring will most strengthen the evidence base. They do not alter the direction of the diagnostic's conclusions.</a:t>
            </a:r>
          </a:p>
          <a:p>
            <a:pPr/>
            <a:r>
              <a:rPr sz="1600" b="0">
                <a:solidFill>
                  <a:srgbClr val="333333"/>
                </a:solidFill>
              </a:rPr>
              <a:t>•  Desk-based scope. Findings rest on documentary and statistical evidence, not primary fieldwork. The planned KIIs and workshop (Section 3.7) are the means by which firm-level and on-the-ground realities will be tested.</a:t>
            </a:r>
          </a:p>
          <a:p>
            <a:pPr/>
            <a:r>
              <a:rPr sz="1600" b="0">
                <a:solidFill>
                  <a:srgbClr val="333333"/>
                </a:solidFill>
              </a:rPr>
              <a:t>•  Uneven data depth across chains. Iron &amp; Steel benefits from a recent, detailed NPA/UDC assessment (June 2025); Copper and Automotive rely more on official reserve/registration data, company disclosures, and trade data. This is noted where it affects precision.</a:t>
            </a:r>
          </a:p>
          <a:p>
            <a:pPr/>
            <a:r>
              <a:rPr sz="1600" b="0">
                <a:solidFill>
                  <a:srgbClr val="333333"/>
                </a:solidFill>
              </a:rPr>
              <a:t>•  Firm-level statistics. Uganda's industrial statistics do not yet capture comprehensive, current firm-level production and employment data for all chains; estimates are triangulated across sources and flagged.</a:t>
            </a:r>
          </a:p>
          <a:p>
            <a:pPr/>
            <a:r>
              <a:rPr sz="1600" b="0">
                <a:solidFill>
                  <a:srgbClr val="333333"/>
                </a:solidFill>
              </a:rPr>
              <a:t>•  Indicative investment figures. CAPEX/OPEX figures in the investment chapter are indicative and labelled as such; they are planning estimates, not appraised project costs.</a:t>
            </a:r>
          </a:p>
          <a:p>
            <a:pPr/>
            <a:r>
              <a:rPr sz="1600" b="0">
                <a:solidFill>
                  <a:srgbClr val="333333"/>
                </a:solidFill>
              </a:rPr>
              <a:t>•  Trade-data basis. Trade figures are from ITC TradeMap for the latest available year (generally 2024); some partner-level cells are suppressed or lag, which TradeMap notes and which is reflected where relevant.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National Planning Authority, Uganda Vision 2040; National Development Plan IV (FY2025/26–2029/30). https://npa.go.ug/national-development-plan/</a:t>
            </a:r>
          </a:p>
          <a:p>
            <a:pPr/>
            <a:r>
              <a:rPr sz="1600" b="0">
                <a:solidFill>
                  <a:srgbClr val="333333"/>
                </a:solidFill>
              </a:rPr>
              <a:t>•  MTIC, National Industrial Policy 2020. https://www.mtic.go.ug/</a:t>
            </a:r>
          </a:p>
          <a:p>
            <a:pPr/>
            <a:r>
              <a:rPr sz="1600" b="0">
                <a:solidFill>
                  <a:srgbClr val="333333"/>
                </a:solidFill>
              </a:rPr>
              <a:t>•  NPA/UDC, Report on the Mapping and Value Chain Analysis for Uganda's Iron and Steel Industry (June 2025). [Repository: data/ — provided by MTIC]</a:t>
            </a:r>
          </a:p>
          <a:p>
            <a:pPr/>
            <a:r>
              <a:rPr sz="1600" b="0">
                <a:solidFill>
                  <a:srgbClr val="333333"/>
                </a:solidFill>
              </a:rPr>
              <a:t>•  Directorate of Geological Survey and Mines. https://dgsm.go.ug/</a:t>
            </a:r>
          </a:p>
          <a:p>
            <a:pPr/>
            <a:r>
              <a:rPr sz="1600" b="0">
                <a:solidFill>
                  <a:srgbClr val="333333"/>
                </a:solidFill>
              </a:rPr>
              <a:t>•  Electricity Regulatory Authority, end-user tariffs 2025. https://www.era.go.ug/</a:t>
            </a:r>
          </a:p>
          <a:p>
            <a:pPr/>
            <a:r>
              <a:rPr sz="1600" b="0">
                <a:solidFill>
                  <a:srgbClr val="333333"/>
                </a:solidFill>
              </a:rPr>
              <a:t>•  NEMA, National Environment (Standards for Discharge of Effluent into Water or Land) Regulations 2020. https://www.nema.go.ug/</a:t>
            </a:r>
          </a:p>
          <a:p>
            <a:pPr/>
            <a:r>
              <a:rPr sz="1600" b="0">
                <a:solidFill>
                  <a:srgbClr val="333333"/>
                </a:solidFill>
              </a:rPr>
              <a:t>•  World Bank, World Development Indicators. https://data.worldbank.org/country/UG</a:t>
            </a:r>
          </a:p>
          <a:p>
            <a:pPr/>
            <a:r>
              <a:rPr sz="1600" b="0">
                <a:solidFill>
                  <a:srgbClr val="333333"/>
                </a:solidFill>
              </a:rPr>
              <a:t>•  World Steel Association, World Steel in Figures 2025. https://worldsteel.org/data/world-steel-in-figures/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International Copper Study Group, World Copper Factbook 2025. https://icsg.org/copper-factbook/</a:t>
            </a:r>
          </a:p>
          <a:p>
            <a:pPr/>
            <a:r>
              <a:rPr sz="1600" b="0">
                <a:solidFill>
                  <a:srgbClr val="333333"/>
                </a:solidFill>
              </a:rPr>
              <a:t>•  Uganda Bankers Association, Unlocking the Potential of Uganda's Manufacturing Sector (2024). https://ugandabankers.org/</a:t>
            </a:r>
          </a:p>
          <a:p>
            <a:pPr/>
            <a:r>
              <a:rPr sz="1600" b="0">
                <a:solidFill>
                  <a:srgbClr val="333333"/>
                </a:solidFill>
              </a:rPr>
              <a:t>•  ITC TradeMap. https://www.trademap.org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4</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4: Iron &amp; Steel Value Chain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770708">
                <a:tc>
                  <a:txBody>
                    <a:bodyPr/>
                    <a:lstStyle/>
                    <a:p>
                      <a:pPr algn="l"/>
                      <a:r>
                        <a:rPr sz="1300" b="1">
                          <a:solidFill>
                            <a:srgbClr val="FFFFFF"/>
                          </a:solidFill>
                        </a:rPr>
                        <a:t>Phase</a:t>
                      </a:r>
                    </a:p>
                  </a:txBody>
                  <a:tcPr>
                    <a:solidFill>
                      <a:srgbClr val="002B5B"/>
                    </a:solidFill>
                  </a:tcPr>
                </a:tc>
                <a:tc>
                  <a:txBody>
                    <a:bodyPr/>
                    <a:lstStyle/>
                    <a:p>
                      <a:pPr algn="l"/>
                      <a:r>
                        <a:rPr sz="1300" b="1">
                          <a:solidFill>
                            <a:srgbClr val="FFFFFF"/>
                          </a:solidFill>
                        </a:rPr>
                        <a:t>Activity</a:t>
                      </a:r>
                    </a:p>
                  </a:txBody>
                  <a:tcPr>
                    <a:solidFill>
                      <a:srgbClr val="002B5B"/>
                    </a:solidFill>
                  </a:tcPr>
                </a:tc>
                <a:tc>
                  <a:txBody>
                    <a:bodyPr/>
                    <a:lstStyle/>
                    <a:p>
                      <a:pPr algn="l"/>
                      <a:r>
                        <a:rPr sz="1300" b="1">
                          <a:solidFill>
                            <a:srgbClr val="FFFFFF"/>
                          </a:solidFill>
                        </a:rPr>
                        <a:t>Main inputs</a:t>
                      </a:r>
                    </a:p>
                  </a:txBody>
                  <a:tcPr>
                    <a:solidFill>
                      <a:srgbClr val="002B5B"/>
                    </a:solidFill>
                  </a:tcPr>
                </a:tc>
                <a:tc>
                  <a:txBody>
                    <a:bodyPr/>
                    <a:lstStyle/>
                    <a:p>
                      <a:pPr algn="l"/>
                      <a:r>
                        <a:rPr sz="1300" b="1">
                          <a:solidFill>
                            <a:srgbClr val="FFFFFF"/>
                          </a:solidFill>
                        </a:rPr>
                        <a:t>Output</a:t>
                      </a:r>
                    </a:p>
                  </a:txBody>
                  <a:tcPr>
                    <a:solidFill>
                      <a:srgbClr val="002B5B"/>
                    </a:solidFill>
                  </a:tcPr>
                </a:tc>
              </a:tr>
              <a:tr h="770708">
                <a:tc>
                  <a:txBody>
                    <a:bodyPr/>
                    <a:lstStyle/>
                    <a:p>
                      <a:pPr algn="l"/>
                      <a:r>
                        <a:rPr sz="1200" b="0">
                          <a:solidFill>
                            <a:srgbClr val="333333"/>
                          </a:solidFill>
                        </a:rPr>
                        <a:t>I</a:t>
                      </a:r>
                    </a:p>
                  </a:txBody>
                  <a:tcPr>
                    <a:solidFill>
                      <a:srgbClr val="D6E8F7"/>
                    </a:solidFill>
                  </a:tcPr>
                </a:tc>
                <a:tc>
                  <a:txBody>
                    <a:bodyPr/>
                    <a:lstStyle/>
                    <a:p>
                      <a:pPr algn="l"/>
                      <a:r>
                        <a:rPr sz="1200" b="0">
                          <a:solidFill>
                            <a:srgbClr val="333333"/>
                          </a:solidFill>
                        </a:rPr>
                        <a:t>Exploration &amp; mining</a:t>
                      </a:r>
                    </a:p>
                  </a:txBody>
                  <a:tcPr>
                    <a:solidFill>
                      <a:srgbClr val="D6E8F7"/>
                    </a:solidFill>
                  </a:tcPr>
                </a:tc>
                <a:tc>
                  <a:txBody>
                    <a:bodyPr/>
                    <a:lstStyle/>
                    <a:p>
                      <a:pPr algn="l"/>
                      <a:r>
                        <a:rPr sz="1200" b="0">
                          <a:solidFill>
                            <a:srgbClr val="333333"/>
                          </a:solidFill>
                        </a:rPr>
                        <a:t>—</a:t>
                      </a:r>
                    </a:p>
                  </a:txBody>
                  <a:tcPr>
                    <a:solidFill>
                      <a:srgbClr val="D6E8F7"/>
                    </a:solidFill>
                  </a:tcPr>
                </a:tc>
                <a:tc>
                  <a:txBody>
                    <a:bodyPr/>
                    <a:lstStyle/>
                    <a:p>
                      <a:pPr algn="l"/>
                      <a:r>
                        <a:rPr sz="1200" b="0">
                          <a:solidFill>
                            <a:srgbClr val="333333"/>
                          </a:solidFill>
                        </a:rPr>
                        <a:t>Beneficiated, graded iron ore</a:t>
                      </a:r>
                    </a:p>
                  </a:txBody>
                  <a:tcPr>
                    <a:solidFill>
                      <a:srgbClr val="D6E8F7"/>
                    </a:solidFill>
                  </a:tcPr>
                </a:tc>
              </a:tr>
              <a:tr h="770708">
                <a:tc>
                  <a:txBody>
                    <a:bodyPr/>
                    <a:lstStyle/>
                    <a:p>
                      <a:pPr algn="l"/>
                      <a:r>
                        <a:rPr sz="1200" b="0">
                          <a:solidFill>
                            <a:srgbClr val="333333"/>
                          </a:solidFill>
                        </a:rPr>
                        <a:t>II</a:t>
                      </a:r>
                    </a:p>
                  </a:txBody>
                  <a:tcPr>
                    <a:solidFill>
                      <a:srgbClr val="FFFFFF"/>
                    </a:solidFill>
                  </a:tcPr>
                </a:tc>
                <a:tc>
                  <a:txBody>
                    <a:bodyPr/>
                    <a:lstStyle/>
                    <a:p>
                      <a:pPr algn="l"/>
                      <a:r>
                        <a:rPr sz="1200" b="0">
                          <a:solidFill>
                            <a:srgbClr val="333333"/>
                          </a:solidFill>
                        </a:rPr>
                        <a:t>Ironmaking</a:t>
                      </a:r>
                    </a:p>
                  </a:txBody>
                  <a:tcPr>
                    <a:solidFill>
                      <a:srgbClr val="FFFFFF"/>
                    </a:solidFill>
                  </a:tcPr>
                </a:tc>
                <a:tc>
                  <a:txBody>
                    <a:bodyPr/>
                    <a:lstStyle/>
                    <a:p>
                      <a:pPr algn="l"/>
                      <a:r>
                        <a:rPr sz="1200" b="0">
                          <a:solidFill>
                            <a:srgbClr val="333333"/>
                          </a:solidFill>
                        </a:rPr>
                        <a:t>Iron ore, coal/charcoal, dolomite, limestone</a:t>
                      </a:r>
                    </a:p>
                  </a:txBody>
                  <a:tcPr>
                    <a:solidFill>
                      <a:srgbClr val="FFFFFF"/>
                    </a:solidFill>
                  </a:tcPr>
                </a:tc>
                <a:tc>
                  <a:txBody>
                    <a:bodyPr/>
                    <a:lstStyle/>
                    <a:p>
                      <a:pPr algn="l"/>
                      <a:r>
                        <a:rPr sz="1200" b="0">
                          <a:solidFill>
                            <a:srgbClr val="333333"/>
                          </a:solidFill>
                        </a:rPr>
                        <a:t>Sponge iron (DRI) / pig iron</a:t>
                      </a:r>
                    </a:p>
                  </a:txBody>
                  <a:tcPr>
                    <a:solidFill>
                      <a:srgbClr val="FFFFFF"/>
                    </a:solidFill>
                  </a:tcPr>
                </a:tc>
              </a:tr>
              <a:tr h="770708">
                <a:tc>
                  <a:txBody>
                    <a:bodyPr/>
                    <a:lstStyle/>
                    <a:p>
                      <a:pPr algn="l"/>
                      <a:r>
                        <a:rPr sz="1200" b="0">
                          <a:solidFill>
                            <a:srgbClr val="333333"/>
                          </a:solidFill>
                        </a:rPr>
                        <a:t>III</a:t>
                      </a:r>
                    </a:p>
                  </a:txBody>
                  <a:tcPr>
                    <a:solidFill>
                      <a:srgbClr val="D6E8F7"/>
                    </a:solidFill>
                  </a:tcPr>
                </a:tc>
                <a:tc>
                  <a:txBody>
                    <a:bodyPr/>
                    <a:lstStyle/>
                    <a:p>
                      <a:pPr algn="l"/>
                      <a:r>
                        <a:rPr sz="1200" b="0">
                          <a:solidFill>
                            <a:srgbClr val="333333"/>
                          </a:solidFill>
                        </a:rPr>
                        <a:t>Steelmaking</a:t>
                      </a:r>
                    </a:p>
                  </a:txBody>
                  <a:tcPr>
                    <a:solidFill>
                      <a:srgbClr val="D6E8F7"/>
                    </a:solidFill>
                  </a:tcPr>
                </a:tc>
                <a:tc>
                  <a:txBody>
                    <a:bodyPr/>
                    <a:lstStyle/>
                    <a:p>
                      <a:pPr algn="l"/>
                      <a:r>
                        <a:rPr sz="1200" b="0">
                          <a:solidFill>
                            <a:srgbClr val="333333"/>
                          </a:solidFill>
                        </a:rPr>
                        <a:t>Sponge iron, pig iron, scrap</a:t>
                      </a:r>
                    </a:p>
                  </a:txBody>
                  <a:tcPr>
                    <a:solidFill>
                      <a:srgbClr val="D6E8F7"/>
                    </a:solidFill>
                  </a:tcPr>
                </a:tc>
                <a:tc>
                  <a:txBody>
                    <a:bodyPr/>
                    <a:lstStyle/>
                    <a:p>
                      <a:pPr algn="l"/>
                      <a:r>
                        <a:rPr sz="1200" b="0">
                          <a:solidFill>
                            <a:srgbClr val="333333"/>
                          </a:solidFill>
                        </a:rPr>
                        <a:t>Crude steel</a:t>
                      </a:r>
                    </a:p>
                  </a:txBody>
                  <a:tcPr>
                    <a:solidFill>
                      <a:srgbClr val="D6E8F7"/>
                    </a:solidFill>
                  </a:tcPr>
                </a:tc>
              </a:tr>
              <a:tr h="770708">
                <a:tc>
                  <a:txBody>
                    <a:bodyPr/>
                    <a:lstStyle/>
                    <a:p>
                      <a:pPr algn="l"/>
                      <a:r>
                        <a:rPr sz="1200" b="0">
                          <a:solidFill>
                            <a:srgbClr val="333333"/>
                          </a:solidFill>
                        </a:rPr>
                        <a:t>IV</a:t>
                      </a:r>
                    </a:p>
                  </a:txBody>
                  <a:tcPr>
                    <a:solidFill>
                      <a:srgbClr val="FFFFFF"/>
                    </a:solidFill>
                  </a:tcPr>
                </a:tc>
                <a:tc>
                  <a:txBody>
                    <a:bodyPr/>
                    <a:lstStyle/>
                    <a:p>
                      <a:pPr algn="l"/>
                      <a:r>
                        <a:rPr sz="1200" b="0">
                          <a:solidFill>
                            <a:srgbClr val="333333"/>
                          </a:solidFill>
                        </a:rPr>
                        <a:t>Continuous casting</a:t>
                      </a:r>
                    </a:p>
                  </a:txBody>
                  <a:tcPr>
                    <a:solidFill>
                      <a:srgbClr val="FFFFFF"/>
                    </a:solidFill>
                  </a:tcPr>
                </a:tc>
                <a:tc>
                  <a:txBody>
                    <a:bodyPr/>
                    <a:lstStyle/>
                    <a:p>
                      <a:pPr algn="l"/>
                      <a:r>
                        <a:rPr sz="1200" b="0">
                          <a:solidFill>
                            <a:srgbClr val="333333"/>
                          </a:solidFill>
                        </a:rPr>
                        <a:t>Liquid steel</a:t>
                      </a:r>
                    </a:p>
                  </a:txBody>
                  <a:tcPr>
                    <a:solidFill>
                      <a:srgbClr val="FFFFFF"/>
                    </a:solidFill>
                  </a:tcPr>
                </a:tc>
                <a:tc>
                  <a:txBody>
                    <a:bodyPr/>
                    <a:lstStyle/>
                    <a:p>
                      <a:pPr algn="l"/>
                      <a:r>
                        <a:rPr sz="1200" b="0">
                          <a:solidFill>
                            <a:srgbClr val="333333"/>
                          </a:solidFill>
                        </a:rPr>
                        <a:t>Billets, blooms, slabs</a:t>
                      </a:r>
                    </a:p>
                  </a:txBody>
                  <a:tcPr>
                    <a:solidFill>
                      <a:srgbClr val="FFFFFF"/>
                    </a:solidFill>
                  </a:tcPr>
                </a:tc>
              </a:tr>
              <a:tr h="770708">
                <a:tc>
                  <a:txBody>
                    <a:bodyPr/>
                    <a:lstStyle/>
                    <a:p>
                      <a:pPr algn="l"/>
                      <a:r>
                        <a:rPr sz="1200" b="0">
                          <a:solidFill>
                            <a:srgbClr val="333333"/>
                          </a:solidFill>
                        </a:rPr>
                        <a:t>V</a:t>
                      </a:r>
                    </a:p>
                  </a:txBody>
                  <a:tcPr>
                    <a:solidFill>
                      <a:srgbClr val="D6E8F7"/>
                    </a:solidFill>
                  </a:tcPr>
                </a:tc>
                <a:tc>
                  <a:txBody>
                    <a:bodyPr/>
                    <a:lstStyle/>
                    <a:p>
                      <a:pPr algn="l"/>
                      <a:r>
                        <a:rPr sz="1200" b="0">
                          <a:solidFill>
                            <a:srgbClr val="333333"/>
                          </a:solidFill>
                        </a:rPr>
                        <a:t>Rolling &amp; finishing</a:t>
                      </a:r>
                    </a:p>
                  </a:txBody>
                  <a:tcPr>
                    <a:solidFill>
                      <a:srgbClr val="D6E8F7"/>
                    </a:solidFill>
                  </a:tcPr>
                </a:tc>
                <a:tc>
                  <a:txBody>
                    <a:bodyPr/>
                    <a:lstStyle/>
                    <a:p>
                      <a:pPr algn="l"/>
                      <a:r>
                        <a:rPr sz="1200" b="0">
                          <a:solidFill>
                            <a:srgbClr val="333333"/>
                          </a:solidFill>
                        </a:rPr>
                        <a:t>Billets, slabs, coil, wire rod</a:t>
                      </a:r>
                    </a:p>
                  </a:txBody>
                  <a:tcPr>
                    <a:solidFill>
                      <a:srgbClr val="D6E8F7"/>
                    </a:solidFill>
                  </a:tcPr>
                </a:tc>
                <a:tc>
                  <a:txBody>
                    <a:bodyPr/>
                    <a:lstStyle/>
                    <a:p>
                      <a:pPr algn="l"/>
                      <a:r>
                        <a:rPr sz="1200" b="0">
                          <a:solidFill>
                            <a:srgbClr val="333333"/>
                          </a:solidFill>
                        </a:rPr>
                        <a:t>Long, flat, tubular, wire, structural &amp; roofing products</a:t>
                      </a:r>
                    </a:p>
                  </a:txBody>
                  <a:tcPr>
                    <a:solidFill>
                      <a:srgbClr val="D6E8F7"/>
                    </a:solidFill>
                  </a:tcPr>
                </a:tc>
              </a:tr>
              <a:tr h="770712">
                <a:tc>
                  <a:txBody>
                    <a:bodyPr/>
                    <a:lstStyle/>
                    <a:p>
                      <a:pPr algn="l"/>
                      <a:r>
                        <a:rPr sz="1200" b="0">
                          <a:solidFill>
                            <a:srgbClr val="333333"/>
                          </a:solidFill>
                        </a:rPr>
                        <a:t>VI</a:t>
                      </a:r>
                    </a:p>
                  </a:txBody>
                  <a:tcPr>
                    <a:solidFill>
                      <a:srgbClr val="FFFFFF"/>
                    </a:solidFill>
                  </a:tcPr>
                </a:tc>
                <a:tc>
                  <a:txBody>
                    <a:bodyPr/>
                    <a:lstStyle/>
                    <a:p>
                      <a:pPr algn="l"/>
                      <a:r>
                        <a:rPr sz="1200" b="0">
                          <a:solidFill>
                            <a:srgbClr val="333333"/>
                          </a:solidFill>
                        </a:rPr>
                        <a:t>Market</a:t>
                      </a:r>
                    </a:p>
                  </a:txBody>
                  <a:tcPr>
                    <a:solidFill>
                      <a:srgbClr val="FFFFFF"/>
                    </a:solidFill>
                  </a:tcPr>
                </a:tc>
                <a:tc>
                  <a:txBody>
                    <a:bodyPr/>
                    <a:lstStyle/>
                    <a:p>
                      <a:pPr algn="l"/>
                      <a:r>
                        <a:rPr sz="1200" b="0">
                          <a:solidFill>
                            <a:srgbClr val="333333"/>
                          </a:solidFill>
                        </a:rPr>
                        <a:t>Finished products</a:t>
                      </a:r>
                    </a:p>
                  </a:txBody>
                  <a:tcPr>
                    <a:solidFill>
                      <a:srgbClr val="FFFFFF"/>
                    </a:solidFill>
                  </a:tcPr>
                </a:tc>
                <a:tc>
                  <a:txBody>
                    <a:bodyPr/>
                    <a:lstStyle/>
                    <a:p>
                      <a:pPr algn="l"/>
                      <a:r>
                        <a:rPr sz="1200" b="0">
                          <a:solidFill>
                            <a:srgbClr val="333333"/>
                          </a:solidFill>
                        </a:rPr>
                        <a:t>Domestic &amp; regional sales</a:t>
                      </a:r>
                    </a:p>
                  </a:txBody>
                  <a:tcPr>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6094476"/>
                <a:gridCol w="6094476"/>
              </a:tblGrid>
              <a:tr h="899160">
                <a:tc>
                  <a:txBody>
                    <a:bodyPr/>
                    <a:lstStyle/>
                    <a:p>
                      <a:pPr algn="l"/>
                      <a:r>
                        <a:rPr sz="1300" b="1">
                          <a:solidFill>
                            <a:srgbClr val="FFFFFF"/>
                          </a:solidFill>
                        </a:rPr>
                        <a:t>Phase</a:t>
                      </a:r>
                    </a:p>
                  </a:txBody>
                  <a:tcPr>
                    <a:solidFill>
                      <a:srgbClr val="002B5B"/>
                    </a:solidFill>
                  </a:tcPr>
                </a:tc>
                <a:tc>
                  <a:txBody>
                    <a:bodyPr/>
                    <a:lstStyle/>
                    <a:p>
                      <a:pPr algn="l"/>
                      <a:r>
                        <a:rPr sz="1300" b="1">
                          <a:solidFill>
                            <a:srgbClr val="FFFFFF"/>
                          </a:solidFill>
                        </a:rPr>
                        <a:t>Incremental value addition</a:t>
                      </a:r>
                    </a:p>
                  </a:txBody>
                  <a:tcPr>
                    <a:solidFill>
                      <a:srgbClr val="002B5B"/>
                    </a:solidFill>
                  </a:tcPr>
                </a:tc>
              </a:tr>
              <a:tr h="899160">
                <a:tc>
                  <a:txBody>
                    <a:bodyPr/>
                    <a:lstStyle/>
                    <a:p>
                      <a:pPr algn="l"/>
                      <a:r>
                        <a:rPr sz="1200" b="0">
                          <a:solidFill>
                            <a:srgbClr val="333333"/>
                          </a:solidFill>
                        </a:rPr>
                        <a:t>Mining &amp; beneficiation</a:t>
                      </a:r>
                    </a:p>
                  </a:txBody>
                  <a:tcPr>
                    <a:solidFill>
                      <a:srgbClr val="D6E8F7"/>
                    </a:solidFill>
                  </a:tcPr>
                </a:tc>
                <a:tc>
                  <a:txBody>
                    <a:bodyPr/>
                    <a:lstStyle/>
                    <a:p>
                      <a:pPr algn="l"/>
                      <a:r>
                        <a:rPr sz="1200" b="0">
                          <a:solidFill>
                            <a:srgbClr val="333333"/>
                          </a:solidFill>
                        </a:rPr>
                        <a:t>5–10%</a:t>
                      </a:r>
                    </a:p>
                  </a:txBody>
                  <a:tcPr>
                    <a:solidFill>
                      <a:srgbClr val="D6E8F7"/>
                    </a:solidFill>
                  </a:tcPr>
                </a:tc>
              </a:tr>
              <a:tr h="899160">
                <a:tc>
                  <a:txBody>
                    <a:bodyPr/>
                    <a:lstStyle/>
                    <a:p>
                      <a:pPr algn="l"/>
                      <a:r>
                        <a:rPr sz="1200" b="0">
                          <a:solidFill>
                            <a:srgbClr val="333333"/>
                          </a:solidFill>
                        </a:rPr>
                        <a:t>Ironmaking (DRI)</a:t>
                      </a:r>
                    </a:p>
                  </a:txBody>
                  <a:tcPr>
                    <a:solidFill>
                      <a:srgbClr val="FFFFFF"/>
                    </a:solidFill>
                  </a:tcPr>
                </a:tc>
                <a:tc>
                  <a:txBody>
                    <a:bodyPr/>
                    <a:lstStyle/>
                    <a:p>
                      <a:pPr algn="l"/>
                      <a:r>
                        <a:rPr sz="1200" b="0">
                          <a:solidFill>
                            <a:srgbClr val="333333"/>
                          </a:solidFill>
                        </a:rPr>
                        <a:t>15–25%</a:t>
                      </a:r>
                    </a:p>
                  </a:txBody>
                  <a:tcPr>
                    <a:solidFill>
                      <a:srgbClr val="FFFFFF"/>
                    </a:solidFill>
                  </a:tcPr>
                </a:tc>
              </a:tr>
              <a:tr h="899160">
                <a:tc>
                  <a:txBody>
                    <a:bodyPr/>
                    <a:lstStyle/>
                    <a:p>
                      <a:pPr algn="l"/>
                      <a:r>
                        <a:rPr sz="1200" b="0">
                          <a:solidFill>
                            <a:srgbClr val="333333"/>
                          </a:solidFill>
                        </a:rPr>
                        <a:t>Steelmaking</a:t>
                      </a:r>
                    </a:p>
                  </a:txBody>
                  <a:tcPr>
                    <a:solidFill>
                      <a:srgbClr val="D6E8F7"/>
                    </a:solidFill>
                  </a:tcPr>
                </a:tc>
                <a:tc>
                  <a:txBody>
                    <a:bodyPr/>
                    <a:lstStyle/>
                    <a:p>
                      <a:pPr algn="l"/>
                      <a:r>
                        <a:rPr sz="1200" b="0">
                          <a:solidFill>
                            <a:srgbClr val="333333"/>
                          </a:solidFill>
                        </a:rPr>
                        <a:t>20–30%</a:t>
                      </a:r>
                    </a:p>
                  </a:txBody>
                  <a:tcPr>
                    <a:solidFill>
                      <a:srgbClr val="D6E8F7"/>
                    </a:solidFill>
                  </a:tcPr>
                </a:tc>
              </a:tr>
              <a:tr h="899160">
                <a:tc>
                  <a:txBody>
                    <a:bodyPr/>
                    <a:lstStyle/>
                    <a:p>
                      <a:pPr algn="l"/>
                      <a:r>
                        <a:rPr sz="1200" b="0">
                          <a:solidFill>
                            <a:srgbClr val="333333"/>
                          </a:solidFill>
                        </a:rPr>
                        <a:t>Continuous casting</a:t>
                      </a:r>
                    </a:p>
                  </a:txBody>
                  <a:tcPr>
                    <a:solidFill>
                      <a:srgbClr val="FFFFFF"/>
                    </a:solidFill>
                  </a:tcPr>
                </a:tc>
                <a:tc>
                  <a:txBody>
                    <a:bodyPr/>
                    <a:lstStyle/>
                    <a:p>
                      <a:pPr algn="l"/>
                      <a:r>
                        <a:rPr sz="1200" b="0">
                          <a:solidFill>
                            <a:srgbClr val="333333"/>
                          </a:solidFill>
                        </a:rPr>
                        <a:t>10–15%</a:t>
                      </a:r>
                    </a:p>
                  </a:txBody>
                  <a:tcPr>
                    <a:solidFill>
                      <a:srgbClr val="FFFFFF"/>
                    </a:solidFill>
                  </a:tcPr>
                </a:tc>
              </a:tr>
              <a:tr h="899160">
                <a:tc>
                  <a:txBody>
                    <a:bodyPr/>
                    <a:lstStyle/>
                    <a:p>
                      <a:pPr algn="l"/>
                      <a:r>
                        <a:rPr sz="1200" b="0">
                          <a:solidFill>
                            <a:srgbClr val="333333"/>
                          </a:solidFill>
                        </a:rPr>
                        <a:t>Rolling &amp; finishing</a:t>
                      </a:r>
                    </a:p>
                  </a:txBody>
                  <a:tcPr>
                    <a:solidFill>
                      <a:srgbClr val="D6E8F7"/>
                    </a:solidFill>
                  </a:tcPr>
                </a:tc>
                <a:tc>
                  <a:txBody>
                    <a:bodyPr/>
                    <a:lstStyle/>
                    <a:p>
                      <a:pPr algn="l"/>
                      <a:r>
                        <a:rPr sz="1200" b="0">
                          <a:solidFill>
                            <a:srgbClr val="333333"/>
                          </a:solidFill>
                        </a:rPr>
                        <a:t>10–20%</a:t>
                      </a:r>
                    </a:p>
                  </a:txBody>
                  <a:tcPr>
                    <a:solidFill>
                      <a:srgbClr val="D6E8F7"/>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iron and steel value chain runs through six sequential phases, from iron-ore extraction to market distribution. Uganda has a substantial presence in the downstream phases (rolling and finishing) and a critical gap in the upstream phases (mining, ironmaking, and primary steelmaking) (NPA/UDC, 2025).</a:t>
            </a:r>
          </a:p>
          <a:p>
            <a:pPr/>
            <a:r>
              <a:rPr sz="1600" b="0">
                <a:solidFill>
                  <a:srgbClr val="333333"/>
                </a:solidFill>
              </a:rPr>
              <a:t>•  Where value is captured and lost. Uganda's mills are concentrated in Phase V (rolling and finishing) and depend heavily on imported semi-finished steel (billets and slabs, HS 7207) and scrap (HS 7204) as feedstock, because domestic Phase I–III capacity is minimal. The clearest evidence of this structural gap is in the trade data: Uganda exported USD 35.8 million of raw iron ore (HS 2601) in 2024, almost entirely to Kenya, while importing essentially none (ITC TradeMap, HS 2601, 2024) — ore leaves the country unprocessed, then steel returns as imports. Conversely, Uganda imported USD 78.5 million of semi-finished steel (HS 7207) in 2024, up sharply from USD 43.0 million in 2023 (ITC TradeMap, HS 7207, 2024). The value-addition opportunity lies in closing the upstream gap.</a:t>
            </a:r>
          </a:p>
          <a:p>
            <a:pPr/>
            <a:r>
              <a:rPr sz="1600" b="0">
                <a:solidFill>
                  <a:srgbClr val="333333"/>
                </a:solidFill>
              </a:rPr>
              <a:t>•  Indicative value addition by phase (per tonne of steel, illustrative at ~USD 750/t; NPA/UDC 2025):</a:t>
            </a:r>
          </a:p>
          <a:p>
            <a:pPr/>
            <a:r>
              <a:rPr sz="1600" b="0">
                <a:solidFill>
                  <a:srgbClr val="333333"/>
                </a:solidFill>
              </a:rPr>
              <a:t>•  The single largest value-addition steps — ironmaking and steelmaking — are precisely the steps Uganda has barely begun.</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4062984"/>
                <a:gridCol w="4062984"/>
                <a:gridCol w="4062984"/>
              </a:tblGrid>
              <a:tr h="899160">
                <a:tc>
                  <a:txBody>
                    <a:bodyPr/>
                    <a:lstStyle/>
                    <a:p>
                      <a:pPr algn="l"/>
                      <a:r>
                        <a:rPr sz="1300" b="1">
                          <a:solidFill>
                            <a:srgbClr val="FFFFFF"/>
                          </a:solidFill>
                        </a:rPr>
                        <a:t>Firm</a:t>
                      </a:r>
                    </a:p>
                  </a:txBody>
                  <a:tcPr>
                    <a:solidFill>
                      <a:srgbClr val="002B5B"/>
                    </a:solidFill>
                  </a:tcPr>
                </a:tc>
                <a:tc>
                  <a:txBody>
                    <a:bodyPr/>
                    <a:lstStyle/>
                    <a:p>
                      <a:pPr algn="l"/>
                      <a:r>
                        <a:rPr sz="1300" b="1">
                          <a:solidFill>
                            <a:srgbClr val="FFFFFF"/>
                          </a:solidFill>
                        </a:rPr>
                        <a:t>Role</a:t>
                      </a:r>
                    </a:p>
                  </a:txBody>
                  <a:tcPr>
                    <a:solidFill>
                      <a:srgbClr val="002B5B"/>
                    </a:solidFill>
                  </a:tcPr>
                </a:tc>
                <a:tc>
                  <a:txBody>
                    <a:bodyPr/>
                    <a:lstStyle/>
                    <a:p>
                      <a:pPr algn="l"/>
                      <a:r>
                        <a:rPr sz="1300" b="1">
                          <a:solidFill>
                            <a:srgbClr val="FFFFFF"/>
                          </a:solidFill>
                        </a:rPr>
                        <a:t>Notes</a:t>
                      </a:r>
                    </a:p>
                  </a:txBody>
                  <a:tcPr>
                    <a:solidFill>
                      <a:srgbClr val="002B5B"/>
                    </a:solidFill>
                  </a:tcPr>
                </a:tc>
              </a:tr>
              <a:tr h="899160">
                <a:tc>
                  <a:txBody>
                    <a:bodyPr/>
                    <a:lstStyle/>
                    <a:p>
                      <a:pPr algn="l"/>
                      <a:r>
                        <a:rPr sz="1200" b="0">
                          <a:solidFill>
                            <a:srgbClr val="333333"/>
                          </a:solidFill>
                        </a:rPr>
                        <a:t>Tembo Steel (U) Ltd</a:t>
                      </a:r>
                    </a:p>
                  </a:txBody>
                  <a:tcPr>
                    <a:solidFill>
                      <a:srgbClr val="D6E8F7"/>
                    </a:solidFill>
                  </a:tcPr>
                </a:tc>
                <a:tc>
                  <a:txBody>
                    <a:bodyPr/>
                    <a:lstStyle/>
                    <a:p>
                      <a:pPr algn="l"/>
                      <a:r>
                        <a:rPr sz="1200" b="0">
                          <a:solidFill>
                            <a:srgbClr val="333333"/>
                          </a:solidFill>
                        </a:rPr>
                        <a:t>Closest to integrated production</a:t>
                      </a:r>
                    </a:p>
                  </a:txBody>
                  <a:tcPr>
                    <a:solidFill>
                      <a:srgbClr val="D6E8F7"/>
                    </a:solidFill>
                  </a:tcPr>
                </a:tc>
                <a:tc>
                  <a:txBody>
                    <a:bodyPr/>
                    <a:lstStyle/>
                    <a:p>
                      <a:pPr algn="l"/>
                      <a:r>
                        <a:rPr sz="1200" b="0">
                          <a:solidFill>
                            <a:srgbClr val="333333"/>
                          </a:solidFill>
                        </a:rPr>
                        <a:t>Operates Uganda's main sponge-iron (DRI) capacity; commissioned a second DRI plant in January 2025 (~250,000 t), the only producer reaching upstream (State House Uganda, 2025)</a:t>
                      </a:r>
                    </a:p>
                  </a:txBody>
                  <a:tcPr>
                    <a:solidFill>
                      <a:srgbClr val="D6E8F7"/>
                    </a:solidFill>
                  </a:tcPr>
                </a:tc>
              </a:tr>
              <a:tr h="899160">
                <a:tc>
                  <a:txBody>
                    <a:bodyPr/>
                    <a:lstStyle/>
                    <a:p>
                      <a:pPr algn="l"/>
                      <a:r>
                        <a:rPr sz="1200" b="0">
                          <a:solidFill>
                            <a:srgbClr val="333333"/>
                          </a:solidFill>
                        </a:rPr>
                        <a:t>Roofings Ltd / Roofings Rolling Mills</a:t>
                      </a:r>
                    </a:p>
                  </a:txBody>
                  <a:tcPr>
                    <a:solidFill>
                      <a:srgbClr val="FFFFFF"/>
                    </a:solidFill>
                  </a:tcPr>
                </a:tc>
                <a:tc>
                  <a:txBody>
                    <a:bodyPr/>
                    <a:lstStyle/>
                    <a:p>
                      <a:pPr algn="l"/>
                      <a:r>
                        <a:rPr sz="1200" b="0">
                          <a:solidFill>
                            <a:srgbClr val="333333"/>
                          </a:solidFill>
                        </a:rPr>
                        <a:t>Long products, wire, roofing, coated sheet</a:t>
                      </a:r>
                    </a:p>
                  </a:txBody>
                  <a:tcPr>
                    <a:solidFill>
                      <a:srgbClr val="FFFFFF"/>
                    </a:solidFill>
                  </a:tcPr>
                </a:tc>
                <a:tc>
                  <a:txBody>
                    <a:bodyPr/>
                    <a:lstStyle/>
                    <a:p>
                      <a:pPr algn="l"/>
                      <a:r>
                        <a:rPr sz="1200" b="0">
                          <a:solidFill>
                            <a:srgbClr val="333333"/>
                          </a:solidFill>
                        </a:rPr>
                        <a:t>~1,850 permanent employees (2021); two integrated entities</a:t>
                      </a:r>
                    </a:p>
                  </a:txBody>
                  <a:tcPr>
                    <a:solidFill>
                      <a:srgbClr val="FFFFFF"/>
                    </a:solidFill>
                  </a:tcPr>
                </a:tc>
              </a:tr>
              <a:tr h="899160">
                <a:tc>
                  <a:txBody>
                    <a:bodyPr/>
                    <a:lstStyle/>
                    <a:p>
                      <a:pPr algn="l"/>
                      <a:r>
                        <a:rPr sz="1200" b="0">
                          <a:solidFill>
                            <a:srgbClr val="333333"/>
                          </a:solidFill>
                        </a:rPr>
                        <a:t>Steel &amp; Tube Industries Ltd (STIL)</a:t>
                      </a:r>
                    </a:p>
                  </a:txBody>
                  <a:tcPr>
                    <a:solidFill>
                      <a:srgbClr val="D6E8F7"/>
                    </a:solidFill>
                  </a:tcPr>
                </a:tc>
                <a:tc>
                  <a:txBody>
                    <a:bodyPr/>
                    <a:lstStyle/>
                    <a:p>
                      <a:pPr algn="l"/>
                      <a:r>
                        <a:rPr sz="1200" b="0">
                          <a:solidFill>
                            <a:srgbClr val="333333"/>
                          </a:solidFill>
                        </a:rPr>
                        <a:t>Long products, tubes, sections</a:t>
                      </a:r>
                    </a:p>
                  </a:txBody>
                  <a:tcPr>
                    <a:solidFill>
                      <a:srgbClr val="D6E8F7"/>
                    </a:solidFill>
                  </a:tcPr>
                </a:tc>
                <a:tc>
                  <a:txBody>
                    <a:bodyPr/>
                    <a:lstStyle/>
                    <a:p>
                      <a:pPr algn="l"/>
                      <a:r>
                        <a:rPr sz="1200" b="0">
                          <a:solidFill>
                            <a:srgbClr val="333333"/>
                          </a:solidFill>
                        </a:rPr>
                        <a:t>~1,080 permanent staff; ~6,000 total beneficiaries including the wider value chain (Uganda Development Bank)</a:t>
                      </a:r>
                    </a:p>
                  </a:txBody>
                  <a:tcPr>
                    <a:solidFill>
                      <a:srgbClr val="D6E8F7"/>
                    </a:solidFill>
                  </a:tcPr>
                </a:tc>
              </a:tr>
              <a:tr h="899160">
                <a:tc>
                  <a:txBody>
                    <a:bodyPr/>
                    <a:lstStyle/>
                    <a:p>
                      <a:pPr algn="l"/>
                      <a:r>
                        <a:rPr sz="1200" b="0">
                          <a:solidFill>
                            <a:srgbClr val="333333"/>
                          </a:solidFill>
                        </a:rPr>
                        <a:t>Uganda Baati Ltd</a:t>
                      </a:r>
                    </a:p>
                  </a:txBody>
                  <a:tcPr>
                    <a:solidFill>
                      <a:srgbClr val="FFFFFF"/>
                    </a:solidFill>
                  </a:tcPr>
                </a:tc>
                <a:tc>
                  <a:txBody>
                    <a:bodyPr/>
                    <a:lstStyle/>
                    <a:p>
                      <a:pPr algn="l"/>
                      <a:r>
                        <a:rPr sz="1200" b="0">
                          <a:solidFill>
                            <a:srgbClr val="333333"/>
                          </a:solidFill>
                        </a:rPr>
                        <a:t>Roofing &amp; coated sheet</a:t>
                      </a:r>
                    </a:p>
                  </a:txBody>
                  <a:tcPr>
                    <a:solidFill>
                      <a:srgbClr val="FFFFFF"/>
                    </a:solidFill>
                  </a:tcPr>
                </a:tc>
                <a:tc>
                  <a:txBody>
                    <a:bodyPr/>
                    <a:lstStyle/>
                    <a:p>
                      <a:pPr algn="l"/>
                      <a:r>
                        <a:rPr sz="1200" b="0">
                          <a:solidFill>
                            <a:srgbClr val="333333"/>
                          </a:solidFill>
                        </a:rPr>
                        <a:t>Leading roofing-sheet manufacturer</a:t>
                      </a:r>
                    </a:p>
                  </a:txBody>
                  <a:tcPr>
                    <a:solidFill>
                      <a:srgbClr val="FFFFFF"/>
                    </a:solidFill>
                  </a:tcPr>
                </a:tc>
              </a:tr>
              <a:tr h="899160">
                <a:tc>
                  <a:txBody>
                    <a:bodyPr/>
                    <a:lstStyle/>
                    <a:p>
                      <a:pPr algn="l"/>
                      <a:r>
                        <a:rPr sz="1200" b="0">
                          <a:solidFill>
                            <a:srgbClr val="333333"/>
                          </a:solidFill>
                        </a:rPr>
                        <a:t>BM Steel, Pramukh, Sembule, Yogi Steels, Abyssinia, others</a:t>
                      </a:r>
                    </a:p>
                  </a:txBody>
                  <a:tcPr>
                    <a:solidFill>
                      <a:srgbClr val="D6E8F7"/>
                    </a:solidFill>
                  </a:tcPr>
                </a:tc>
                <a:tc>
                  <a:txBody>
                    <a:bodyPr/>
                    <a:lstStyle/>
                    <a:p>
                      <a:pPr algn="l"/>
                      <a:r>
                        <a:rPr sz="1200" b="0">
                          <a:solidFill>
                            <a:srgbClr val="333333"/>
                          </a:solidFill>
                        </a:rPr>
                        <a:t>Rolling, sections, wire</a:t>
                      </a:r>
                    </a:p>
                  </a:txBody>
                  <a:tcPr>
                    <a:solidFill>
                      <a:srgbClr val="D6E8F7"/>
                    </a:solidFill>
                  </a:tcPr>
                </a:tc>
                <a:tc>
                  <a:txBody>
                    <a:bodyPr/>
                    <a:lstStyle/>
                    <a:p>
                      <a:pPr algn="l"/>
                      <a:r>
                        <a:rPr sz="1200" b="0">
                          <a:solidFill>
                            <a:srgbClr val="333333"/>
                          </a:solidFill>
                        </a:rPr>
                        <a:t>Downstream finishing</a:t>
                      </a:r>
                    </a:p>
                  </a:txBody>
                  <a:tcPr>
                    <a:solidFill>
                      <a:srgbClr val="D6E8F7"/>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770708">
                <a:tc>
                  <a:txBody>
                    <a:bodyPr/>
                    <a:lstStyle/>
                    <a:p>
                      <a:pPr algn="l"/>
                      <a:r>
                        <a:rPr sz="1300" b="1">
                          <a:solidFill>
                            <a:srgbClr val="FFFFFF"/>
                          </a:solidFill>
                        </a:rPr>
                        <a:t>Segment (HS)</a:t>
                      </a:r>
                    </a:p>
                  </a:txBody>
                  <a:tcPr>
                    <a:solidFill>
                      <a:srgbClr val="002B5B"/>
                    </a:solidFill>
                  </a:tcPr>
                </a:tc>
                <a:tc>
                  <a:txBody>
                    <a:bodyPr/>
                    <a:lstStyle/>
                    <a:p>
                      <a:pPr algn="l"/>
                      <a:r>
                        <a:rPr sz="1300" b="1">
                          <a:solidFill>
                            <a:srgbClr val="FFFFFF"/>
                          </a:solidFill>
                        </a:rPr>
                        <a:t>Imports 2024</a:t>
                      </a:r>
                    </a:p>
                  </a:txBody>
                  <a:tcPr>
                    <a:solidFill>
                      <a:srgbClr val="002B5B"/>
                    </a:solidFill>
                  </a:tcPr>
                </a:tc>
                <a:tc>
                  <a:txBody>
                    <a:bodyPr/>
                    <a:lstStyle/>
                    <a:p>
                      <a:pPr algn="l"/>
                      <a:r>
                        <a:rPr sz="1300" b="1">
                          <a:solidFill>
                            <a:srgbClr val="FFFFFF"/>
                          </a:solidFill>
                        </a:rPr>
                        <a:t>Exports 2024</a:t>
                      </a:r>
                    </a:p>
                  </a:txBody>
                  <a:tcPr>
                    <a:solidFill>
                      <a:srgbClr val="002B5B"/>
                    </a:solidFill>
                  </a:tcPr>
                </a:tc>
                <a:tc>
                  <a:txBody>
                    <a:bodyPr/>
                    <a:lstStyle/>
                    <a:p>
                      <a:pPr algn="l"/>
                      <a:r>
                        <a:rPr sz="1300" b="1">
                          <a:solidFill>
                            <a:srgbClr val="FFFFFF"/>
                          </a:solidFill>
                        </a:rPr>
                        <a:t>Reading</a:t>
                      </a:r>
                    </a:p>
                  </a:txBody>
                  <a:tcPr>
                    <a:solidFill>
                      <a:srgbClr val="002B5B"/>
                    </a:solidFill>
                  </a:tcPr>
                </a:tc>
              </a:tr>
              <a:tr h="770708">
                <a:tc>
                  <a:txBody>
                    <a:bodyPr/>
                    <a:lstStyle/>
                    <a:p>
                      <a:pPr algn="l"/>
                      <a:r>
                        <a:rPr sz="1200" b="0">
                          <a:solidFill>
                            <a:srgbClr val="333333"/>
                          </a:solidFill>
                        </a:rPr>
                        <a:t>Flat-rolled, hot-rolled (7208)</a:t>
                      </a:r>
                    </a:p>
                  </a:txBody>
                  <a:tcPr>
                    <a:solidFill>
                      <a:srgbClr val="D6E8F7"/>
                    </a:solidFill>
                  </a:tcPr>
                </a:tc>
                <a:tc>
                  <a:txBody>
                    <a:bodyPr/>
                    <a:lstStyle/>
                    <a:p>
                      <a:pPr algn="l"/>
                      <a:r>
                        <a:rPr sz="1200" b="0">
                          <a:solidFill>
                            <a:srgbClr val="333333"/>
                          </a:solidFill>
                        </a:rPr>
                        <a:t>USD 219.5m (China, Japan, Korea)</a:t>
                      </a:r>
                    </a:p>
                  </a:txBody>
                  <a:tcPr>
                    <a:solidFill>
                      <a:srgbClr val="D6E8F7"/>
                    </a:solidFill>
                  </a:tcPr>
                </a:tc>
                <a:tc>
                  <a:txBody>
                    <a:bodyPr/>
                    <a:lstStyle/>
                    <a:p>
                      <a:pPr algn="l"/>
                      <a:r>
                        <a:rPr sz="1200" b="0">
                          <a:solidFill>
                            <a:srgbClr val="333333"/>
                          </a:solidFill>
                        </a:rPr>
                        <a:t>USD 2.9m</a:t>
                      </a:r>
                    </a:p>
                  </a:txBody>
                  <a:tcPr>
                    <a:solidFill>
                      <a:srgbClr val="D6E8F7"/>
                    </a:solidFill>
                  </a:tcPr>
                </a:tc>
                <a:tc>
                  <a:txBody>
                    <a:bodyPr/>
                    <a:lstStyle/>
                    <a:p>
                      <a:pPr algn="l"/>
                      <a:r>
                        <a:rPr sz="1200" b="0">
                          <a:solidFill>
                            <a:srgbClr val="333333"/>
                          </a:solidFill>
                        </a:rPr>
                        <a:t>Large deficit — **no domestic flat-rolling**</a:t>
                      </a:r>
                    </a:p>
                  </a:txBody>
                  <a:tcPr>
                    <a:solidFill>
                      <a:srgbClr val="D6E8F7"/>
                    </a:solidFill>
                  </a:tcPr>
                </a:tc>
              </a:tr>
              <a:tr h="770708">
                <a:tc>
                  <a:txBody>
                    <a:bodyPr/>
                    <a:lstStyle/>
                    <a:p>
                      <a:pPr algn="l"/>
                      <a:r>
                        <a:rPr sz="1200" b="0">
                          <a:solidFill>
                            <a:srgbClr val="333333"/>
                          </a:solidFill>
                        </a:rPr>
                        <a:t>Bars &amp; rods in coil (7213)</a:t>
                      </a:r>
                    </a:p>
                  </a:txBody>
                  <a:tcPr>
                    <a:solidFill>
                      <a:srgbClr val="FFFFFF"/>
                    </a:solidFill>
                  </a:tcPr>
                </a:tc>
                <a:tc>
                  <a:txBody>
                    <a:bodyPr/>
                    <a:lstStyle/>
                    <a:p>
                      <a:pPr algn="l"/>
                      <a:r>
                        <a:rPr sz="1200" b="0">
                          <a:solidFill>
                            <a:srgbClr val="333333"/>
                          </a:solidFill>
                        </a:rPr>
                        <a:t>USD 34.1m (China, Egypt, S. Africa)</a:t>
                      </a:r>
                    </a:p>
                  </a:txBody>
                  <a:tcPr>
                    <a:solidFill>
                      <a:srgbClr val="FFFFFF"/>
                    </a:solidFill>
                  </a:tcPr>
                </a:tc>
                <a:tc>
                  <a:txBody>
                    <a:bodyPr/>
                    <a:lstStyle/>
                    <a:p>
                      <a:pPr algn="l"/>
                      <a:r>
                        <a:rPr sz="1200" b="0">
                          <a:solidFill>
                            <a:srgbClr val="333333"/>
                          </a:solidFill>
                        </a:rPr>
                        <a:t>USD 0.5m</a:t>
                      </a:r>
                    </a:p>
                  </a:txBody>
                  <a:tcPr>
                    <a:solidFill>
                      <a:srgbClr val="FFFFFF"/>
                    </a:solidFill>
                  </a:tcPr>
                </a:tc>
                <a:tc>
                  <a:txBody>
                    <a:bodyPr/>
                    <a:lstStyle/>
                    <a:p>
                      <a:pPr algn="l"/>
                      <a:r>
                        <a:rPr sz="1200" b="0">
                          <a:solidFill>
                            <a:srgbClr val="333333"/>
                          </a:solidFill>
                        </a:rPr>
                        <a:t>Net importer of wire rod</a:t>
                      </a:r>
                    </a:p>
                  </a:txBody>
                  <a:tcPr>
                    <a:solidFill>
                      <a:srgbClr val="FFFFFF"/>
                    </a:solidFill>
                  </a:tcPr>
                </a:tc>
              </a:tr>
              <a:tr h="770708">
                <a:tc>
                  <a:txBody>
                    <a:bodyPr/>
                    <a:lstStyle/>
                    <a:p>
                      <a:pPr algn="l"/>
                      <a:r>
                        <a:rPr sz="1200" b="0">
                          <a:solidFill>
                            <a:srgbClr val="333333"/>
                          </a:solidFill>
                        </a:rPr>
                        <a:t>Other bars &amp; rods (7214 — rebar)</a:t>
                      </a:r>
                    </a:p>
                  </a:txBody>
                  <a:tcPr>
                    <a:solidFill>
                      <a:srgbClr val="D6E8F7"/>
                    </a:solidFill>
                  </a:tcPr>
                </a:tc>
                <a:tc>
                  <a:txBody>
                    <a:bodyPr/>
                    <a:lstStyle/>
                    <a:p>
                      <a:pPr algn="l"/>
                      <a:r>
                        <a:rPr sz="1200" b="0">
                          <a:solidFill>
                            <a:srgbClr val="333333"/>
                          </a:solidFill>
                        </a:rPr>
                        <a:t>USD 2.7m</a:t>
                      </a:r>
                    </a:p>
                  </a:txBody>
                  <a:tcPr>
                    <a:solidFill>
                      <a:srgbClr val="D6E8F7"/>
                    </a:solidFill>
                  </a:tcPr>
                </a:tc>
                <a:tc>
                  <a:txBody>
                    <a:bodyPr/>
                    <a:lstStyle/>
                    <a:p>
                      <a:pPr algn="l"/>
                      <a:r>
                        <a:rPr sz="1200" b="0">
                          <a:solidFill>
                            <a:srgbClr val="333333"/>
                          </a:solidFill>
                        </a:rPr>
                        <a:t>**USD 55.8m** (S. Sudan, DRC, Kenya)</a:t>
                      </a:r>
                    </a:p>
                  </a:txBody>
                  <a:tcPr>
                    <a:solidFill>
                      <a:srgbClr val="D6E8F7"/>
                    </a:solidFill>
                  </a:tcPr>
                </a:tc>
                <a:tc>
                  <a:txBody>
                    <a:bodyPr/>
                    <a:lstStyle/>
                    <a:p>
                      <a:pPr algn="l"/>
                      <a:r>
                        <a:rPr sz="1200" b="0">
                          <a:solidFill>
                            <a:srgbClr val="333333"/>
                          </a:solidFill>
                        </a:rPr>
                        <a:t>**Net exporter — competitive**</a:t>
                      </a:r>
                    </a:p>
                  </a:txBody>
                  <a:tcPr>
                    <a:solidFill>
                      <a:srgbClr val="D6E8F7"/>
                    </a:solidFill>
                  </a:tcPr>
                </a:tc>
              </a:tr>
              <a:tr h="770708">
                <a:tc>
                  <a:txBody>
                    <a:bodyPr/>
                    <a:lstStyle/>
                    <a:p>
                      <a:pPr algn="l"/>
                      <a:r>
                        <a:rPr sz="1200" b="0">
                          <a:solidFill>
                            <a:srgbClr val="333333"/>
                          </a:solidFill>
                        </a:rPr>
                        <a:t>Semi-finished (7207, billet/slab)</a:t>
                      </a:r>
                    </a:p>
                  </a:txBody>
                  <a:tcPr>
                    <a:solidFill>
                      <a:srgbClr val="FFFFFF"/>
                    </a:solidFill>
                  </a:tcPr>
                </a:tc>
                <a:tc>
                  <a:txBody>
                    <a:bodyPr/>
                    <a:lstStyle/>
                    <a:p>
                      <a:pPr algn="l"/>
                      <a:r>
                        <a:rPr sz="1200" b="0">
                          <a:solidFill>
                            <a:srgbClr val="333333"/>
                          </a:solidFill>
                        </a:rPr>
                        <a:t>USD 78.5m (S. Africa, China, Oman)</a:t>
                      </a:r>
                    </a:p>
                  </a:txBody>
                  <a:tcPr>
                    <a:solidFill>
                      <a:srgbClr val="FFFFFF"/>
                    </a:solidFill>
                  </a:tcPr>
                </a:tc>
                <a:tc>
                  <a:txBody>
                    <a:bodyPr/>
                    <a:lstStyle/>
                    <a:p>
                      <a:pPr algn="l"/>
                      <a:r>
                        <a:rPr sz="1200" b="0">
                          <a:solidFill>
                            <a:srgbClr val="333333"/>
                          </a:solidFill>
                        </a:rPr>
                        <a:t>USD 2.5m</a:t>
                      </a:r>
                    </a:p>
                  </a:txBody>
                  <a:tcPr>
                    <a:solidFill>
                      <a:srgbClr val="FFFFFF"/>
                    </a:solidFill>
                  </a:tcPr>
                </a:tc>
                <a:tc>
                  <a:txBody>
                    <a:bodyPr/>
                    <a:lstStyle/>
                    <a:p>
                      <a:pPr algn="l"/>
                      <a:r>
                        <a:rPr sz="1200" b="0">
                          <a:solidFill>
                            <a:srgbClr val="333333"/>
                          </a:solidFill>
                        </a:rPr>
                        <a:t>Large deficit — **no primary steelmaking**</a:t>
                      </a:r>
                    </a:p>
                  </a:txBody>
                  <a:tcPr>
                    <a:solidFill>
                      <a:srgbClr val="FFFFFF"/>
                    </a:solidFill>
                  </a:tcPr>
                </a:tc>
              </a:tr>
              <a:tr h="770708">
                <a:tc>
                  <a:txBody>
                    <a:bodyPr/>
                    <a:lstStyle/>
                    <a:p>
                      <a:pPr algn="l"/>
                      <a:r>
                        <a:rPr sz="1200" b="0">
                          <a:solidFill>
                            <a:srgbClr val="333333"/>
                          </a:solidFill>
                        </a:rPr>
                        <a:t>Ferrous scrap (7204)</a:t>
                      </a:r>
                    </a:p>
                  </a:txBody>
                  <a:tcPr>
                    <a:solidFill>
                      <a:srgbClr val="D6E8F7"/>
                    </a:solidFill>
                  </a:tcPr>
                </a:tc>
                <a:tc>
                  <a:txBody>
                    <a:bodyPr/>
                    <a:lstStyle/>
                    <a:p>
                      <a:pPr algn="l"/>
                      <a:r>
                        <a:rPr sz="1200" b="0">
                          <a:solidFill>
                            <a:srgbClr val="333333"/>
                          </a:solidFill>
                        </a:rPr>
                        <a:t>USD 72.8m (S. Sudan, Kenya, UK)</a:t>
                      </a:r>
                    </a:p>
                  </a:txBody>
                  <a:tcPr>
                    <a:solidFill>
                      <a:srgbClr val="D6E8F7"/>
                    </a:solidFill>
                  </a:tcPr>
                </a:tc>
                <a:tc>
                  <a:txBody>
                    <a:bodyPr/>
                    <a:lstStyle/>
                    <a:p>
                      <a:pPr algn="l"/>
                      <a:r>
                        <a:rPr sz="1200" b="0">
                          <a:solidFill>
                            <a:srgbClr val="333333"/>
                          </a:solidFill>
                        </a:rPr>
                        <a:t>negligible</a:t>
                      </a:r>
                    </a:p>
                  </a:txBody>
                  <a:tcPr>
                    <a:solidFill>
                      <a:srgbClr val="D6E8F7"/>
                    </a:solidFill>
                  </a:tcPr>
                </a:tc>
                <a:tc>
                  <a:txBody>
                    <a:bodyPr/>
                    <a:lstStyle/>
                    <a:p>
                      <a:pPr algn="l"/>
                      <a:r>
                        <a:rPr sz="1200" b="0">
                          <a:solidFill>
                            <a:srgbClr val="333333"/>
                          </a:solidFill>
                        </a:rPr>
                        <a:t>Feedstock dependence on imported scrap</a:t>
                      </a:r>
                    </a:p>
                  </a:txBody>
                  <a:tcPr>
                    <a:solidFill>
                      <a:srgbClr val="D6E8F7"/>
                    </a:solidFill>
                  </a:tcPr>
                </a:tc>
              </a:tr>
              <a:tr h="770712">
                <a:tc>
                  <a:txBody>
                    <a:bodyPr/>
                    <a:lstStyle/>
                    <a:p>
                      <a:pPr algn="l"/>
                      <a:r>
                        <a:rPr sz="1200" b="0">
                          <a:solidFill>
                            <a:srgbClr val="333333"/>
                          </a:solidFill>
                        </a:rPr>
                        <a:t>Iron ore (2601)</a:t>
                      </a:r>
                    </a:p>
                  </a:txBody>
                  <a:tcPr>
                    <a:solidFill>
                      <a:srgbClr val="FFFFFF"/>
                    </a:solidFill>
                  </a:tcPr>
                </a:tc>
                <a:tc>
                  <a:txBody>
                    <a:bodyPr/>
                    <a:lstStyle/>
                    <a:p>
                      <a:pPr algn="l"/>
                      <a:r>
                        <a:rPr sz="1200" b="0">
                          <a:solidFill>
                            <a:srgbClr val="333333"/>
                          </a:solidFill>
                        </a:rPr>
                        <a:t>~0</a:t>
                      </a:r>
                    </a:p>
                  </a:txBody>
                  <a:tcPr>
                    <a:solidFill>
                      <a:srgbClr val="FFFFFF"/>
                    </a:solidFill>
                  </a:tcPr>
                </a:tc>
                <a:tc>
                  <a:txBody>
                    <a:bodyPr/>
                    <a:lstStyle/>
                    <a:p>
                      <a:pPr algn="l"/>
                      <a:r>
                        <a:rPr sz="1200" b="0">
                          <a:solidFill>
                            <a:srgbClr val="333333"/>
                          </a:solidFill>
                        </a:rPr>
                        <a:t>**USD 35.8m** (Kenya)</a:t>
                      </a:r>
                    </a:p>
                  </a:txBody>
                  <a:tcPr>
                    <a:solidFill>
                      <a:srgbClr val="FFFFFF"/>
                    </a:solidFill>
                  </a:tcPr>
                </a:tc>
                <a:tc>
                  <a:txBody>
                    <a:bodyPr/>
                    <a:lstStyle/>
                    <a:p>
                      <a:pPr algn="l"/>
                      <a:r>
                        <a:rPr sz="1200" b="0">
                          <a:solidFill>
                            <a:srgbClr val="333333"/>
                          </a:solidFill>
                        </a:rPr>
                        <a:t>**Raw ore exported unprocessed**</a:t>
                      </a:r>
                    </a:p>
                  </a:txBody>
                  <a:tcPr>
                    <a:solidFill>
                      <a:srgbClr val="FFFF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Installed capacity and utilization. The NPA/UDC (2025) assessment records total installed capacity of approximately 1.68 million tonnes per annum (tpa) across the industry, operating at roughly 30% utilization — meaning around two-thirds of existing capacity is idle, even before any new investment. Low utilization is driven by feedstock cost, energy cost, and competition from imports.</a:t>
            </a:r>
          </a:p>
          <a:p>
            <a:pPr/>
            <a:r>
              <a:rPr sz="1600" b="0">
                <a:solidFill>
                  <a:srgbClr val="333333"/>
                </a:solidFill>
              </a:rPr>
              <a:t>•  Firms and structure. The industry is concentrated in downstream rolling and finishing, with an estimated 40+ firms across the chain (NPA/UDC 2025). Leading players include:</a:t>
            </a:r>
          </a:p>
          <a:p>
            <a:pPr/>
            <a:r>
              <a:rPr sz="1600" b="0">
                <a:solidFill>
                  <a:srgbClr val="333333"/>
                </a:solidFill>
              </a:rPr>
              <a:t>•  Employment. The chain is a significant industrial employer, with the larger firms each employing in the high hundreds to low thousands, and substantial indirect employment in construction, fabrication, and distribution (UDB; NPA/UDC 2025).</a:t>
            </a:r>
          </a:p>
          <a:p>
            <a:pPr/>
            <a:r>
              <a:rPr sz="1600" b="0">
                <a:solidFill>
                  <a:srgbClr val="333333"/>
                </a:solidFill>
              </a:rPr>
              <a:t>•  Trade position (ITC TradeMap, 2024). The trade data tells the core story of import dependence in the upstream and flat-steel segments, and competitiveness in the long-products segment:</a:t>
            </a:r>
          </a:p>
          <a:p>
            <a:pPr/>
            <a:r>
              <a:rPr sz="1600" b="0">
                <a:solidFill>
                  <a:srgbClr val="333333"/>
                </a:solidFill>
              </a:rPr>
              <a:t>•  The pattern is unambiguous: Uganda is competitive in finished long products (rebar) — exporting some USD 56 million in 2024, mostly to South Sudan and the DRC — but is a major net importer of the upstream and flat-steel segments it cannot yet produce, and it exports its iron ore raw.</a:t>
            </a:r>
          </a:p>
          <a:p>
            <a:pPr/>
            <a:r>
              <a:rPr sz="1600" b="0">
                <a:solidFill>
                  <a:srgbClr val="333333"/>
                </a:solidFill>
              </a:rPr>
              <a:t>•  2025 investment momentum. Two developments materially change the outlook and should be reflected in prioritization:</a:t>
            </a:r>
          </a:p>
          <a:p>
            <a:pPr/>
            <a:r>
              <a:rPr sz="1600" b="0">
                <a:solidFill>
                  <a:srgbClr val="333333"/>
                </a:solidFill>
              </a:rPr>
              <a:t>•  Tembo Steel commissioned a second DRI (sponge iron) plant in January 2025, adding roughly 250,000 t of ironmaking capacity — the only firm pushing into Phase II (State House Uganda, 2025).</a:t>
            </a:r>
          </a:p>
          <a:p>
            <a:pPr/>
            <a:r>
              <a:rPr sz="1600" b="0">
                <a:solidFill>
                  <a:srgbClr val="333333"/>
                </a:solidFill>
              </a:rPr>
              <a:t>•  Devki Group broke ground in November 2025 on a USD 500 million vertically integrated steel complex (Tororo/Mbarara), projected to create around 15,000 jobs — a potential step-change toward integrated, ore-based production (GMK Center, 2025; The Independent, 2025).</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4.C Binding Constraints Analysis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6094476"/>
                <a:gridCol w="6094476"/>
              </a:tblGrid>
              <a:tr h="490450">
                <a:tc>
                  <a:txBody>
                    <a:bodyPr/>
                    <a:lstStyle/>
                    <a:p>
                      <a:pPr algn="l"/>
                      <a:r>
                        <a:rPr sz="1300" b="1">
                          <a:solidFill>
                            <a:srgbClr val="FFFFFF"/>
                          </a:solidFill>
                        </a:rPr>
                        <a:t>Dimension</a:t>
                      </a:r>
                    </a:p>
                  </a:txBody>
                  <a:tcPr>
                    <a:solidFill>
                      <a:srgbClr val="002B5B"/>
                    </a:solidFill>
                  </a:tcPr>
                </a:tc>
                <a:tc>
                  <a:txBody>
                    <a:bodyPr/>
                    <a:lstStyle/>
                    <a:p>
                      <a:pPr algn="l"/>
                      <a:r>
                        <a:rPr sz="1300" b="1">
                          <a:solidFill>
                            <a:srgbClr val="FFFFFF"/>
                          </a:solidFill>
                        </a:rPr>
                        <a:t>Assessment for Iron &amp; Steel</a:t>
                      </a:r>
                    </a:p>
                  </a:txBody>
                  <a:tcPr>
                    <a:solidFill>
                      <a:srgbClr val="002B5B"/>
                    </a:solidFill>
                  </a:tcPr>
                </a:tc>
              </a:tr>
              <a:tr h="490450">
                <a:tc>
                  <a:txBody>
                    <a:bodyPr/>
                    <a:lstStyle/>
                    <a:p>
                      <a:pPr algn="l"/>
                      <a:r>
                        <a:rPr sz="1200" b="0">
                          <a:solidFill>
                            <a:srgbClr val="333333"/>
                          </a:solidFill>
                        </a:rPr>
                        <a:t>**Inputs / raw materials**</a:t>
                      </a:r>
                    </a:p>
                  </a:txBody>
                  <a:tcPr>
                    <a:solidFill>
                      <a:srgbClr val="D6E8F7"/>
                    </a:solidFill>
                  </a:tcPr>
                </a:tc>
                <a:tc>
                  <a:txBody>
                    <a:bodyPr/>
                    <a:lstStyle/>
                    <a:p>
                      <a:pPr algn="l"/>
                      <a:r>
                        <a:rPr sz="1200" b="0">
                          <a:solidFill>
                            <a:srgbClr val="333333"/>
                          </a:solidFill>
                        </a:rPr>
                        <a:t>High-grade iron-ore deposits exist (Muko, south-west; Mutaka) but commercial-scale mining and beneficiation are minimal. Mills run on imported billets, slabs, and scrap. Domestic scrap is insufficient and partly imported (USD 72.8m, 2024).</a:t>
                      </a:r>
                    </a:p>
                  </a:txBody>
                  <a:tcPr>
                    <a:solidFill>
                      <a:srgbClr val="D6E8F7"/>
                    </a:solidFill>
                  </a:tcPr>
                </a:tc>
              </a:tr>
              <a:tr h="490450">
                <a:tc>
                  <a:txBody>
                    <a:bodyPr/>
                    <a:lstStyle/>
                    <a:p>
                      <a:pPr algn="l"/>
                      <a:r>
                        <a:rPr sz="1200" b="0">
                          <a:solidFill>
                            <a:srgbClr val="333333"/>
                          </a:solidFill>
                        </a:rPr>
                        <a:t>**Technology &amp; productivity**</a:t>
                      </a:r>
                    </a:p>
                  </a:txBody>
                  <a:tcPr>
                    <a:solidFill>
                      <a:srgbClr val="FFFFFF"/>
                    </a:solidFill>
                  </a:tcPr>
                </a:tc>
                <a:tc>
                  <a:txBody>
                    <a:bodyPr/>
                    <a:lstStyle/>
                    <a:p>
                      <a:pPr algn="l"/>
                      <a:r>
                        <a:rPr sz="1200" b="0">
                          <a:solidFill>
                            <a:srgbClr val="333333"/>
                          </a:solidFill>
                        </a:rPr>
                        <a:t>Predominantly induction-furnace and re-rolling technology; little DRI/EAF integrated capacity. Productivity and energy efficiency lag regional integrated producers. Tembo's DRI expansion is the main exception.</a:t>
                      </a:r>
                    </a:p>
                  </a:txBody>
                  <a:tcPr>
                    <a:solidFill>
                      <a:srgbClr val="FFFFFF"/>
                    </a:solidFill>
                  </a:tcPr>
                </a:tc>
              </a:tr>
              <a:tr h="490450">
                <a:tc>
                  <a:txBody>
                    <a:bodyPr/>
                    <a:lstStyle/>
                    <a:p>
                      <a:pPr algn="l"/>
                      <a:r>
                        <a:rPr sz="1200" b="0">
                          <a:solidFill>
                            <a:srgbClr val="333333"/>
                          </a:solidFill>
                        </a:rPr>
                        <a:t>**Energy**</a:t>
                      </a:r>
                    </a:p>
                  </a:txBody>
                  <a:tcPr>
                    <a:solidFill>
                      <a:srgbClr val="D6E8F7"/>
                    </a:solidFill>
                  </a:tcPr>
                </a:tc>
                <a:tc>
                  <a:txBody>
                    <a:bodyPr/>
                    <a:lstStyle/>
                    <a:p>
                      <a:pPr algn="l"/>
                      <a:r>
                        <a:rPr sz="1200" b="0">
                          <a:solidFill>
                            <a:srgbClr val="333333"/>
                          </a:solidFill>
                        </a:rPr>
                        <a:t>Electricity is a decisive cost in steel. The extra-large industrial tariff is ~5.5 US¢/kWh (5¢ off-peak) in 2025 (ERA), competitive regionally but reliability and the cost of backup remain issues.</a:t>
                      </a:r>
                    </a:p>
                  </a:txBody>
                  <a:tcPr>
                    <a:solidFill>
                      <a:srgbClr val="D6E8F7"/>
                    </a:solidFill>
                  </a:tcPr>
                </a:tc>
              </a:tr>
              <a:tr h="490450">
                <a:tc>
                  <a:txBody>
                    <a:bodyPr/>
                    <a:lstStyle/>
                    <a:p>
                      <a:pPr algn="l"/>
                      <a:r>
                        <a:rPr sz="1200" b="0">
                          <a:solidFill>
                            <a:srgbClr val="333333"/>
                          </a:solidFill>
                        </a:rPr>
                        <a:t>**Water**</a:t>
                      </a:r>
                    </a:p>
                  </a:txBody>
                  <a:tcPr>
                    <a:solidFill>
                      <a:srgbClr val="FFFFFF"/>
                    </a:solidFill>
                  </a:tcPr>
                </a:tc>
                <a:tc>
                  <a:txBody>
                    <a:bodyPr/>
                    <a:lstStyle/>
                    <a:p>
                      <a:pPr algn="l"/>
                      <a:r>
                        <a:rPr sz="1200" b="0">
                          <a:solidFill>
                            <a:srgbClr val="333333"/>
                          </a:solidFill>
                        </a:rPr>
                        <a:t>Process and cooling water needed; managed under NEMA/NWSC frameworks; not the binding constraint.</a:t>
                      </a:r>
                    </a:p>
                  </a:txBody>
                  <a:tcPr>
                    <a:solidFill>
                      <a:srgbClr val="FFFFFF"/>
                    </a:solidFill>
                  </a:tcPr>
                </a:tc>
              </a:tr>
              <a:tr h="490450">
                <a:tc>
                  <a:txBody>
                    <a:bodyPr/>
                    <a:lstStyle/>
                    <a:p>
                      <a:pPr algn="l"/>
                      <a:r>
                        <a:rPr sz="1200" b="0">
                          <a:solidFill>
                            <a:srgbClr val="333333"/>
                          </a:solidFill>
                        </a:rPr>
                        <a:t>**Logistics**</a:t>
                      </a:r>
                    </a:p>
                  </a:txBody>
                  <a:tcPr>
                    <a:solidFill>
                      <a:srgbClr val="D6E8F7"/>
                    </a:solidFill>
                  </a:tcPr>
                </a:tc>
                <a:tc>
                  <a:txBody>
                    <a:bodyPr/>
                    <a:lstStyle/>
                    <a:p>
                      <a:pPr algn="l"/>
                      <a:r>
                        <a:rPr sz="1200" b="0">
                          <a:solidFill>
                            <a:srgbClr val="333333"/>
                          </a:solidFill>
                        </a:rPr>
                        <a:t>Landlocked-cost penalty is severe: national logistics inefficiency costs the economy ~USD 827m/yr and logistics is ~18–20% of the sale price of goods — heavy for a bulk, low-value-density product like steel.</a:t>
                      </a:r>
                    </a:p>
                  </a:txBody>
                  <a:tcPr>
                    <a:solidFill>
                      <a:srgbClr val="D6E8F7"/>
                    </a:solidFill>
                  </a:tcPr>
                </a:tc>
              </a:tr>
              <a:tr h="490450">
                <a:tc>
                  <a:txBody>
                    <a:bodyPr/>
                    <a:lstStyle/>
                    <a:p>
                      <a:pPr algn="l"/>
                      <a:r>
                        <a:rPr sz="1200" b="0">
                          <a:solidFill>
                            <a:srgbClr val="333333"/>
                          </a:solidFill>
                        </a:rPr>
                        <a:t>**Waste &amp; effluent**</a:t>
                      </a:r>
                    </a:p>
                  </a:txBody>
                  <a:tcPr>
                    <a:solidFill>
                      <a:srgbClr val="FFFFFF"/>
                    </a:solidFill>
                  </a:tcPr>
                </a:tc>
                <a:tc>
                  <a:txBody>
                    <a:bodyPr/>
                    <a:lstStyle/>
                    <a:p>
                      <a:pPr algn="l"/>
                      <a:r>
                        <a:rPr sz="1200" b="0">
                          <a:solidFill>
                            <a:srgbClr val="333333"/>
                          </a:solidFill>
                        </a:rPr>
                        <a:t>Slag, dust, and scale managed under NEMA Effluent Discharge Regulations 2020; circular-economy potential in slag reuse.</a:t>
                      </a:r>
                    </a:p>
                  </a:txBody>
                  <a:tcPr>
                    <a:solidFill>
                      <a:srgbClr val="FFFFFF"/>
                    </a:solidFill>
                  </a:tcPr>
                </a:tc>
              </a:tr>
              <a:tr h="490450">
                <a:tc>
                  <a:txBody>
                    <a:bodyPr/>
                    <a:lstStyle/>
                    <a:p>
                      <a:pPr algn="l"/>
                      <a:r>
                        <a:rPr sz="1200" b="0">
                          <a:solidFill>
                            <a:srgbClr val="333333"/>
                          </a:solidFill>
                        </a:rPr>
                        <a:t>**Finance &amp; investment**</a:t>
                      </a:r>
                    </a:p>
                  </a:txBody>
                  <a:tcPr>
                    <a:solidFill>
                      <a:srgbClr val="D6E8F7"/>
                    </a:solidFill>
                  </a:tcPr>
                </a:tc>
                <a:tc>
                  <a:txBody>
                    <a:bodyPr/>
                    <a:lstStyle/>
                    <a:p>
                      <a:pPr algn="l"/>
                      <a:r>
                        <a:rPr sz="1200" b="0">
                          <a:solidFill>
                            <a:srgbClr val="333333"/>
                          </a:solidFill>
                        </a:rPr>
                        <a:t>Integrated steel is highly capital-intensive; long-term finance is scarce and costly, with 2025 liquidity tightening crowding out private credit (KPMG Budget Brief 2025/26).</a:t>
                      </a:r>
                    </a:p>
                  </a:txBody>
                  <a:tcPr>
                    <a:solidFill>
                      <a:srgbClr val="D6E8F7"/>
                    </a:solidFill>
                  </a:tcPr>
                </a:tc>
              </a:tr>
              <a:tr h="490450">
                <a:tc>
                  <a:txBody>
                    <a:bodyPr/>
                    <a:lstStyle/>
                    <a:p>
                      <a:pPr algn="l"/>
                      <a:r>
                        <a:rPr sz="1200" b="0">
                          <a:solidFill>
                            <a:srgbClr val="333333"/>
                          </a:solidFill>
                        </a:rPr>
                        <a:t>**Skills &amp; workforce**</a:t>
                      </a:r>
                    </a:p>
                  </a:txBody>
                  <a:tcPr>
                    <a:solidFill>
                      <a:srgbClr val="FFFFFF"/>
                    </a:solidFill>
                  </a:tcPr>
                </a:tc>
                <a:tc>
                  <a:txBody>
                    <a:bodyPr/>
                    <a:lstStyle/>
                    <a:p>
                      <a:pPr algn="l"/>
                      <a:r>
                        <a:rPr sz="1200" b="0">
                          <a:solidFill>
                            <a:srgbClr val="333333"/>
                          </a:solidFill>
                        </a:rPr>
                        <a:t>Shortage of metallurgical and process-engineering skills; ~68% of manufacturers report difficulty finding required technical skills (UMA).</a:t>
                      </a:r>
                    </a:p>
                  </a:txBody>
                  <a:tcPr>
                    <a:solidFill>
                      <a:srgbClr val="FFFFFF"/>
                    </a:solidFill>
                  </a:tcPr>
                </a:tc>
              </a:tr>
              <a:tr h="490450">
                <a:tc>
                  <a:txBody>
                    <a:bodyPr/>
                    <a:lstStyle/>
                    <a:p>
                      <a:pPr algn="l"/>
                      <a:r>
                        <a:rPr sz="1200" b="0">
                          <a:solidFill>
                            <a:srgbClr val="333333"/>
                          </a:solidFill>
                        </a:rPr>
                        <a:t>**Standards &amp; quality**</a:t>
                      </a:r>
                    </a:p>
                  </a:txBody>
                  <a:tcPr>
                    <a:solidFill>
                      <a:srgbClr val="D6E8F7"/>
                    </a:solidFill>
                  </a:tcPr>
                </a:tc>
                <a:tc>
                  <a:txBody>
                    <a:bodyPr/>
                    <a:lstStyle/>
                    <a:p>
                      <a:pPr algn="l"/>
                      <a:r>
                        <a:rPr sz="1200" b="0">
                          <a:solidFill>
                            <a:srgbClr val="333333"/>
                          </a:solidFill>
                        </a:rPr>
                        <a:t>UNBS standards and Q-Mark apply; substandard imports and uneven enforcement distort the market.</a:t>
                      </a:r>
                    </a:p>
                  </a:txBody>
                  <a:tcPr>
                    <a:solidFill>
                      <a:srgbClr val="D6E8F7"/>
                    </a:solidFill>
                  </a:tcPr>
                </a:tc>
              </a:tr>
              <a:tr h="490460">
                <a:tc>
                  <a:txBody>
                    <a:bodyPr/>
                    <a:lstStyle/>
                    <a:p>
                      <a:pPr algn="l"/>
                      <a:r>
                        <a:rPr sz="1200" b="0">
                          <a:solidFill>
                            <a:srgbClr val="333333"/>
                          </a:solidFill>
                        </a:rPr>
                        <a:t>**Policy &amp; regulatory**</a:t>
                      </a:r>
                    </a:p>
                  </a:txBody>
                  <a:tcPr>
                    <a:solidFill>
                      <a:srgbClr val="FFFFFF"/>
                    </a:solidFill>
                  </a:tcPr>
                </a:tc>
                <a:tc>
                  <a:txBody>
                    <a:bodyPr/>
                    <a:lstStyle/>
                    <a:p>
                      <a:pPr algn="l"/>
                      <a:r>
                        <a:rPr sz="1200" b="0">
                          <a:solidFill>
                            <a:srgbClr val="333333"/>
                          </a:solidFill>
                        </a:rPr>
                        <a:t>EAC Common External Tariff and import policy shape competitiveness; protection of finished products without securing feedstock can raise downstream costs. Mining licensing and land access constrain upstream entry.</a:t>
                      </a:r>
                    </a:p>
                  </a:txBody>
                  <a:tcPr>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4.D Market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Domestic. Demand is driven by construction and infrastructure and is growing. Uganda already meets domestic demand for many long products (rebar, sections) but imports virtually all flat products and semi-finished feedstock.</a:t>
            </a:r>
          </a:p>
          <a:p>
            <a:pPr/>
            <a:r>
              <a:rPr sz="1600" b="0">
                <a:solidFill>
                  <a:srgbClr val="333333"/>
                </a:solidFill>
              </a:rPr>
              <a:t>•  Regional (EAC/COMESA). Uganda is a competitive exporter of rebar and long products to South Sudan and eastern DRC (USD 55.8m of HS 7214 in 2024), markets where proximity offsets the landlocked penalty (ITC TradeMap, 2024). These are durable, growing markets with reconstruction and construction demand. The EAC market is ~USD 4.8 billion in intra-regional trade and growing (EAC, 2025).</a:t>
            </a:r>
          </a:p>
          <a:p>
            <a:pPr/>
            <a:r>
              <a:rPr sz="1600" b="0">
                <a:solidFill>
                  <a:srgbClr val="333333"/>
                </a:solidFill>
              </a:rPr>
              <a:t>•  Global. Uganda is not, and will not soon be, a globally competitive steel exporter. Global benchmarks (World Steel Association, 2025) confirm scale economics that Uganda cannot match upstream; the realistic horizon is domestic substitution plus regional export of finished products.</a:t>
            </a:r>
          </a:p>
          <a:p>
            <a:pPr/>
            <a:r>
              <a:rPr sz="1600" b="0">
                <a:solidFill>
                  <a:srgbClr val="333333"/>
                </a:solidFill>
              </a:rPr>
              <a:t>•  Accessible market conclusion. The realistically accessible market is (1) domestic flat-steel and semi-finished substitution and (2) regional finished long-product exports. Global commodity-steel export is not accessible.</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46" cy="539496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770708">
                <a:tc>
                  <a:txBody>
                    <a:bodyPr/>
                    <a:lstStyle/>
                    <a:p>
                      <a:pPr algn="l"/>
                      <a:r>
                        <a:rPr sz="1300" b="1">
                          <a:solidFill>
                            <a:srgbClr val="FFFFFF"/>
                          </a:solidFill>
                        </a:rPr>
                        <a:t>Product / sub-sector</a:t>
                      </a:r>
                    </a:p>
                  </a:txBody>
                  <a:tcPr>
                    <a:solidFill>
                      <a:srgbClr val="002B5B"/>
                    </a:solidFill>
                  </a:tcPr>
                </a:tc>
                <a:tc>
                  <a:txBody>
                    <a:bodyPr/>
                    <a:lstStyle/>
                    <a:p>
                      <a:pPr algn="l"/>
                      <a:r>
                        <a:rPr sz="1300" b="1">
                          <a:solidFill>
                            <a:srgbClr val="FFFFFF"/>
                          </a:solidFill>
                        </a:rPr>
                        <a:t>Market</a:t>
                      </a:r>
                    </a:p>
                  </a:txBody>
                  <a:tcPr>
                    <a:solidFill>
                      <a:srgbClr val="002B5B"/>
                    </a:solidFill>
                  </a:tcPr>
                </a:tc>
                <a:tc>
                  <a:txBody>
                    <a:bodyPr/>
                    <a:lstStyle/>
                    <a:p>
                      <a:pPr algn="l"/>
                      <a:r>
                        <a:rPr sz="1300" b="1">
                          <a:solidFill>
                            <a:srgbClr val="FFFFFF"/>
                          </a:solidFill>
                        </a:rPr>
                        <a:t>Comp. adv.</a:t>
                      </a:r>
                    </a:p>
                  </a:txBody>
                  <a:tcPr>
                    <a:solidFill>
                      <a:srgbClr val="002B5B"/>
                    </a:solidFill>
                  </a:tcPr>
                </a:tc>
                <a:tc>
                  <a:txBody>
                    <a:bodyPr/>
                    <a:lstStyle/>
                    <a:p>
                      <a:pPr algn="l"/>
                      <a:r>
                        <a:rPr sz="1300" b="1">
                          <a:solidFill>
                            <a:srgbClr val="FFFFFF"/>
                          </a:solidFill>
                        </a:rPr>
                        <a:t>Feasibility</a:t>
                      </a:r>
                    </a:p>
                  </a:txBody>
                  <a:tcPr>
                    <a:solidFill>
                      <a:srgbClr val="002B5B"/>
                    </a:solidFill>
                  </a:tcPr>
                </a:tc>
                <a:tc>
                  <a:txBody>
                    <a:bodyPr/>
                    <a:lstStyle/>
                    <a:p>
                      <a:pPr algn="l"/>
                      <a:r>
                        <a:rPr sz="1300" b="1">
                          <a:solidFill>
                            <a:srgbClr val="FFFFFF"/>
                          </a:solidFill>
                        </a:rPr>
                        <a:t>Jobs</a:t>
                      </a:r>
                    </a:p>
                  </a:txBody>
                  <a:tcPr>
                    <a:solidFill>
                      <a:srgbClr val="002B5B"/>
                    </a:solidFill>
                  </a:tcPr>
                </a:tc>
                <a:tc>
                  <a:txBody>
                    <a:bodyPr/>
                    <a:lstStyle/>
                    <a:p>
                      <a:pPr algn="l"/>
                      <a:r>
                        <a:rPr sz="1300" b="1">
                          <a:solidFill>
                            <a:srgbClr val="FFFFFF"/>
                          </a:solidFill>
                        </a:rPr>
                        <a:t>Import subst.</a:t>
                      </a:r>
                    </a:p>
                  </a:txBody>
                  <a:tcPr>
                    <a:solidFill>
                      <a:srgbClr val="002B5B"/>
                    </a:solidFill>
                  </a:tcPr>
                </a:tc>
                <a:tc>
                  <a:txBody>
                    <a:bodyPr/>
                    <a:lstStyle/>
                    <a:p>
                      <a:pPr algn="l"/>
                      <a:r>
                        <a:rPr sz="1300" b="1">
                          <a:solidFill>
                            <a:srgbClr val="FFFFFF"/>
                          </a:solidFill>
                        </a:rPr>
                        <a:t>Priority</a:t>
                      </a:r>
                    </a:p>
                  </a:txBody>
                  <a:tcPr>
                    <a:solidFill>
                      <a:srgbClr val="002B5B"/>
                    </a:solidFill>
                  </a:tcPr>
                </a:tc>
              </a:tr>
              <a:tr h="770708">
                <a:tc>
                  <a:txBody>
                    <a:bodyPr/>
                    <a:lstStyle/>
                    <a:p>
                      <a:pPr algn="l"/>
                      <a:r>
                        <a:rPr sz="1200" b="0">
                          <a:solidFill>
                            <a:srgbClr val="333333"/>
                          </a:solidFill>
                        </a:rPr>
                        <a:t>**Sponge iron / DRI (ironmaking)**</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High (ore base)</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**Priority**</a:t>
                      </a:r>
                    </a:p>
                  </a:txBody>
                  <a:tcPr>
                    <a:solidFill>
                      <a:srgbClr val="D6E8F7"/>
                    </a:solidFill>
                  </a:tcPr>
                </a:tc>
              </a:tr>
              <a:tr h="770708">
                <a:tc>
                  <a:txBody>
                    <a:bodyPr/>
                    <a:lstStyle/>
                    <a:p>
                      <a:pPr algn="l"/>
                      <a:r>
                        <a:rPr sz="1200" b="0">
                          <a:solidFill>
                            <a:srgbClr val="333333"/>
                          </a:solidFill>
                        </a:rPr>
                        <a:t>**Flat products (hot/cold-rolled)**</a:t>
                      </a:r>
                    </a:p>
                  </a:txBody>
                  <a:tcPr>
                    <a:solidFill>
                      <a:srgbClr val="FFFFFF"/>
                    </a:solidFill>
                  </a:tcPr>
                </a:tc>
                <a:tc>
                  <a:txBody>
                    <a:bodyPr/>
                    <a:lstStyle/>
                    <a:p>
                      <a:pPr algn="l"/>
                      <a:r>
                        <a:rPr sz="1200" b="0">
                          <a:solidFill>
                            <a:srgbClr val="333333"/>
                          </a:solidFill>
                        </a:rPr>
                        <a:t>High (USD 219m imports)</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Very high</a:t>
                      </a:r>
                    </a:p>
                  </a:txBody>
                  <a:tcPr>
                    <a:solidFill>
                      <a:srgbClr val="FFFFFF"/>
                    </a:solidFill>
                  </a:tcPr>
                </a:tc>
                <a:tc>
                  <a:txBody>
                    <a:bodyPr/>
                    <a:lstStyle/>
                    <a:p>
                      <a:pPr algn="l"/>
                      <a:r>
                        <a:rPr sz="1200" b="0">
                          <a:solidFill>
                            <a:srgbClr val="333333"/>
                          </a:solidFill>
                        </a:rPr>
                        <a:t>**Priority**</a:t>
                      </a:r>
                    </a:p>
                  </a:txBody>
                  <a:tcPr>
                    <a:solidFill>
                      <a:srgbClr val="FFFFFF"/>
                    </a:solidFill>
                  </a:tcPr>
                </a:tc>
              </a:tr>
              <a:tr h="770708">
                <a:tc>
                  <a:txBody>
                    <a:bodyPr/>
                    <a:lstStyle/>
                    <a:p>
                      <a:pPr algn="l"/>
                      <a:r>
                        <a:rPr sz="1200" b="0">
                          <a:solidFill>
                            <a:srgbClr val="333333"/>
                          </a:solidFill>
                        </a:rPr>
                        <a:t>**Long products (rebar, sections)**</a:t>
                      </a:r>
                    </a:p>
                  </a:txBody>
                  <a:tcPr>
                    <a:solidFill>
                      <a:srgbClr val="D6E8F7"/>
                    </a:solidFill>
                  </a:tcPr>
                </a:tc>
                <a:tc>
                  <a:txBody>
                    <a:bodyPr/>
                    <a:lstStyle/>
                    <a:p>
                      <a:pPr algn="l"/>
                      <a:r>
                        <a:rPr sz="1200" b="0">
                          <a:solidFill>
                            <a:srgbClr val="333333"/>
                          </a:solidFill>
                        </a:rPr>
                        <a:t>High (regional export)</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Achieved</a:t>
                      </a:r>
                    </a:p>
                  </a:txBody>
                  <a:tcPr>
                    <a:solidFill>
                      <a:srgbClr val="D6E8F7"/>
                    </a:solidFill>
                  </a:tcPr>
                </a:tc>
                <a:tc>
                  <a:txBody>
                    <a:bodyPr/>
                    <a:lstStyle/>
                    <a:p>
                      <a:pPr algn="l"/>
                      <a:r>
                        <a:rPr sz="1200" b="0">
                          <a:solidFill>
                            <a:srgbClr val="333333"/>
                          </a:solidFill>
                        </a:rPr>
                        <a:t>**Priority (defend &amp; expand)**</a:t>
                      </a:r>
                    </a:p>
                  </a:txBody>
                  <a:tcPr>
                    <a:solidFill>
                      <a:srgbClr val="D6E8F7"/>
                    </a:solidFill>
                  </a:tcPr>
                </a:tc>
              </a:tr>
              <a:tr h="770708">
                <a:tc>
                  <a:txBody>
                    <a:bodyPr/>
                    <a:lstStyle/>
                    <a:p>
                      <a:pPr algn="l"/>
                      <a:r>
                        <a:rPr sz="1200" b="0">
                          <a:solidFill>
                            <a:srgbClr val="333333"/>
                          </a:solidFill>
                        </a:rPr>
                        <a:t>**Iron-ore mining &amp; beneficiation**</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Enabler</a:t>
                      </a:r>
                    </a:p>
                  </a:txBody>
                  <a:tcPr>
                    <a:solidFill>
                      <a:srgbClr val="FFFFFF"/>
                    </a:solidFill>
                  </a:tcPr>
                </a:tc>
                <a:tc>
                  <a:txBody>
                    <a:bodyPr/>
                    <a:lstStyle/>
                    <a:p>
                      <a:pPr algn="l"/>
                      <a:r>
                        <a:rPr sz="1200" b="0">
                          <a:solidFill>
                            <a:srgbClr val="333333"/>
                          </a:solidFill>
                        </a:rPr>
                        <a:t>**Priority (enabler)**</a:t>
                      </a:r>
                    </a:p>
                  </a:txBody>
                  <a:tcPr>
                    <a:solidFill>
                      <a:srgbClr val="FFFFFF"/>
                    </a:solidFill>
                  </a:tcPr>
                </a:tc>
              </a:tr>
              <a:tr h="770708">
                <a:tc>
                  <a:txBody>
                    <a:bodyPr/>
                    <a:lstStyle/>
                    <a:p>
                      <a:pPr algn="l"/>
                      <a:r>
                        <a:rPr sz="1200" b="0">
                          <a:solidFill>
                            <a:srgbClr val="333333"/>
                          </a:solidFill>
                        </a:rPr>
                        <a:t>Specialty / alloy steels</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Deprioritize</a:t>
                      </a:r>
                    </a:p>
                  </a:txBody>
                  <a:tcPr>
                    <a:solidFill>
                      <a:srgbClr val="D6E8F7"/>
                    </a:solidFill>
                  </a:tcPr>
                </a:tc>
              </a:tr>
              <a:tr h="770712">
                <a:tc>
                  <a:txBody>
                    <a:bodyPr/>
                    <a:lstStyle/>
                    <a:p>
                      <a:pPr algn="l"/>
                      <a:r>
                        <a:rPr sz="1200" b="0">
                          <a:solidFill>
                            <a:srgbClr val="333333"/>
                          </a:solidFill>
                        </a:rPr>
                        <a:t>Tinplate / niche coated</a:t>
                      </a:r>
                    </a:p>
                  </a:txBody>
                  <a:tcPr>
                    <a:solidFill>
                      <a:srgbClr val="FFFFFF"/>
                    </a:solidFill>
                  </a:tcPr>
                </a:tc>
                <a:tc>
                  <a:txBody>
                    <a:bodyPr/>
                    <a:lstStyle/>
                    <a:p>
                      <a:pPr algn="l"/>
                      <a:r>
                        <a:rPr sz="1200" b="0">
                          <a:solidFill>
                            <a:srgbClr val="333333"/>
                          </a:solidFill>
                        </a:rPr>
                        <a:t>Low</a:t>
                      </a:r>
                    </a:p>
                  </a:txBody>
                  <a:tcPr>
                    <a:solidFill>
                      <a:srgbClr val="FFFFFF"/>
                    </a:solidFill>
                  </a:tcPr>
                </a:tc>
                <a:tc>
                  <a:txBody>
                    <a:bodyPr/>
                    <a:lstStyle/>
                    <a:p>
                      <a:pPr algn="l"/>
                      <a:r>
                        <a:rPr sz="1200" b="0">
                          <a:solidFill>
                            <a:srgbClr val="333333"/>
                          </a:solidFill>
                        </a:rPr>
                        <a:t>Low</a:t>
                      </a:r>
                    </a:p>
                  </a:txBody>
                  <a:tcPr>
                    <a:solidFill>
                      <a:srgbClr val="FFFFFF"/>
                    </a:solidFill>
                  </a:tcPr>
                </a:tc>
                <a:tc>
                  <a:txBody>
                    <a:bodyPr/>
                    <a:lstStyle/>
                    <a:p>
                      <a:pPr algn="l"/>
                      <a:r>
                        <a:rPr sz="1200" b="0">
                          <a:solidFill>
                            <a:srgbClr val="333333"/>
                          </a:solidFill>
                        </a:rPr>
                        <a:t>Low</a:t>
                      </a:r>
                    </a:p>
                  </a:txBody>
                  <a:tcPr>
                    <a:solidFill>
                      <a:srgbClr val="FFFFFF"/>
                    </a:solidFill>
                  </a:tcPr>
                </a:tc>
                <a:tc>
                  <a:txBody>
                    <a:bodyPr/>
                    <a:lstStyle/>
                    <a:p>
                      <a:pPr algn="l"/>
                      <a:r>
                        <a:rPr sz="1200" b="0">
                          <a:solidFill>
                            <a:srgbClr val="333333"/>
                          </a:solidFill>
                        </a:rPr>
                        <a:t>Low</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Deprioritize (for now)</a:t>
                      </a:r>
                    </a:p>
                  </a:txBody>
                  <a:tcPr>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Applying the five-criterion scoring framework (Chapter 3) to the chain:</a:t>
            </a:r>
          </a:p>
          <a:p>
            <a:pPr/>
            <a:r>
              <a:rPr sz="1600" b="0">
                <a:solidFill>
                  <a:srgbClr val="333333"/>
                </a:solidFill>
              </a:rPr>
              <a:t>•  The three-to-four priorities for Iron &amp; Steel:</a:t>
            </a:r>
          </a:p>
          <a:p>
            <a:pPr/>
            <a:r>
              <a:rPr sz="1600" b="0">
                <a:solidFill>
                  <a:srgbClr val="333333"/>
                </a:solidFill>
              </a:rPr>
              <a:t>•  Explicit deprioritization. Uganda should not pursue specialty/alloy steels, large-diameter seamless pipe, or globally traded commodity flat steel for export at this stage — these require scale, technology, and capital Uganda cannot competitively marshal now. Focus belongs on the integrated ore→DRI→flat/long pathway for domestic and regional markets.</a:t>
            </a:r>
          </a:p>
          <a:p>
            <a:pPr/>
            <a:r>
              <a:rPr sz="1600" b="0">
                <a:solidFill>
                  <a:srgbClr val="333333"/>
                </a:solidFill>
              </a:rPr>
              <a:t>1. Ironmaking (sponge iron/DRI) anchored on domestic ore — the missing midstream step; unlocks the whole chain and stops raw-ore leakage. Tembo's expansion and Devki's integrated plant show commercial appetite.</a:t>
            </a:r>
          </a:p>
          <a:p>
            <a:pPr/>
            <a:r>
              <a:rPr sz="1600" b="0">
                <a:solidFill>
                  <a:srgbClr val="333333"/>
                </a:solidFill>
              </a:rPr>
              <a:t>2. Flat-steel production — the single largest import line (USD 219.5m in 2024) with no domestic production; the clearest import-substitution prize.</a:t>
            </a:r>
          </a:p>
          <a:p>
            <a:pPr/>
            <a:r>
              <a:rPr sz="1600" b="0">
                <a:solidFill>
                  <a:srgbClr val="333333"/>
                </a:solidFill>
              </a:rPr>
              <a:t>3. Long products (rebar/sections) — already competitive and exporting regionally; defend and scale this proven position.</a:t>
            </a:r>
          </a:p>
          <a:p>
            <a:pPr/>
            <a:r>
              <a:rPr sz="1600" b="0">
                <a:solidFill>
                  <a:srgbClr val="333333"/>
                </a:solidFill>
              </a:rPr>
              <a:t>4. Iron-ore mining &amp; beneficiation — the enabling upstream step that must accompany ironmaking.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4.F Priority Action Matrix</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674370">
                <a:tc>
                  <a:txBody>
                    <a:bodyPr/>
                    <a:lstStyle/>
                    <a:p>
                      <a:pPr algn="l"/>
                      <a:r>
                        <a:rPr sz="1300" b="1">
                          <a:solidFill>
                            <a:srgbClr val="FFFFFF"/>
                          </a:solidFill>
                        </a:rPr>
                        <a:t>Timeframe</a:t>
                      </a:r>
                    </a:p>
                  </a:txBody>
                  <a:tcPr>
                    <a:solidFill>
                      <a:srgbClr val="002B5B"/>
                    </a:solidFill>
                  </a:tcPr>
                </a:tc>
                <a:tc>
                  <a:txBody>
                    <a:bodyPr/>
                    <a:lstStyle/>
                    <a:p>
                      <a:pPr algn="l"/>
                      <a:r>
                        <a:rPr sz="1300" b="1">
                          <a:solidFill>
                            <a:srgbClr val="FFFFFF"/>
                          </a:solidFill>
                        </a:rPr>
                        <a:t>Action</a:t>
                      </a:r>
                    </a:p>
                  </a:txBody>
                  <a:tcPr>
                    <a:solidFill>
                      <a:srgbClr val="002B5B"/>
                    </a:solidFill>
                  </a:tcPr>
                </a:tc>
                <a:tc>
                  <a:txBody>
                    <a:bodyPr/>
                    <a:lstStyle/>
                    <a:p>
                      <a:pPr algn="l"/>
                      <a:r>
                        <a:rPr sz="1300" b="1">
                          <a:solidFill>
                            <a:srgbClr val="FFFFFF"/>
                          </a:solidFill>
                        </a:rPr>
                        <a:t>Lead</a:t>
                      </a:r>
                    </a:p>
                  </a:txBody>
                  <a:tcPr>
                    <a:solidFill>
                      <a:srgbClr val="002B5B"/>
                    </a:solidFill>
                  </a:tcPr>
                </a:tc>
                <a:tc>
                  <a:txBody>
                    <a:bodyPr/>
                    <a:lstStyle/>
                    <a:p>
                      <a:pPr algn="l"/>
                      <a:r>
                        <a:rPr sz="1300" b="1">
                          <a:solidFill>
                            <a:srgbClr val="FFFFFF"/>
                          </a:solidFill>
                        </a:rPr>
                        <a:t>Indicative cost</a:t>
                      </a:r>
                    </a:p>
                  </a:txBody>
                  <a:tcPr>
                    <a:solidFill>
                      <a:srgbClr val="002B5B"/>
                    </a:solidFill>
                  </a:tcPr>
                </a:tc>
              </a:tr>
              <a:tr h="674370">
                <a:tc>
                  <a:txBody>
                    <a:bodyPr/>
                    <a:lstStyle/>
                    <a:p>
                      <a:pPr algn="l"/>
                      <a:r>
                        <a:rPr sz="1200" b="0">
                          <a:solidFill>
                            <a:srgbClr val="333333"/>
                          </a:solidFill>
                        </a:rPr>
                        <a:t>**Quick win (0–12m)**</a:t>
                      </a:r>
                    </a:p>
                  </a:txBody>
                  <a:tcPr>
                    <a:solidFill>
                      <a:srgbClr val="D6E8F7"/>
                    </a:solidFill>
                  </a:tcPr>
                </a:tc>
                <a:tc>
                  <a:txBody>
                    <a:bodyPr/>
                    <a:lstStyle/>
                    <a:p>
                      <a:pPr algn="l"/>
                      <a:r>
                        <a:rPr sz="1200" b="0">
                          <a:solidFill>
                            <a:srgbClr val="333333"/>
                          </a:solidFill>
                        </a:rPr>
                        <a:t>Enforce UNBS standards against substandard steel imports; level the playing field for compliant domestic mills</a:t>
                      </a:r>
                    </a:p>
                  </a:txBody>
                  <a:tcPr>
                    <a:solidFill>
                      <a:srgbClr val="D6E8F7"/>
                    </a:solidFill>
                  </a:tcPr>
                </a:tc>
                <a:tc>
                  <a:txBody>
                    <a:bodyPr/>
                    <a:lstStyle/>
                    <a:p>
                      <a:pPr algn="l"/>
                      <a:r>
                        <a:rPr sz="1200" b="0">
                          <a:solidFill>
                            <a:srgbClr val="333333"/>
                          </a:solidFill>
                        </a:rPr>
                        <a:t>UNBS, MTIC, URA</a:t>
                      </a:r>
                    </a:p>
                  </a:txBody>
                  <a:tcPr>
                    <a:solidFill>
                      <a:srgbClr val="D6E8F7"/>
                    </a:solidFill>
                  </a:tcPr>
                </a:tc>
                <a:tc>
                  <a:txBody>
                    <a:bodyPr/>
                    <a:lstStyle/>
                    <a:p>
                      <a:pPr algn="l"/>
                      <a:r>
                        <a:rPr sz="1200" b="0">
                          <a:solidFill>
                            <a:srgbClr val="333333"/>
                          </a:solidFill>
                        </a:rPr>
                        <a:t>Low (administrative)</a:t>
                      </a:r>
                    </a:p>
                  </a:txBody>
                  <a:tcPr>
                    <a:solidFill>
                      <a:srgbClr val="D6E8F7"/>
                    </a:solidFill>
                  </a:tcPr>
                </a:tc>
              </a:tr>
              <a:tr h="674370">
                <a:tc>
                  <a:txBody>
                    <a:bodyPr/>
                    <a:lstStyle/>
                    <a:p>
                      <a:pPr algn="l"/>
                      <a:r>
                        <a:rPr sz="1200" b="0">
                          <a:solidFill>
                            <a:srgbClr val="333333"/>
                          </a:solidFill>
                        </a:rPr>
                        <a:t>Quick win (0–12m)</a:t>
                      </a:r>
                    </a:p>
                  </a:txBody>
                  <a:tcPr>
                    <a:solidFill>
                      <a:srgbClr val="FFFFFF"/>
                    </a:solidFill>
                  </a:tcPr>
                </a:tc>
                <a:tc>
                  <a:txBody>
                    <a:bodyPr/>
                    <a:lstStyle/>
                    <a:p>
                      <a:pPr algn="l"/>
                      <a:r>
                        <a:rPr sz="1200" b="0">
                          <a:solidFill>
                            <a:srgbClr val="333333"/>
                          </a:solidFill>
                        </a:rPr>
                        <a:t>Restrict or tax raw iron-ore exports (HS 2601) to retain feedstock for domestic ironmaking</a:t>
                      </a:r>
                    </a:p>
                  </a:txBody>
                  <a:tcPr>
                    <a:solidFill>
                      <a:srgbClr val="FFFFFF"/>
                    </a:solidFill>
                  </a:tcPr>
                </a:tc>
                <a:tc>
                  <a:txBody>
                    <a:bodyPr/>
                    <a:lstStyle/>
                    <a:p>
                      <a:pPr algn="l"/>
                      <a:r>
                        <a:rPr sz="1200" b="0">
                          <a:solidFill>
                            <a:srgbClr val="333333"/>
                          </a:solidFill>
                        </a:rPr>
                        <a:t>MEMD, MoFPED</a:t>
                      </a:r>
                    </a:p>
                  </a:txBody>
                  <a:tcPr>
                    <a:solidFill>
                      <a:srgbClr val="FFFFFF"/>
                    </a:solidFill>
                  </a:tcPr>
                </a:tc>
                <a:tc>
                  <a:txBody>
                    <a:bodyPr/>
                    <a:lstStyle/>
                    <a:p>
                      <a:pPr algn="l"/>
                      <a:r>
                        <a:rPr sz="1200" b="0">
                          <a:solidFill>
                            <a:srgbClr val="333333"/>
                          </a:solidFill>
                        </a:rPr>
                        <a:t>Low (policy)</a:t>
                      </a:r>
                    </a:p>
                  </a:txBody>
                  <a:tcPr>
                    <a:solidFill>
                      <a:srgbClr val="FFFFFF"/>
                    </a:solidFill>
                  </a:tcPr>
                </a:tc>
              </a:tr>
              <a:tr h="674370">
                <a:tc>
                  <a:txBody>
                    <a:bodyPr/>
                    <a:lstStyle/>
                    <a:p>
                      <a:pPr algn="l"/>
                      <a:r>
                        <a:rPr sz="1200" b="0">
                          <a:solidFill>
                            <a:srgbClr val="333333"/>
                          </a:solidFill>
                        </a:rPr>
                        <a:t>**Reform (1–3y)**</a:t>
                      </a:r>
                    </a:p>
                  </a:txBody>
                  <a:tcPr>
                    <a:solidFill>
                      <a:srgbClr val="D6E8F7"/>
                    </a:solidFill>
                  </a:tcPr>
                </a:tc>
                <a:tc>
                  <a:txBody>
                    <a:bodyPr/>
                    <a:lstStyle/>
                    <a:p>
                      <a:pPr algn="l"/>
                      <a:r>
                        <a:rPr sz="1200" b="0">
                          <a:solidFill>
                            <a:srgbClr val="333333"/>
                          </a:solidFill>
                        </a:rPr>
                        <a:t>Secure iron-ore mining licences and beneficiation at Muko/Mutaka; resolve land access</a:t>
                      </a:r>
                    </a:p>
                  </a:txBody>
                  <a:tcPr>
                    <a:solidFill>
                      <a:srgbClr val="D6E8F7"/>
                    </a:solidFill>
                  </a:tcPr>
                </a:tc>
                <a:tc>
                  <a:txBody>
                    <a:bodyPr/>
                    <a:lstStyle/>
                    <a:p>
                      <a:pPr algn="l"/>
                      <a:r>
                        <a:rPr sz="1200" b="0">
                          <a:solidFill>
                            <a:srgbClr val="333333"/>
                          </a:solidFill>
                        </a:rPr>
                        <a:t>MEMD/DGSM, MTIC</a:t>
                      </a:r>
                    </a:p>
                  </a:txBody>
                  <a:tcPr>
                    <a:solidFill>
                      <a:srgbClr val="D6E8F7"/>
                    </a:solidFill>
                  </a:tcPr>
                </a:tc>
                <a:tc>
                  <a:txBody>
                    <a:bodyPr/>
                    <a:lstStyle/>
                    <a:p>
                      <a:pPr algn="l"/>
                      <a:r>
                        <a:rPr sz="1200" b="0">
                          <a:solidFill>
                            <a:srgbClr val="333333"/>
                          </a:solidFill>
                        </a:rPr>
                        <a:t>Medium</a:t>
                      </a:r>
                    </a:p>
                  </a:txBody>
                  <a:tcPr>
                    <a:solidFill>
                      <a:srgbClr val="D6E8F7"/>
                    </a:solidFill>
                  </a:tcPr>
                </a:tc>
              </a:tr>
              <a:tr h="674370">
                <a:tc>
                  <a:txBody>
                    <a:bodyPr/>
                    <a:lstStyle/>
                    <a:p>
                      <a:pPr algn="l"/>
                      <a:r>
                        <a:rPr sz="1200" b="0">
                          <a:solidFill>
                            <a:srgbClr val="333333"/>
                          </a:solidFill>
                        </a:rPr>
                        <a:t>Reform (1–3y)</a:t>
                      </a:r>
                    </a:p>
                  </a:txBody>
                  <a:tcPr>
                    <a:solidFill>
                      <a:srgbClr val="FFFFFF"/>
                    </a:solidFill>
                  </a:tcPr>
                </a:tc>
                <a:tc>
                  <a:txBody>
                    <a:bodyPr/>
                    <a:lstStyle/>
                    <a:p>
                      <a:pPr algn="l"/>
                      <a:r>
                        <a:rPr sz="1200" b="0">
                          <a:solidFill>
                            <a:srgbClr val="333333"/>
                          </a:solidFill>
                        </a:rPr>
                        <a:t>Power agreement for extra-large steel loads; reliability guarantees</a:t>
                      </a:r>
                    </a:p>
                  </a:txBody>
                  <a:tcPr>
                    <a:solidFill>
                      <a:srgbClr val="FFFFFF"/>
                    </a:solidFill>
                  </a:tcPr>
                </a:tc>
                <a:tc>
                  <a:txBody>
                    <a:bodyPr/>
                    <a:lstStyle/>
                    <a:p>
                      <a:pPr algn="l"/>
                      <a:r>
                        <a:rPr sz="1200" b="0">
                          <a:solidFill>
                            <a:srgbClr val="333333"/>
                          </a:solidFill>
                        </a:rPr>
                        <a:t>ERA, UEDCL, MEMD</a:t>
                      </a:r>
                    </a:p>
                  </a:txBody>
                  <a:tcPr>
                    <a:solidFill>
                      <a:srgbClr val="FFFFFF"/>
                    </a:solidFill>
                  </a:tcPr>
                </a:tc>
                <a:tc>
                  <a:txBody>
                    <a:bodyPr/>
                    <a:lstStyle/>
                    <a:p>
                      <a:pPr algn="l"/>
                      <a:r>
                        <a:rPr sz="1200" b="0">
                          <a:solidFill>
                            <a:srgbClr val="333333"/>
                          </a:solidFill>
                        </a:rPr>
                        <a:t>Medium</a:t>
                      </a:r>
                    </a:p>
                  </a:txBody>
                  <a:tcPr>
                    <a:solidFill>
                      <a:srgbClr val="FFFFFF"/>
                    </a:solidFill>
                  </a:tcPr>
                </a:tc>
              </a:tr>
              <a:tr h="674370">
                <a:tc>
                  <a:txBody>
                    <a:bodyPr/>
                    <a:lstStyle/>
                    <a:p>
                      <a:pPr algn="l"/>
                      <a:r>
                        <a:rPr sz="1200" b="0">
                          <a:solidFill>
                            <a:srgbClr val="333333"/>
                          </a:solidFill>
                        </a:rPr>
                        <a:t>Reform (1–3y)</a:t>
                      </a:r>
                    </a:p>
                  </a:txBody>
                  <a:tcPr>
                    <a:solidFill>
                      <a:srgbClr val="D6E8F7"/>
                    </a:solidFill>
                  </a:tcPr>
                </a:tc>
                <a:tc>
                  <a:txBody>
                    <a:bodyPr/>
                    <a:lstStyle/>
                    <a:p>
                      <a:pPr algn="l"/>
                      <a:r>
                        <a:rPr sz="1200" b="0">
                          <a:solidFill>
                            <a:srgbClr val="333333"/>
                          </a:solidFill>
                        </a:rPr>
                        <a:t>Skills programme in metallurgy/process engineering with UIRI, Makerere, TVET</a:t>
                      </a:r>
                    </a:p>
                  </a:txBody>
                  <a:tcPr>
                    <a:solidFill>
                      <a:srgbClr val="D6E8F7"/>
                    </a:solidFill>
                  </a:tcPr>
                </a:tc>
                <a:tc>
                  <a:txBody>
                    <a:bodyPr/>
                    <a:lstStyle/>
                    <a:p>
                      <a:pPr algn="l"/>
                      <a:r>
                        <a:rPr sz="1200" b="0">
                          <a:solidFill>
                            <a:srgbClr val="333333"/>
                          </a:solidFill>
                        </a:rPr>
                        <a:t>MoES, UIRI</a:t>
                      </a:r>
                    </a:p>
                  </a:txBody>
                  <a:tcPr>
                    <a:solidFill>
                      <a:srgbClr val="D6E8F7"/>
                    </a:solidFill>
                  </a:tcPr>
                </a:tc>
                <a:tc>
                  <a:txBody>
                    <a:bodyPr/>
                    <a:lstStyle/>
                    <a:p>
                      <a:pPr algn="l"/>
                      <a:r>
                        <a:rPr sz="1200" b="0">
                          <a:solidFill>
                            <a:srgbClr val="333333"/>
                          </a:solidFill>
                        </a:rPr>
                        <a:t>Medium</a:t>
                      </a:r>
                    </a:p>
                  </a:txBody>
                  <a:tcPr>
                    <a:solidFill>
                      <a:srgbClr val="D6E8F7"/>
                    </a:solidFill>
                  </a:tcPr>
                </a:tc>
              </a:tr>
              <a:tr h="674370">
                <a:tc>
                  <a:txBody>
                    <a:bodyPr/>
                    <a:lstStyle/>
                    <a:p>
                      <a:pPr algn="l"/>
                      <a:r>
                        <a:rPr sz="1200" b="0">
                          <a:solidFill>
                            <a:srgbClr val="333333"/>
                          </a:solidFill>
                        </a:rPr>
                        <a:t>**Investment (3–5y)**</a:t>
                      </a:r>
                    </a:p>
                  </a:txBody>
                  <a:tcPr>
                    <a:solidFill>
                      <a:srgbClr val="FFFFFF"/>
                    </a:solidFill>
                  </a:tcPr>
                </a:tc>
                <a:tc>
                  <a:txBody>
                    <a:bodyPr/>
                    <a:lstStyle/>
                    <a:p>
                      <a:pPr algn="l"/>
                      <a:r>
                        <a:rPr sz="1200" b="0">
                          <a:solidFill>
                            <a:srgbClr val="333333"/>
                          </a:solidFill>
                        </a:rPr>
                        <a:t>Integrated ore→DRI→steel→flat-rolling capacity (e.g. Devki complex; Tembo expansion)</a:t>
                      </a:r>
                    </a:p>
                  </a:txBody>
                  <a:tcPr>
                    <a:solidFill>
                      <a:srgbClr val="FFFFFF"/>
                    </a:solidFill>
                  </a:tcPr>
                </a:tc>
                <a:tc>
                  <a:txBody>
                    <a:bodyPr/>
                    <a:lstStyle/>
                    <a:p>
                      <a:pPr algn="l"/>
                      <a:r>
                        <a:rPr sz="1200" b="0">
                          <a:solidFill>
                            <a:srgbClr val="333333"/>
                          </a:solidFill>
                        </a:rPr>
                        <a:t>Private-led + PPP</a:t>
                      </a:r>
                    </a:p>
                  </a:txBody>
                  <a:tcPr>
                    <a:solidFill>
                      <a:srgbClr val="FFFFFF"/>
                    </a:solidFill>
                  </a:tcPr>
                </a:tc>
                <a:tc>
                  <a:txBody>
                    <a:bodyPr/>
                    <a:lstStyle/>
                    <a:p>
                      <a:pPr algn="l"/>
                      <a:r>
                        <a:rPr sz="1200" b="0">
                          <a:solidFill>
                            <a:srgbClr val="333333"/>
                          </a:solidFill>
                        </a:rPr>
                        <a:t>Indicative USD 0.5–1.0bn (see Ch.8)</a:t>
                      </a:r>
                    </a:p>
                  </a:txBody>
                  <a:tcPr>
                    <a:solidFill>
                      <a:srgbClr val="FFFFFF"/>
                    </a:solidFill>
                  </a:tcPr>
                </a:tc>
              </a:tr>
              <a:tr h="674370">
                <a:tc>
                  <a:txBody>
                    <a:bodyPr/>
                    <a:lstStyle/>
                    <a:p>
                      <a:pPr algn="l"/>
                      <a:r>
                        <a:rPr sz="1200" b="0">
                          <a:solidFill>
                            <a:srgbClr val="333333"/>
                          </a:solidFill>
                        </a:rPr>
                        <a:t>Investment (3–5y)</a:t>
                      </a:r>
                    </a:p>
                  </a:txBody>
                  <a:tcPr>
                    <a:solidFill>
                      <a:srgbClr val="D6E8F7"/>
                    </a:solidFill>
                  </a:tcPr>
                </a:tc>
                <a:tc>
                  <a:txBody>
                    <a:bodyPr/>
                    <a:lstStyle/>
                    <a:p>
                      <a:pPr algn="l"/>
                      <a:r>
                        <a:rPr sz="1200" b="0">
                          <a:solidFill>
                            <a:srgbClr val="333333"/>
                          </a:solidFill>
                        </a:rPr>
                        <a:t>Flat-rolling mill to substitute HS 7208 imports</a:t>
                      </a:r>
                    </a:p>
                  </a:txBody>
                  <a:tcPr>
                    <a:solidFill>
                      <a:srgbClr val="D6E8F7"/>
                    </a:solidFill>
                  </a:tcPr>
                </a:tc>
                <a:tc>
                  <a:txBody>
                    <a:bodyPr/>
                    <a:lstStyle/>
                    <a:p>
                      <a:pPr algn="l"/>
                      <a:r>
                        <a:rPr sz="1200" b="0">
                          <a:solidFill>
                            <a:srgbClr val="333333"/>
                          </a:solidFill>
                        </a:rPr>
                        <a:t>Private-led</a:t>
                      </a:r>
                    </a:p>
                  </a:txBody>
                  <a:tcPr>
                    <a:solidFill>
                      <a:srgbClr val="D6E8F7"/>
                    </a:solidFill>
                  </a:tcPr>
                </a:tc>
                <a:tc>
                  <a:txBody>
                    <a:bodyPr/>
                    <a:lstStyle/>
                    <a:p>
                      <a:pPr algn="l"/>
                      <a:r>
                        <a:rPr sz="1200" b="0">
                          <a:solidFill>
                            <a:srgbClr val="333333"/>
                          </a:solidFill>
                        </a:rPr>
                        <a:t>Indicative (see Ch.8)</a:t>
                      </a:r>
                    </a:p>
                  </a:txBody>
                  <a:tcPr>
                    <a:solidFill>
                      <a:srgbClr val="D6E8F7"/>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NPA/UDC, Report on the Mapping and Value Chain Analysis for Uganda's Iron and Steel Industry (June 2025). [Repository: data/ — provided by MTIC]</a:t>
            </a:r>
          </a:p>
          <a:p>
            <a:pPr/>
            <a:r>
              <a:rPr sz="1600" b="0">
                <a:solidFill>
                  <a:srgbClr val="333333"/>
                </a:solidFill>
              </a:rPr>
              <a:t>•  ITC TradeMap, trade statistics — HS 7208, 7213, 7214, 7207, 7204, 2601, Uganda, 2024. https://www.trademap.org</a:t>
            </a:r>
          </a:p>
          <a:p>
            <a:pPr/>
            <a:r>
              <a:rPr sz="1600" b="0">
                <a:solidFill>
                  <a:srgbClr val="333333"/>
                </a:solidFill>
              </a:rPr>
              <a:t>•  State House Uganda, "President Museveni commissions new Tembo Steels plant in Iganga" (2025). https://statehouse.go.ug/</a:t>
            </a:r>
          </a:p>
          <a:p>
            <a:pPr/>
            <a:r>
              <a:rPr sz="1600" b="0">
                <a:solidFill>
                  <a:srgbClr val="333333"/>
                </a:solidFill>
              </a:rPr>
              <a:t>•  GMK Center, "A steel plant will be built in Uganda with investments of $500 million" (2025). https://gmk.center/en/news/a-steel-plant-will-be-built-in-uganda-with-investments-of-500-million/</a:t>
            </a:r>
          </a:p>
          <a:p>
            <a:pPr/>
            <a:r>
              <a:rPr sz="1600" b="0">
                <a:solidFill>
                  <a:srgbClr val="333333"/>
                </a:solidFill>
              </a:rPr>
              <a:t>•  The Independent, "Devki Group bets $500m on Uganda steel production" (2025). https://www.independent.co.ug/devki-group-bets-500m-on-uganda-steel-production/</a:t>
            </a:r>
          </a:p>
          <a:p>
            <a:pPr/>
            <a:r>
              <a:rPr sz="1600" b="0">
                <a:solidFill>
                  <a:srgbClr val="333333"/>
                </a:solidFill>
              </a:rPr>
              <a:t>•  Uganda Development Bank, "Steel and Tube Industries Ltd" (project profile). https://www.udbl.co.ug/project/steel-and-tube-industries-ltd/</a:t>
            </a:r>
          </a:p>
          <a:p>
            <a:pPr/>
            <a:r>
              <a:rPr sz="1600" b="0">
                <a:solidFill>
                  <a:srgbClr val="333333"/>
                </a:solidFill>
              </a:rPr>
              <a:t>•  African Business, "Construction boom drives growth for Uganda steel manufacturer" (2021). https://african.business/2021/07/energy-resources/construction-boom-drives-growth-for-uganda-steel-manufacturer</a:t>
            </a:r>
          </a:p>
          <a:p>
            <a:pPr/>
            <a:r>
              <a:rPr sz="1600" b="0">
                <a:solidFill>
                  <a:srgbClr val="333333"/>
                </a:solidFill>
              </a:rPr>
              <a:t>•  World Steel Association, World Steel in Figures 2025. https://worldsteel.org/data/world-steel-in-figures/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Electricity Regulatory Authority, end-user tariffs 2025. https://www.era.go.ug/</a:t>
            </a:r>
          </a:p>
          <a:p>
            <a:pPr/>
            <a:r>
              <a:rPr sz="1600" b="0">
                <a:solidFill>
                  <a:srgbClr val="333333"/>
                </a:solidFill>
              </a:rPr>
              <a:t>•  NEMA, Effluent Discharge Regulations 2020. https://www.nema.go.ug/</a:t>
            </a:r>
          </a:p>
          <a:p>
            <a:pPr/>
            <a:r>
              <a:rPr sz="1600" b="0">
                <a:solidFill>
                  <a:srgbClr val="333333"/>
                </a:solidFill>
              </a:rPr>
              <a:t>•  KPMG, Uganda Budget Brief 2025/26. https://assets.kpmg.com/</a:t>
            </a:r>
          </a:p>
          <a:p>
            <a:pPr/>
            <a:r>
              <a:rPr sz="1600" b="0">
                <a:solidFill>
                  <a:srgbClr val="333333"/>
                </a:solidFill>
              </a:rPr>
              <a:t>•  East African Community, market and trade data (2025). https://www.eac.int/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5</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5: Copper &amp; Allied Metals Value Chain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770708">
                <a:tc>
                  <a:txBody>
                    <a:bodyPr/>
                    <a:lstStyle/>
                    <a:p>
                      <a:pPr algn="l"/>
                      <a:r>
                        <a:rPr sz="1300" b="1">
                          <a:solidFill>
                            <a:srgbClr val="FFFFFF"/>
                          </a:solidFill>
                        </a:rPr>
                        <a:t>Phase</a:t>
                      </a:r>
                    </a:p>
                  </a:txBody>
                  <a:tcPr>
                    <a:solidFill>
                      <a:srgbClr val="002B5B"/>
                    </a:solidFill>
                  </a:tcPr>
                </a:tc>
                <a:tc>
                  <a:txBody>
                    <a:bodyPr/>
                    <a:lstStyle/>
                    <a:p>
                      <a:pPr algn="l"/>
                      <a:r>
                        <a:rPr sz="1300" b="1">
                          <a:solidFill>
                            <a:srgbClr val="FFFFFF"/>
                          </a:solidFill>
                        </a:rPr>
                        <a:t>Activity</a:t>
                      </a:r>
                    </a:p>
                  </a:txBody>
                  <a:tcPr>
                    <a:solidFill>
                      <a:srgbClr val="002B5B"/>
                    </a:solidFill>
                  </a:tcPr>
                </a:tc>
                <a:tc>
                  <a:txBody>
                    <a:bodyPr/>
                    <a:lstStyle/>
                    <a:p>
                      <a:pPr algn="l"/>
                      <a:r>
                        <a:rPr sz="1300" b="1">
                          <a:solidFill>
                            <a:srgbClr val="FFFFFF"/>
                          </a:solidFill>
                        </a:rPr>
                        <a:t>Main inputs</a:t>
                      </a:r>
                    </a:p>
                  </a:txBody>
                  <a:tcPr>
                    <a:solidFill>
                      <a:srgbClr val="002B5B"/>
                    </a:solidFill>
                  </a:tcPr>
                </a:tc>
                <a:tc>
                  <a:txBody>
                    <a:bodyPr/>
                    <a:lstStyle/>
                    <a:p>
                      <a:pPr algn="l"/>
                      <a:r>
                        <a:rPr sz="1300" b="1">
                          <a:solidFill>
                            <a:srgbClr val="FFFFFF"/>
                          </a:solidFill>
                        </a:rPr>
                        <a:t>Output</a:t>
                      </a:r>
                    </a:p>
                  </a:txBody>
                  <a:tcPr>
                    <a:solidFill>
                      <a:srgbClr val="002B5B"/>
                    </a:solidFill>
                  </a:tcPr>
                </a:tc>
              </a:tr>
              <a:tr h="770708">
                <a:tc>
                  <a:txBody>
                    <a:bodyPr/>
                    <a:lstStyle/>
                    <a:p>
                      <a:pPr algn="l"/>
                      <a:r>
                        <a:rPr sz="1200" b="0">
                          <a:solidFill>
                            <a:srgbClr val="333333"/>
                          </a:solidFill>
                        </a:rPr>
                        <a:t>I</a:t>
                      </a:r>
                    </a:p>
                  </a:txBody>
                  <a:tcPr>
                    <a:solidFill>
                      <a:srgbClr val="D6E8F7"/>
                    </a:solidFill>
                  </a:tcPr>
                </a:tc>
                <a:tc>
                  <a:txBody>
                    <a:bodyPr/>
                    <a:lstStyle/>
                    <a:p>
                      <a:pPr algn="l"/>
                      <a:r>
                        <a:rPr sz="1200" b="0">
                          <a:solidFill>
                            <a:srgbClr val="333333"/>
                          </a:solidFill>
                        </a:rPr>
                        <a:t>Mining &amp; concentration</a:t>
                      </a:r>
                    </a:p>
                  </a:txBody>
                  <a:tcPr>
                    <a:solidFill>
                      <a:srgbClr val="D6E8F7"/>
                    </a:solidFill>
                  </a:tcPr>
                </a:tc>
                <a:tc>
                  <a:txBody>
                    <a:bodyPr/>
                    <a:lstStyle/>
                    <a:p>
                      <a:pPr algn="l"/>
                      <a:r>
                        <a:rPr sz="1200" b="0">
                          <a:solidFill>
                            <a:srgbClr val="333333"/>
                          </a:solidFill>
                        </a:rPr>
                        <a:t>Copper ore (+ cobalt)</a:t>
                      </a:r>
                    </a:p>
                  </a:txBody>
                  <a:tcPr>
                    <a:solidFill>
                      <a:srgbClr val="D6E8F7"/>
                    </a:solidFill>
                  </a:tcPr>
                </a:tc>
                <a:tc>
                  <a:txBody>
                    <a:bodyPr/>
                    <a:lstStyle/>
                    <a:p>
                      <a:pPr algn="l"/>
                      <a:r>
                        <a:rPr sz="1200" b="0">
                          <a:solidFill>
                            <a:srgbClr val="333333"/>
                          </a:solidFill>
                        </a:rPr>
                        <a:t>Copper concentrate</a:t>
                      </a:r>
                    </a:p>
                  </a:txBody>
                  <a:tcPr>
                    <a:solidFill>
                      <a:srgbClr val="D6E8F7"/>
                    </a:solidFill>
                  </a:tcPr>
                </a:tc>
              </a:tr>
              <a:tr h="770708">
                <a:tc>
                  <a:txBody>
                    <a:bodyPr/>
                    <a:lstStyle/>
                    <a:p>
                      <a:pPr algn="l"/>
                      <a:r>
                        <a:rPr sz="1200" b="0">
                          <a:solidFill>
                            <a:srgbClr val="333333"/>
                          </a:solidFill>
                        </a:rPr>
                        <a:t>II</a:t>
                      </a:r>
                    </a:p>
                  </a:txBody>
                  <a:tcPr>
                    <a:solidFill>
                      <a:srgbClr val="FFFFFF"/>
                    </a:solidFill>
                  </a:tcPr>
                </a:tc>
                <a:tc>
                  <a:txBody>
                    <a:bodyPr/>
                    <a:lstStyle/>
                    <a:p>
                      <a:pPr algn="l"/>
                      <a:r>
                        <a:rPr sz="1200" b="0">
                          <a:solidFill>
                            <a:srgbClr val="333333"/>
                          </a:solidFill>
                        </a:rPr>
                        <a:t>Smelting</a:t>
                      </a:r>
                    </a:p>
                  </a:txBody>
                  <a:tcPr>
                    <a:solidFill>
                      <a:srgbClr val="FFFFFF"/>
                    </a:solidFill>
                  </a:tcPr>
                </a:tc>
                <a:tc>
                  <a:txBody>
                    <a:bodyPr/>
                    <a:lstStyle/>
                    <a:p>
                      <a:pPr algn="l"/>
                      <a:r>
                        <a:rPr sz="1200" b="0">
                          <a:solidFill>
                            <a:srgbClr val="333333"/>
                          </a:solidFill>
                        </a:rPr>
                        <a:t>Concentrate</a:t>
                      </a:r>
                    </a:p>
                  </a:txBody>
                  <a:tcPr>
                    <a:solidFill>
                      <a:srgbClr val="FFFFFF"/>
                    </a:solidFill>
                  </a:tcPr>
                </a:tc>
                <a:tc>
                  <a:txBody>
                    <a:bodyPr/>
                    <a:lstStyle/>
                    <a:p>
                      <a:pPr algn="l"/>
                      <a:r>
                        <a:rPr sz="1200" b="0">
                          <a:solidFill>
                            <a:srgbClr val="333333"/>
                          </a:solidFill>
                        </a:rPr>
                        <a:t>Blister/anode copper</a:t>
                      </a:r>
                    </a:p>
                  </a:txBody>
                  <a:tcPr>
                    <a:solidFill>
                      <a:srgbClr val="FFFFFF"/>
                    </a:solidFill>
                  </a:tcPr>
                </a:tc>
              </a:tr>
              <a:tr h="770708">
                <a:tc>
                  <a:txBody>
                    <a:bodyPr/>
                    <a:lstStyle/>
                    <a:p>
                      <a:pPr algn="l"/>
                      <a:r>
                        <a:rPr sz="1200" b="0">
                          <a:solidFill>
                            <a:srgbClr val="333333"/>
                          </a:solidFill>
                        </a:rPr>
                        <a:t>III</a:t>
                      </a:r>
                    </a:p>
                  </a:txBody>
                  <a:tcPr>
                    <a:solidFill>
                      <a:srgbClr val="D6E8F7"/>
                    </a:solidFill>
                  </a:tcPr>
                </a:tc>
                <a:tc>
                  <a:txBody>
                    <a:bodyPr/>
                    <a:lstStyle/>
                    <a:p>
                      <a:pPr algn="l"/>
                      <a:r>
                        <a:rPr sz="1200" b="0">
                          <a:solidFill>
                            <a:srgbClr val="333333"/>
                          </a:solidFill>
                        </a:rPr>
                        <a:t>Refining</a:t>
                      </a:r>
                    </a:p>
                  </a:txBody>
                  <a:tcPr>
                    <a:solidFill>
                      <a:srgbClr val="D6E8F7"/>
                    </a:solidFill>
                  </a:tcPr>
                </a:tc>
                <a:tc>
                  <a:txBody>
                    <a:bodyPr/>
                    <a:lstStyle/>
                    <a:p>
                      <a:pPr algn="l"/>
                      <a:r>
                        <a:rPr sz="1200" b="0">
                          <a:solidFill>
                            <a:srgbClr val="333333"/>
                          </a:solidFill>
                        </a:rPr>
                        <a:t>Blister copper</a:t>
                      </a:r>
                    </a:p>
                  </a:txBody>
                  <a:tcPr>
                    <a:solidFill>
                      <a:srgbClr val="D6E8F7"/>
                    </a:solidFill>
                  </a:tcPr>
                </a:tc>
                <a:tc>
                  <a:txBody>
                    <a:bodyPr/>
                    <a:lstStyle/>
                    <a:p>
                      <a:pPr algn="l"/>
                      <a:r>
                        <a:rPr sz="1200" b="0">
                          <a:solidFill>
                            <a:srgbClr val="333333"/>
                          </a:solidFill>
                        </a:rPr>
                        <a:t>Refined cathode (HS 7403)</a:t>
                      </a:r>
                    </a:p>
                  </a:txBody>
                  <a:tcPr>
                    <a:solidFill>
                      <a:srgbClr val="D6E8F7"/>
                    </a:solidFill>
                  </a:tcPr>
                </a:tc>
              </a:tr>
              <a:tr h="770708">
                <a:tc>
                  <a:txBody>
                    <a:bodyPr/>
                    <a:lstStyle/>
                    <a:p>
                      <a:pPr algn="l"/>
                      <a:r>
                        <a:rPr sz="1200" b="0">
                          <a:solidFill>
                            <a:srgbClr val="333333"/>
                          </a:solidFill>
                        </a:rPr>
                        <a:t>IV</a:t>
                      </a:r>
                    </a:p>
                  </a:txBody>
                  <a:tcPr>
                    <a:solidFill>
                      <a:srgbClr val="FFFFFF"/>
                    </a:solidFill>
                  </a:tcPr>
                </a:tc>
                <a:tc>
                  <a:txBody>
                    <a:bodyPr/>
                    <a:lstStyle/>
                    <a:p>
                      <a:pPr algn="l"/>
                      <a:r>
                        <a:rPr sz="1200" b="0">
                          <a:solidFill>
                            <a:srgbClr val="333333"/>
                          </a:solidFill>
                        </a:rPr>
                        <a:t>Semi-fabrication</a:t>
                      </a:r>
                    </a:p>
                  </a:txBody>
                  <a:tcPr>
                    <a:solidFill>
                      <a:srgbClr val="FFFFFF"/>
                    </a:solidFill>
                  </a:tcPr>
                </a:tc>
                <a:tc>
                  <a:txBody>
                    <a:bodyPr/>
                    <a:lstStyle/>
                    <a:p>
                      <a:pPr algn="l"/>
                      <a:r>
                        <a:rPr sz="1200" b="0">
                          <a:solidFill>
                            <a:srgbClr val="333333"/>
                          </a:solidFill>
                        </a:rPr>
                        <a:t>Cathode</a:t>
                      </a:r>
                    </a:p>
                  </a:txBody>
                  <a:tcPr>
                    <a:solidFill>
                      <a:srgbClr val="FFFFFF"/>
                    </a:solidFill>
                  </a:tcPr>
                </a:tc>
                <a:tc>
                  <a:txBody>
                    <a:bodyPr/>
                    <a:lstStyle/>
                    <a:p>
                      <a:pPr algn="l"/>
                      <a:r>
                        <a:rPr sz="1200" b="0">
                          <a:solidFill>
                            <a:srgbClr val="333333"/>
                          </a:solidFill>
                        </a:rPr>
                        <a:t>Wire rod, bars, profiles (HS 7407/7408)</a:t>
                      </a:r>
                    </a:p>
                  </a:txBody>
                  <a:tcPr>
                    <a:solidFill>
                      <a:srgbClr val="FFFFFF"/>
                    </a:solidFill>
                  </a:tcPr>
                </a:tc>
              </a:tr>
              <a:tr h="770708">
                <a:tc>
                  <a:txBody>
                    <a:bodyPr/>
                    <a:lstStyle/>
                    <a:p>
                      <a:pPr algn="l"/>
                      <a:r>
                        <a:rPr sz="1200" b="0">
                          <a:solidFill>
                            <a:srgbClr val="333333"/>
                          </a:solidFill>
                        </a:rPr>
                        <a:t>V</a:t>
                      </a:r>
                    </a:p>
                  </a:txBody>
                  <a:tcPr>
                    <a:solidFill>
                      <a:srgbClr val="D6E8F7"/>
                    </a:solidFill>
                  </a:tcPr>
                </a:tc>
                <a:tc>
                  <a:txBody>
                    <a:bodyPr/>
                    <a:lstStyle/>
                    <a:p>
                      <a:pPr algn="l"/>
                      <a:r>
                        <a:rPr sz="1200" b="0">
                          <a:solidFill>
                            <a:srgbClr val="333333"/>
                          </a:solidFill>
                        </a:rPr>
                        <a:t>Fabrication</a:t>
                      </a:r>
                    </a:p>
                  </a:txBody>
                  <a:tcPr>
                    <a:solidFill>
                      <a:srgbClr val="D6E8F7"/>
                    </a:solidFill>
                  </a:tcPr>
                </a:tc>
                <a:tc>
                  <a:txBody>
                    <a:bodyPr/>
                    <a:lstStyle/>
                    <a:p>
                      <a:pPr algn="l"/>
                      <a:r>
                        <a:rPr sz="1200" b="0">
                          <a:solidFill>
                            <a:srgbClr val="333333"/>
                          </a:solidFill>
                        </a:rPr>
                        <a:t>Wire rod / cathode</a:t>
                      </a:r>
                    </a:p>
                  </a:txBody>
                  <a:tcPr>
                    <a:solidFill>
                      <a:srgbClr val="D6E8F7"/>
                    </a:solidFill>
                  </a:tcPr>
                </a:tc>
                <a:tc>
                  <a:txBody>
                    <a:bodyPr/>
                    <a:lstStyle/>
                    <a:p>
                      <a:pPr algn="l"/>
                      <a:r>
                        <a:rPr sz="1200" b="0">
                          <a:solidFill>
                            <a:srgbClr val="333333"/>
                          </a:solidFill>
                        </a:rPr>
                        <a:t>Insulated wire &amp; cable, brass/alloy goods (HS 8544/7409–7419)</a:t>
                      </a:r>
                    </a:p>
                  </a:txBody>
                  <a:tcPr>
                    <a:solidFill>
                      <a:srgbClr val="D6E8F7"/>
                    </a:solidFill>
                  </a:tcPr>
                </a:tc>
              </a:tr>
              <a:tr h="770712">
                <a:tc>
                  <a:txBody>
                    <a:bodyPr/>
                    <a:lstStyle/>
                    <a:p>
                      <a:pPr algn="l"/>
                      <a:r>
                        <a:rPr sz="1200" b="0">
                          <a:solidFill>
                            <a:srgbClr val="333333"/>
                          </a:solidFill>
                        </a:rPr>
                        <a:t>VI</a:t>
                      </a:r>
                    </a:p>
                  </a:txBody>
                  <a:tcPr>
                    <a:solidFill>
                      <a:srgbClr val="FFFFFF"/>
                    </a:solidFill>
                  </a:tcPr>
                </a:tc>
                <a:tc>
                  <a:txBody>
                    <a:bodyPr/>
                    <a:lstStyle/>
                    <a:p>
                      <a:pPr algn="l"/>
                      <a:r>
                        <a:rPr sz="1200" b="0">
                          <a:solidFill>
                            <a:srgbClr val="333333"/>
                          </a:solidFill>
                        </a:rPr>
                        <a:t>Market</a:t>
                      </a:r>
                    </a:p>
                  </a:txBody>
                  <a:tcPr>
                    <a:solidFill>
                      <a:srgbClr val="FFFFFF"/>
                    </a:solidFill>
                  </a:tcPr>
                </a:tc>
                <a:tc>
                  <a:txBody>
                    <a:bodyPr/>
                    <a:lstStyle/>
                    <a:p>
                      <a:pPr algn="l"/>
                      <a:r>
                        <a:rPr sz="1200" b="0">
                          <a:solidFill>
                            <a:srgbClr val="333333"/>
                          </a:solidFill>
                        </a:rPr>
                        <a:t>Finished products</a:t>
                      </a:r>
                    </a:p>
                  </a:txBody>
                  <a:tcPr>
                    <a:solidFill>
                      <a:srgbClr val="FFFFFF"/>
                    </a:solidFill>
                  </a:tcPr>
                </a:tc>
                <a:tc>
                  <a:txBody>
                    <a:bodyPr/>
                    <a:lstStyle/>
                    <a:p>
                      <a:pPr algn="l"/>
                      <a:r>
                        <a:rPr sz="1200" b="0">
                          <a:solidFill>
                            <a:srgbClr val="333333"/>
                          </a:solidFill>
                        </a:rPr>
                        <a:t>Domestic &amp; regional sales</a:t>
                      </a:r>
                    </a:p>
                  </a:txBody>
                  <a:tcPr>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copper value chain runs from ore through refined metal to fabricated products. Uganda's position is unusual and instructive: it has a historic resource base and an established downstream cable-manufacturing industry, but almost no operating midstream (mining, smelting, refining) at present.</a:t>
            </a:r>
          </a:p>
          <a:p>
            <a:pPr/>
            <a:r>
              <a:rPr sz="1600" b="0">
                <a:solidFill>
                  <a:srgbClr val="333333"/>
                </a:solidFill>
              </a:rPr>
              <a:t>•  Where value is captured and lost. The Kilembe mine (Phase I–III) has been dormant for decades, so Uganda's cable industry (Phase IV–V) runs on imported copper rod and cathode, while the country imports the bulk of its insulated wire and cable as finished goods. The trade data quantifies this: Uganda imported USD 57.7 million of insulated wire and cable (HS 8544) in 2024 — its single largest copper-related import line and rising fast (from USD 48.3m in 2023) — alongside USD 6.9m of refined copper/cathode (HS 7403) and USD 3.1m of copper wire (HS 7408) (ITC TradeMap, 2024). The midstream gap means almost all upstream value is forgone.</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4062984"/>
                <a:gridCol w="4062984"/>
                <a:gridCol w="4062984"/>
              </a:tblGrid>
              <a:tr h="1348740">
                <a:tc>
                  <a:txBody>
                    <a:bodyPr/>
                    <a:lstStyle/>
                    <a:p>
                      <a:pPr algn="l"/>
                      <a:r>
                        <a:rPr sz="1300" b="1">
                          <a:solidFill>
                            <a:srgbClr val="FFFFFF"/>
                          </a:solidFill>
                        </a:rPr>
                        <a:t>Segment (HS)</a:t>
                      </a:r>
                    </a:p>
                  </a:txBody>
                  <a:tcPr>
                    <a:solidFill>
                      <a:srgbClr val="002B5B"/>
                    </a:solidFill>
                  </a:tcPr>
                </a:tc>
                <a:tc>
                  <a:txBody>
                    <a:bodyPr/>
                    <a:lstStyle/>
                    <a:p>
                      <a:pPr algn="l"/>
                      <a:r>
                        <a:rPr sz="1300" b="1">
                          <a:solidFill>
                            <a:srgbClr val="FFFFFF"/>
                          </a:solidFill>
                        </a:rPr>
                        <a:t>Imports 2024</a:t>
                      </a:r>
                    </a:p>
                  </a:txBody>
                  <a:tcPr>
                    <a:solidFill>
                      <a:srgbClr val="002B5B"/>
                    </a:solidFill>
                  </a:tcPr>
                </a:tc>
                <a:tc>
                  <a:txBody>
                    <a:bodyPr/>
                    <a:lstStyle/>
                    <a:p>
                      <a:pPr algn="l"/>
                      <a:r>
                        <a:rPr sz="1300" b="1">
                          <a:solidFill>
                            <a:srgbClr val="FFFFFF"/>
                          </a:solidFill>
                        </a:rPr>
                        <a:t>Reading</a:t>
                      </a:r>
                    </a:p>
                  </a:txBody>
                  <a:tcPr>
                    <a:solidFill>
                      <a:srgbClr val="002B5B"/>
                    </a:solidFill>
                  </a:tcPr>
                </a:tc>
              </a:tr>
              <a:tr h="1348740">
                <a:tc>
                  <a:txBody>
                    <a:bodyPr/>
                    <a:lstStyle/>
                    <a:p>
                      <a:pPr algn="l"/>
                      <a:r>
                        <a:rPr sz="1200" b="0">
                          <a:solidFill>
                            <a:srgbClr val="333333"/>
                          </a:solidFill>
                        </a:rPr>
                        <a:t>Insulated wire &amp; cable (8544)</a:t>
                      </a:r>
                    </a:p>
                  </a:txBody>
                  <a:tcPr>
                    <a:solidFill>
                      <a:srgbClr val="D6E8F7"/>
                    </a:solidFill>
                  </a:tcPr>
                </a:tc>
                <a:tc>
                  <a:txBody>
                    <a:bodyPr/>
                    <a:lstStyle/>
                    <a:p>
                      <a:pPr algn="l"/>
                      <a:r>
                        <a:rPr sz="1200" b="0">
                          <a:solidFill>
                            <a:srgbClr val="333333"/>
                          </a:solidFill>
                        </a:rPr>
                        <a:t>**USD 57.7m** (China, India)</a:t>
                      </a:r>
                    </a:p>
                  </a:txBody>
                  <a:tcPr>
                    <a:solidFill>
                      <a:srgbClr val="D6E8F7"/>
                    </a:solidFill>
                  </a:tcPr>
                </a:tc>
                <a:tc>
                  <a:txBody>
                    <a:bodyPr/>
                    <a:lstStyle/>
                    <a:p>
                      <a:pPr algn="l"/>
                      <a:r>
                        <a:rPr sz="1200" b="0">
                          <a:solidFill>
                            <a:srgbClr val="333333"/>
                          </a:solidFill>
                        </a:rPr>
                        <a:t>Largest line; finished-goods import dependence</a:t>
                      </a:r>
                    </a:p>
                  </a:txBody>
                  <a:tcPr>
                    <a:solidFill>
                      <a:srgbClr val="D6E8F7"/>
                    </a:solidFill>
                  </a:tcPr>
                </a:tc>
              </a:tr>
              <a:tr h="1348740">
                <a:tc>
                  <a:txBody>
                    <a:bodyPr/>
                    <a:lstStyle/>
                    <a:p>
                      <a:pPr algn="l"/>
                      <a:r>
                        <a:rPr sz="1200" b="0">
                          <a:solidFill>
                            <a:srgbClr val="333333"/>
                          </a:solidFill>
                        </a:rPr>
                        <a:t>Refined copper / cathode (7403)</a:t>
                      </a:r>
                    </a:p>
                  </a:txBody>
                  <a:tcPr>
                    <a:solidFill>
                      <a:srgbClr val="FFFFFF"/>
                    </a:solidFill>
                  </a:tcPr>
                </a:tc>
                <a:tc>
                  <a:txBody>
                    <a:bodyPr/>
                    <a:lstStyle/>
                    <a:p>
                      <a:pPr algn="l"/>
                      <a:r>
                        <a:rPr sz="1200" b="0">
                          <a:solidFill>
                            <a:srgbClr val="333333"/>
                          </a:solidFill>
                        </a:rPr>
                        <a:t>USD 6.9m (DRC, China)</a:t>
                      </a:r>
                    </a:p>
                  </a:txBody>
                  <a:tcPr>
                    <a:solidFill>
                      <a:srgbClr val="FFFFFF"/>
                    </a:solidFill>
                  </a:tcPr>
                </a:tc>
                <a:tc>
                  <a:txBody>
                    <a:bodyPr/>
                    <a:lstStyle/>
                    <a:p>
                      <a:pPr algn="l"/>
                      <a:r>
                        <a:rPr sz="1200" b="0">
                          <a:solidFill>
                            <a:srgbClr val="333333"/>
                          </a:solidFill>
                        </a:rPr>
                        <a:t>Imported feedstock for fabrication</a:t>
                      </a:r>
                    </a:p>
                  </a:txBody>
                  <a:tcPr>
                    <a:solidFill>
                      <a:srgbClr val="FFFFFF"/>
                    </a:solidFill>
                  </a:tcPr>
                </a:tc>
              </a:tr>
              <a:tr h="1348740">
                <a:tc>
                  <a:txBody>
                    <a:bodyPr/>
                    <a:lstStyle/>
                    <a:p>
                      <a:pPr algn="l"/>
                      <a:r>
                        <a:rPr sz="1200" b="0">
                          <a:solidFill>
                            <a:srgbClr val="333333"/>
                          </a:solidFill>
                        </a:rPr>
                        <a:t>Copper wire (7408)</a:t>
                      </a:r>
                    </a:p>
                  </a:txBody>
                  <a:tcPr>
                    <a:solidFill>
                      <a:srgbClr val="D6E8F7"/>
                    </a:solidFill>
                  </a:tcPr>
                </a:tc>
                <a:tc>
                  <a:txBody>
                    <a:bodyPr/>
                    <a:lstStyle/>
                    <a:p>
                      <a:pPr algn="l"/>
                      <a:r>
                        <a:rPr sz="1200" b="0">
                          <a:solidFill>
                            <a:srgbClr val="333333"/>
                          </a:solidFill>
                        </a:rPr>
                        <a:t>USD 3.1m (China, UAE)</a:t>
                      </a:r>
                    </a:p>
                  </a:txBody>
                  <a:tcPr>
                    <a:solidFill>
                      <a:srgbClr val="D6E8F7"/>
                    </a:solidFill>
                  </a:tcPr>
                </a:tc>
                <a:tc>
                  <a:txBody>
                    <a:bodyPr/>
                    <a:lstStyle/>
                    <a:p>
                      <a:pPr algn="l"/>
                      <a:r>
                        <a:rPr sz="1200" b="0">
                          <a:solidFill>
                            <a:srgbClr val="333333"/>
                          </a:solidFill>
                        </a:rPr>
                        <a:t>Imported semi-fabricate</a:t>
                      </a:r>
                    </a:p>
                  </a:txBody>
                  <a:tcPr>
                    <a:solidFill>
                      <a:srgbClr val="D6E8F7"/>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Resource base. The Kilembe mine in Kasese District holds estimated deposits in excess of 6.5 million tonnes of copper ore at 1.77% copper grade, together with about 5.5 million tonnes at 0.17% cobalt grade (DGSM). This is a significant endowment — cobalt in particular is a high-value battery mineral — but it has not been in commercial production since the 1980s.</a:t>
            </a:r>
          </a:p>
          <a:p>
            <a:pPr/>
            <a:r>
              <a:rPr sz="1600" b="0">
                <a:solidFill>
                  <a:srgbClr val="333333"/>
                </a:solidFill>
              </a:rPr>
              <a:t>•  Mine redevelopment (2025). In a major development, on 3 March 2025 the Government of Uganda signed its first-ever mineral production-sharing agreement, awarding the redevelopment of Kilembe to Sarrai Group and Nile Fibreboard Limited, selected from 14 competing bidders. The plan targets production of copper cathodes and cobalt metal (DGSM; Mining Weekly, 2025). This has the potential to re-open the midstream of the chain for the first time in a generation.</a:t>
            </a:r>
          </a:p>
          <a:p>
            <a:pPr/>
            <a:r>
              <a:rPr sz="1600" b="0">
                <a:solidFill>
                  <a:srgbClr val="333333"/>
                </a:solidFill>
              </a:rPr>
              <a:t>•  Downstream industry. Uganda has a real, established copper-using manufacturing base:</a:t>
            </a:r>
          </a:p>
          <a:p>
            <a:pPr/>
            <a:r>
              <a:rPr sz="1600" b="0">
                <a:solidFill>
                  <a:srgbClr val="333333"/>
                </a:solidFill>
              </a:rPr>
              <a:t>•  These firms convert imported copper rod and aluminium into building wire, power cables, and conductors — genuine value addition, but dependent on imported metal.</a:t>
            </a:r>
          </a:p>
          <a:p>
            <a:pPr/>
            <a:r>
              <a:rPr sz="1600" b="0">
                <a:solidFill>
                  <a:srgbClr val="333333"/>
                </a:solidFill>
              </a:rPr>
              <a:t>•  Trade position (ITC TradeMap, 2024).</a:t>
            </a:r>
          </a:p>
          <a:p>
            <a:pPr/>
            <a:r>
              <a:rPr sz="1600" b="0">
                <a:solidFill>
                  <a:srgbClr val="333333"/>
                </a:solidFill>
              </a:rPr>
              <a:t>•  Exports across all copper lines are negligible — Uganda is a net importer at every stage of the copper chain.</a:t>
            </a:r>
          </a:p>
          <a:p>
            <a:pPr/>
            <a:r>
              <a:rPr sz="1600" b="0">
                <a:solidFill>
                  <a:srgbClr val="333333"/>
                </a:solidFill>
              </a:rPr>
              <a:t>•  Global context. Global refined-copper production was ~27.5 million tonnes in 2024, and demand is structurally rising with electrification and the energy transition; cobalt is a critical battery input (ICSG, World Copper Factbook 2025). This strengthens the long-term case for reviving Kilembe — but global cathode markets are scale-driven and Uganda's tonnage is modest.</a:t>
            </a:r>
          </a:p>
          <a:p>
            <a:pPr/>
            <a:r>
              <a:rPr sz="1600" b="0">
                <a:solidFill>
                  <a:srgbClr val="333333"/>
                </a:solidFill>
              </a:rPr>
              <a:t>•  Cable Corporation Limited (Mehta Group) — Uganda's first electrical cable factory (est. 1968), supplying cables and conductors to the national utilities (UMEME/UEDCL/UETCL) and holding an estimated ~65% of the domestic market (Cable Corporation Uganda; Mehta Group).</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East African Cables and other regional suppliers serve the balance of the market.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5.C Binding Constraints Analysis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6094476"/>
                <a:gridCol w="6094476"/>
              </a:tblGrid>
              <a:tr h="490450">
                <a:tc>
                  <a:txBody>
                    <a:bodyPr/>
                    <a:lstStyle/>
                    <a:p>
                      <a:pPr algn="l"/>
                      <a:r>
                        <a:rPr sz="1300" b="1">
                          <a:solidFill>
                            <a:srgbClr val="FFFFFF"/>
                          </a:solidFill>
                        </a:rPr>
                        <a:t>Dimension</a:t>
                      </a:r>
                    </a:p>
                  </a:txBody>
                  <a:tcPr>
                    <a:solidFill>
                      <a:srgbClr val="002B5B"/>
                    </a:solidFill>
                  </a:tcPr>
                </a:tc>
                <a:tc>
                  <a:txBody>
                    <a:bodyPr/>
                    <a:lstStyle/>
                    <a:p>
                      <a:pPr algn="l"/>
                      <a:r>
                        <a:rPr sz="1300" b="1">
                          <a:solidFill>
                            <a:srgbClr val="FFFFFF"/>
                          </a:solidFill>
                        </a:rPr>
                        <a:t>Assessment for Copper &amp; Allied Metals</a:t>
                      </a:r>
                    </a:p>
                  </a:txBody>
                  <a:tcPr>
                    <a:solidFill>
                      <a:srgbClr val="002B5B"/>
                    </a:solidFill>
                  </a:tcPr>
                </a:tc>
              </a:tr>
              <a:tr h="490450">
                <a:tc>
                  <a:txBody>
                    <a:bodyPr/>
                    <a:lstStyle/>
                    <a:p>
                      <a:pPr algn="l"/>
                      <a:r>
                        <a:rPr sz="1200" b="0">
                          <a:solidFill>
                            <a:srgbClr val="333333"/>
                          </a:solidFill>
                        </a:rPr>
                        <a:t>**Inputs / raw materials**</a:t>
                      </a:r>
                    </a:p>
                  </a:txBody>
                  <a:tcPr>
                    <a:solidFill>
                      <a:srgbClr val="D6E8F7"/>
                    </a:solidFill>
                  </a:tcPr>
                </a:tc>
                <a:tc>
                  <a:txBody>
                    <a:bodyPr/>
                    <a:lstStyle/>
                    <a:p>
                      <a:pPr algn="l"/>
                      <a:r>
                        <a:rPr sz="1200" b="0">
                          <a:solidFill>
                            <a:srgbClr val="333333"/>
                          </a:solidFill>
                        </a:rPr>
                        <a:t>Kilembe ore is dormant; fabricators import all copper rod/cathode. Reviving mining is the central input constraint.</a:t>
                      </a:r>
                    </a:p>
                  </a:txBody>
                  <a:tcPr>
                    <a:solidFill>
                      <a:srgbClr val="D6E8F7"/>
                    </a:solidFill>
                  </a:tcPr>
                </a:tc>
              </a:tr>
              <a:tr h="490450">
                <a:tc>
                  <a:txBody>
                    <a:bodyPr/>
                    <a:lstStyle/>
                    <a:p>
                      <a:pPr algn="l"/>
                      <a:r>
                        <a:rPr sz="1200" b="0">
                          <a:solidFill>
                            <a:srgbClr val="333333"/>
                          </a:solidFill>
                        </a:rPr>
                        <a:t>**Technology &amp; productivity**</a:t>
                      </a:r>
                    </a:p>
                  </a:txBody>
                  <a:tcPr>
                    <a:solidFill>
                      <a:srgbClr val="FFFFFF"/>
                    </a:solidFill>
                  </a:tcPr>
                </a:tc>
                <a:tc>
                  <a:txBody>
                    <a:bodyPr/>
                    <a:lstStyle/>
                    <a:p>
                      <a:pPr algn="l"/>
                      <a:r>
                        <a:rPr sz="1200" b="0">
                          <a:solidFill>
                            <a:srgbClr val="333333"/>
                          </a:solidFill>
                        </a:rPr>
                        <a:t>Smelting/refining technology absent domestically; cable fabrication technology is established and competitive.</a:t>
                      </a:r>
                    </a:p>
                  </a:txBody>
                  <a:tcPr>
                    <a:solidFill>
                      <a:srgbClr val="FFFFFF"/>
                    </a:solidFill>
                  </a:tcPr>
                </a:tc>
              </a:tr>
              <a:tr h="490450">
                <a:tc>
                  <a:txBody>
                    <a:bodyPr/>
                    <a:lstStyle/>
                    <a:p>
                      <a:pPr algn="l"/>
                      <a:r>
                        <a:rPr sz="1200" b="0">
                          <a:solidFill>
                            <a:srgbClr val="333333"/>
                          </a:solidFill>
                        </a:rPr>
                        <a:t>**Energy**</a:t>
                      </a:r>
                    </a:p>
                  </a:txBody>
                  <a:tcPr>
                    <a:solidFill>
                      <a:srgbClr val="D6E8F7"/>
                    </a:solidFill>
                  </a:tcPr>
                </a:tc>
                <a:tc>
                  <a:txBody>
                    <a:bodyPr/>
                    <a:lstStyle/>
                    <a:p>
                      <a:pPr algn="l"/>
                      <a:r>
                        <a:rPr sz="1200" b="0">
                          <a:solidFill>
                            <a:srgbClr val="333333"/>
                          </a:solidFill>
                        </a:rPr>
                        <a:t>Smelting/refining is energy-intensive; tariff ~5.5 US¢/kWh (ERA 2025) is workable but reliability matters for electro-refining.</a:t>
                      </a:r>
                    </a:p>
                  </a:txBody>
                  <a:tcPr>
                    <a:solidFill>
                      <a:srgbClr val="D6E8F7"/>
                    </a:solidFill>
                  </a:tcPr>
                </a:tc>
              </a:tr>
              <a:tr h="490450">
                <a:tc>
                  <a:txBody>
                    <a:bodyPr/>
                    <a:lstStyle/>
                    <a:p>
                      <a:pPr algn="l"/>
                      <a:r>
                        <a:rPr sz="1200" b="0">
                          <a:solidFill>
                            <a:srgbClr val="333333"/>
                          </a:solidFill>
                        </a:rPr>
                        <a:t>**Water**</a:t>
                      </a:r>
                    </a:p>
                  </a:txBody>
                  <a:tcPr>
                    <a:solidFill>
                      <a:srgbClr val="FFFFFF"/>
                    </a:solidFill>
                  </a:tcPr>
                </a:tc>
                <a:tc>
                  <a:txBody>
                    <a:bodyPr/>
                    <a:lstStyle/>
                    <a:p>
                      <a:pPr algn="l"/>
                      <a:r>
                        <a:rPr sz="1200" b="0">
                          <a:solidFill>
                            <a:srgbClr val="333333"/>
                          </a:solidFill>
                        </a:rPr>
                        <a:t>Needed for processing; not the binding constraint.</a:t>
                      </a:r>
                    </a:p>
                  </a:txBody>
                  <a:tcPr>
                    <a:solidFill>
                      <a:srgbClr val="FFFFFF"/>
                    </a:solidFill>
                  </a:tcPr>
                </a:tc>
              </a:tr>
              <a:tr h="490450">
                <a:tc>
                  <a:txBody>
                    <a:bodyPr/>
                    <a:lstStyle/>
                    <a:p>
                      <a:pPr algn="l"/>
                      <a:r>
                        <a:rPr sz="1200" b="0">
                          <a:solidFill>
                            <a:srgbClr val="333333"/>
                          </a:solidFill>
                        </a:rPr>
                        <a:t>**Logistics**</a:t>
                      </a:r>
                    </a:p>
                  </a:txBody>
                  <a:tcPr>
                    <a:solidFill>
                      <a:srgbClr val="D6E8F7"/>
                    </a:solidFill>
                  </a:tcPr>
                </a:tc>
                <a:tc>
                  <a:txBody>
                    <a:bodyPr/>
                    <a:lstStyle/>
                    <a:p>
                      <a:pPr algn="l"/>
                      <a:r>
                        <a:rPr sz="1200" b="0">
                          <a:solidFill>
                            <a:srgbClr val="333333"/>
                          </a:solidFill>
                        </a:rPr>
                        <a:t>Landlocked cost penalty (~18–20% of sale price) affects both imported feedstock and any future cathode export. Kilembe–Kasese rail/road links need upgrading.</a:t>
                      </a:r>
                    </a:p>
                  </a:txBody>
                  <a:tcPr>
                    <a:solidFill>
                      <a:srgbClr val="D6E8F7"/>
                    </a:solidFill>
                  </a:tcPr>
                </a:tc>
              </a:tr>
              <a:tr h="490450">
                <a:tc>
                  <a:txBody>
                    <a:bodyPr/>
                    <a:lstStyle/>
                    <a:p>
                      <a:pPr algn="l"/>
                      <a:r>
                        <a:rPr sz="1200" b="0">
                          <a:solidFill>
                            <a:srgbClr val="333333"/>
                          </a:solidFill>
                        </a:rPr>
                        <a:t>**Waste &amp; effluent**</a:t>
                      </a:r>
                    </a:p>
                  </a:txBody>
                  <a:tcPr>
                    <a:solidFill>
                      <a:srgbClr val="FFFFFF"/>
                    </a:solidFill>
                  </a:tcPr>
                </a:tc>
                <a:tc>
                  <a:txBody>
                    <a:bodyPr/>
                    <a:lstStyle/>
                    <a:p>
                      <a:pPr algn="l"/>
                      <a:r>
                        <a:rPr sz="1200" b="0">
                          <a:solidFill>
                            <a:srgbClr val="333333"/>
                          </a:solidFill>
                        </a:rPr>
                        <a:t>Historic Kilembe tailings (with cobalt/pyrite) are an environmental liability **and** a potential resource; managed under NEMA. Acid-mine drainage risk requires careful handling.</a:t>
                      </a:r>
                    </a:p>
                  </a:txBody>
                  <a:tcPr>
                    <a:solidFill>
                      <a:srgbClr val="FFFFFF"/>
                    </a:solidFill>
                  </a:tcPr>
                </a:tc>
              </a:tr>
              <a:tr h="490450">
                <a:tc>
                  <a:txBody>
                    <a:bodyPr/>
                    <a:lstStyle/>
                    <a:p>
                      <a:pPr algn="l"/>
                      <a:r>
                        <a:rPr sz="1200" b="0">
                          <a:solidFill>
                            <a:srgbClr val="333333"/>
                          </a:solidFill>
                        </a:rPr>
                        <a:t>**Finance &amp; investment**</a:t>
                      </a:r>
                    </a:p>
                  </a:txBody>
                  <a:tcPr>
                    <a:solidFill>
                      <a:srgbClr val="D6E8F7"/>
                    </a:solidFill>
                  </a:tcPr>
                </a:tc>
                <a:tc>
                  <a:txBody>
                    <a:bodyPr/>
                    <a:lstStyle/>
                    <a:p>
                      <a:pPr algn="l"/>
                      <a:r>
                        <a:rPr sz="1200" b="0">
                          <a:solidFill>
                            <a:srgbClr val="333333"/>
                          </a:solidFill>
                        </a:rPr>
                        <a:t>Mine redevelopment is highly capital-intensive and long-lead; the production-sharing model is designed to mobilize private capital.</a:t>
                      </a:r>
                    </a:p>
                  </a:txBody>
                  <a:tcPr>
                    <a:solidFill>
                      <a:srgbClr val="D6E8F7"/>
                    </a:solidFill>
                  </a:tcPr>
                </a:tc>
              </a:tr>
              <a:tr h="490450">
                <a:tc>
                  <a:txBody>
                    <a:bodyPr/>
                    <a:lstStyle/>
                    <a:p>
                      <a:pPr algn="l"/>
                      <a:r>
                        <a:rPr sz="1200" b="0">
                          <a:solidFill>
                            <a:srgbClr val="333333"/>
                          </a:solidFill>
                        </a:rPr>
                        <a:t>**Skills &amp; workforce**</a:t>
                      </a:r>
                    </a:p>
                  </a:txBody>
                  <a:tcPr>
                    <a:solidFill>
                      <a:srgbClr val="FFFFFF"/>
                    </a:solidFill>
                  </a:tcPr>
                </a:tc>
                <a:tc>
                  <a:txBody>
                    <a:bodyPr/>
                    <a:lstStyle/>
                    <a:p>
                      <a:pPr algn="l"/>
                      <a:r>
                        <a:rPr sz="1200" b="0">
                          <a:solidFill>
                            <a:srgbClr val="333333"/>
                          </a:solidFill>
                        </a:rPr>
                        <a:t>Mining and metallurgical skills are scarce after decades of dormancy; the cable industry has a skilled base.</a:t>
                      </a:r>
                    </a:p>
                  </a:txBody>
                  <a:tcPr>
                    <a:solidFill>
                      <a:srgbClr val="FFFFFF"/>
                    </a:solidFill>
                  </a:tcPr>
                </a:tc>
              </a:tr>
              <a:tr h="490450">
                <a:tc>
                  <a:txBody>
                    <a:bodyPr/>
                    <a:lstStyle/>
                    <a:p>
                      <a:pPr algn="l"/>
                      <a:r>
                        <a:rPr sz="1200" b="0">
                          <a:solidFill>
                            <a:srgbClr val="333333"/>
                          </a:solidFill>
                        </a:rPr>
                        <a:t>**Standards &amp; quality**</a:t>
                      </a:r>
                    </a:p>
                  </a:txBody>
                  <a:tcPr>
                    <a:solidFill>
                      <a:srgbClr val="D6E8F7"/>
                    </a:solidFill>
                  </a:tcPr>
                </a:tc>
                <a:tc>
                  <a:txBody>
                    <a:bodyPr/>
                    <a:lstStyle/>
                    <a:p>
                      <a:pPr algn="l"/>
                      <a:r>
                        <a:rPr sz="1200" b="0">
                          <a:solidFill>
                            <a:srgbClr val="333333"/>
                          </a:solidFill>
                        </a:rPr>
                        <a:t>UNBS standards for electrical cable are critical for safety; substandard cable imports are a market and safety problem.</a:t>
                      </a:r>
                    </a:p>
                  </a:txBody>
                  <a:tcPr>
                    <a:solidFill>
                      <a:srgbClr val="D6E8F7"/>
                    </a:solidFill>
                  </a:tcPr>
                </a:tc>
              </a:tr>
              <a:tr h="490460">
                <a:tc>
                  <a:txBody>
                    <a:bodyPr/>
                    <a:lstStyle/>
                    <a:p>
                      <a:pPr algn="l"/>
                      <a:r>
                        <a:rPr sz="1200" b="0">
                          <a:solidFill>
                            <a:srgbClr val="333333"/>
                          </a:solidFill>
                        </a:rPr>
                        <a:t>**Policy &amp; regulatory**</a:t>
                      </a:r>
                    </a:p>
                  </a:txBody>
                  <a:tcPr>
                    <a:solidFill>
                      <a:srgbClr val="FFFFFF"/>
                    </a:solidFill>
                  </a:tcPr>
                </a:tc>
                <a:tc>
                  <a:txBody>
                    <a:bodyPr/>
                    <a:lstStyle/>
                    <a:p>
                      <a:pPr algn="l"/>
                      <a:r>
                        <a:rPr sz="1200" b="0">
                          <a:solidFill>
                            <a:srgbClr val="333333"/>
                          </a:solidFill>
                        </a:rPr>
                        <a:t>The 2025 production-sharing agreement is a major enabling step; mining licensing, tailings rights, and feedstock policy remain to be operationalized.</a:t>
                      </a:r>
                    </a:p>
                  </a:txBody>
                  <a:tcPr>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5.D Market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Domestic. Strong and growing demand for electrical cable, conductors, and building wire driven by electrification, construction, and grid expansion — currently met substantially by imports (USD 57.7m of HS 8544 in 2024).</a:t>
            </a:r>
          </a:p>
          <a:p>
            <a:pPr/>
            <a:r>
              <a:rPr sz="1600" b="0">
                <a:solidFill>
                  <a:srgbClr val="333333"/>
                </a:solidFill>
              </a:rPr>
              <a:t>•  Regional (EAC/COMESA). Cable Corporation already supplies regional utilities; the regional market for cable and conductors is growing with electrification across East Africa. This is Uganda's most accessible export opportunity in the chain — built on existing competitive fabrication.</a:t>
            </a:r>
          </a:p>
          <a:p>
            <a:pPr/>
            <a:r>
              <a:rPr sz="1600" b="0">
                <a:solidFill>
                  <a:srgbClr val="333333"/>
                </a:solidFill>
              </a:rPr>
              <a:t>•  Global. If Kilembe is revived, copper cathode and cobalt could in principle reach global markets, but Uganda's tonnage is modest against global scale; cobalt offers a better value-per-tonne export prospect than copper cathode. Realistically, mine output should first substitute imported feedstock for the domestic cable industry before targeting global cathode export.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46" cy="539496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899160">
                <a:tc>
                  <a:txBody>
                    <a:bodyPr/>
                    <a:lstStyle/>
                    <a:p>
                      <a:pPr algn="l"/>
                      <a:r>
                        <a:rPr sz="1300" b="1">
                          <a:solidFill>
                            <a:srgbClr val="FFFFFF"/>
                          </a:solidFill>
                        </a:rPr>
                        <a:t>Product / sub-sector</a:t>
                      </a:r>
                    </a:p>
                  </a:txBody>
                  <a:tcPr>
                    <a:solidFill>
                      <a:srgbClr val="002B5B"/>
                    </a:solidFill>
                  </a:tcPr>
                </a:tc>
                <a:tc>
                  <a:txBody>
                    <a:bodyPr/>
                    <a:lstStyle/>
                    <a:p>
                      <a:pPr algn="l"/>
                      <a:r>
                        <a:rPr sz="1300" b="1">
                          <a:solidFill>
                            <a:srgbClr val="FFFFFF"/>
                          </a:solidFill>
                        </a:rPr>
                        <a:t>Market</a:t>
                      </a:r>
                    </a:p>
                  </a:txBody>
                  <a:tcPr>
                    <a:solidFill>
                      <a:srgbClr val="002B5B"/>
                    </a:solidFill>
                  </a:tcPr>
                </a:tc>
                <a:tc>
                  <a:txBody>
                    <a:bodyPr/>
                    <a:lstStyle/>
                    <a:p>
                      <a:pPr algn="l"/>
                      <a:r>
                        <a:rPr sz="1300" b="1">
                          <a:solidFill>
                            <a:srgbClr val="FFFFFF"/>
                          </a:solidFill>
                        </a:rPr>
                        <a:t>Comp. adv.</a:t>
                      </a:r>
                    </a:p>
                  </a:txBody>
                  <a:tcPr>
                    <a:solidFill>
                      <a:srgbClr val="002B5B"/>
                    </a:solidFill>
                  </a:tcPr>
                </a:tc>
                <a:tc>
                  <a:txBody>
                    <a:bodyPr/>
                    <a:lstStyle/>
                    <a:p>
                      <a:pPr algn="l"/>
                      <a:r>
                        <a:rPr sz="1300" b="1">
                          <a:solidFill>
                            <a:srgbClr val="FFFFFF"/>
                          </a:solidFill>
                        </a:rPr>
                        <a:t>Feasibility</a:t>
                      </a:r>
                    </a:p>
                  </a:txBody>
                  <a:tcPr>
                    <a:solidFill>
                      <a:srgbClr val="002B5B"/>
                    </a:solidFill>
                  </a:tcPr>
                </a:tc>
                <a:tc>
                  <a:txBody>
                    <a:bodyPr/>
                    <a:lstStyle/>
                    <a:p>
                      <a:pPr algn="l"/>
                      <a:r>
                        <a:rPr sz="1300" b="1">
                          <a:solidFill>
                            <a:srgbClr val="FFFFFF"/>
                          </a:solidFill>
                        </a:rPr>
                        <a:t>Jobs</a:t>
                      </a:r>
                    </a:p>
                  </a:txBody>
                  <a:tcPr>
                    <a:solidFill>
                      <a:srgbClr val="002B5B"/>
                    </a:solidFill>
                  </a:tcPr>
                </a:tc>
                <a:tc>
                  <a:txBody>
                    <a:bodyPr/>
                    <a:lstStyle/>
                    <a:p>
                      <a:pPr algn="l"/>
                      <a:r>
                        <a:rPr sz="1300" b="1">
                          <a:solidFill>
                            <a:srgbClr val="FFFFFF"/>
                          </a:solidFill>
                        </a:rPr>
                        <a:t>Import subst.</a:t>
                      </a:r>
                    </a:p>
                  </a:txBody>
                  <a:tcPr>
                    <a:solidFill>
                      <a:srgbClr val="002B5B"/>
                    </a:solidFill>
                  </a:tcPr>
                </a:tc>
                <a:tc>
                  <a:txBody>
                    <a:bodyPr/>
                    <a:lstStyle/>
                    <a:p>
                      <a:pPr algn="l"/>
                      <a:r>
                        <a:rPr sz="1300" b="1">
                          <a:solidFill>
                            <a:srgbClr val="FFFFFF"/>
                          </a:solidFill>
                        </a:rPr>
                        <a:t>Priority</a:t>
                      </a:r>
                    </a:p>
                  </a:txBody>
                  <a:tcPr>
                    <a:solidFill>
                      <a:srgbClr val="002B5B"/>
                    </a:solidFill>
                  </a:tcPr>
                </a:tc>
              </a:tr>
              <a:tr h="899160">
                <a:tc>
                  <a:txBody>
                    <a:bodyPr/>
                    <a:lstStyle/>
                    <a:p>
                      <a:pPr algn="l"/>
                      <a:r>
                        <a:rPr sz="1200" b="0">
                          <a:solidFill>
                            <a:srgbClr val="333333"/>
                          </a:solidFill>
                        </a:rPr>
                        <a:t>**Insulated wire &amp; cable**</a:t>
                      </a:r>
                    </a:p>
                  </a:txBody>
                  <a:tcPr>
                    <a:solidFill>
                      <a:srgbClr val="D6E8F7"/>
                    </a:solidFill>
                  </a:tcPr>
                </a:tc>
                <a:tc>
                  <a:txBody>
                    <a:bodyPr/>
                    <a:lstStyle/>
                    <a:p>
                      <a:pPr algn="l"/>
                      <a:r>
                        <a:rPr sz="1200" b="0">
                          <a:solidFill>
                            <a:srgbClr val="333333"/>
                          </a:solidFill>
                        </a:rPr>
                        <a:t>High (USD 57.7m imports)</a:t>
                      </a:r>
                    </a:p>
                  </a:txBody>
                  <a:tcPr>
                    <a:solidFill>
                      <a:srgbClr val="D6E8F7"/>
                    </a:solidFill>
                  </a:tcPr>
                </a:tc>
                <a:tc>
                  <a:txBody>
                    <a:bodyPr/>
                    <a:lstStyle/>
                    <a:p>
                      <a:pPr algn="l"/>
                      <a:r>
                        <a:rPr sz="1200" b="0">
                          <a:solidFill>
                            <a:srgbClr val="333333"/>
                          </a:solidFill>
                        </a:rPr>
                        <a:t>High (Cable Corp base)</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Very high</a:t>
                      </a:r>
                    </a:p>
                  </a:txBody>
                  <a:tcPr>
                    <a:solidFill>
                      <a:srgbClr val="D6E8F7"/>
                    </a:solidFill>
                  </a:tcPr>
                </a:tc>
                <a:tc>
                  <a:txBody>
                    <a:bodyPr/>
                    <a:lstStyle/>
                    <a:p>
                      <a:pPr algn="l"/>
                      <a:r>
                        <a:rPr sz="1200" b="0">
                          <a:solidFill>
                            <a:srgbClr val="333333"/>
                          </a:solidFill>
                        </a:rPr>
                        <a:t>**Priority**</a:t>
                      </a:r>
                    </a:p>
                  </a:txBody>
                  <a:tcPr>
                    <a:solidFill>
                      <a:srgbClr val="D6E8F7"/>
                    </a:solidFill>
                  </a:tcPr>
                </a:tc>
              </a:tr>
              <a:tr h="899160">
                <a:tc>
                  <a:txBody>
                    <a:bodyPr/>
                    <a:lstStyle/>
                    <a:p>
                      <a:pPr algn="l"/>
                      <a:r>
                        <a:rPr sz="1200" b="0">
                          <a:solidFill>
                            <a:srgbClr val="333333"/>
                          </a:solidFill>
                        </a:rPr>
                        <a:t>**Copper cathode &amp; cobalt (Kilembe revival)**</a:t>
                      </a:r>
                    </a:p>
                  </a:txBody>
                  <a:tcPr>
                    <a:solidFill>
                      <a:srgbClr val="FFFFFF"/>
                    </a:solidFill>
                  </a:tcPr>
                </a:tc>
                <a:tc>
                  <a:txBody>
                    <a:bodyPr/>
                    <a:lstStyle/>
                    <a:p>
                      <a:pPr algn="l"/>
                      <a:r>
                        <a:rPr sz="1200" b="0">
                          <a:solidFill>
                            <a:srgbClr val="333333"/>
                          </a:solidFill>
                        </a:rPr>
                        <a:t>Medium–High</a:t>
                      </a:r>
                    </a:p>
                  </a:txBody>
                  <a:tcPr>
                    <a:solidFill>
                      <a:srgbClr val="FFFFFF"/>
                    </a:solidFill>
                  </a:tcPr>
                </a:tc>
                <a:tc>
                  <a:txBody>
                    <a:bodyPr/>
                    <a:lstStyle/>
                    <a:p>
                      <a:pPr algn="l"/>
                      <a:r>
                        <a:rPr sz="1200" b="0">
                          <a:solidFill>
                            <a:srgbClr val="333333"/>
                          </a:solidFill>
                        </a:rPr>
                        <a:t>High (reserves)</a:t>
                      </a:r>
                    </a:p>
                  </a:txBody>
                  <a:tcPr>
                    <a:solidFill>
                      <a:srgbClr val="FFFFFF"/>
                    </a:solidFill>
                  </a:tcPr>
                </a:tc>
                <a:tc>
                  <a:txBody>
                    <a:bodyPr/>
                    <a:lstStyle/>
                    <a:p>
                      <a:pPr algn="l"/>
                      <a:r>
                        <a:rPr sz="1200" b="0">
                          <a:solidFill>
                            <a:srgbClr val="333333"/>
                          </a:solidFill>
                        </a:rPr>
                        <a:t>Medium (long lead)</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High (feedstock)</a:t>
                      </a:r>
                    </a:p>
                  </a:txBody>
                  <a:tcPr>
                    <a:solidFill>
                      <a:srgbClr val="FFFFFF"/>
                    </a:solidFill>
                  </a:tcPr>
                </a:tc>
                <a:tc>
                  <a:txBody>
                    <a:bodyPr/>
                    <a:lstStyle/>
                    <a:p>
                      <a:pPr algn="l"/>
                      <a:r>
                        <a:rPr sz="1200" b="0">
                          <a:solidFill>
                            <a:srgbClr val="333333"/>
                          </a:solidFill>
                        </a:rPr>
                        <a:t>**Priority (enabler)**</a:t>
                      </a:r>
                    </a:p>
                  </a:txBody>
                  <a:tcPr>
                    <a:solidFill>
                      <a:srgbClr val="FFFFFF"/>
                    </a:solidFill>
                  </a:tcPr>
                </a:tc>
              </a:tr>
              <a:tr h="899160">
                <a:tc>
                  <a:txBody>
                    <a:bodyPr/>
                    <a:lstStyle/>
                    <a:p>
                      <a:pPr algn="l"/>
                      <a:r>
                        <a:rPr sz="1200" b="0">
                          <a:solidFill>
                            <a:srgbClr val="333333"/>
                          </a:solidFill>
                        </a:rPr>
                        <a:t>**Copper wire rod / semi-fabricates**</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**Priority**</a:t>
                      </a:r>
                    </a:p>
                  </a:txBody>
                  <a:tcPr>
                    <a:solidFill>
                      <a:srgbClr val="D6E8F7"/>
                    </a:solidFill>
                  </a:tcPr>
                </a:tc>
              </a:tr>
              <a:tr h="899160">
                <a:tc>
                  <a:txBody>
                    <a:bodyPr/>
                    <a:lstStyle/>
                    <a:p>
                      <a:pPr algn="l"/>
                      <a:r>
                        <a:rPr sz="1200" b="0">
                          <a:solidFill>
                            <a:srgbClr val="333333"/>
                          </a:solidFill>
                        </a:rPr>
                        <a:t>Brass / alloy fabricated goods</a:t>
                      </a:r>
                    </a:p>
                  </a:txBody>
                  <a:tcPr>
                    <a:solidFill>
                      <a:srgbClr val="FFFFFF"/>
                    </a:solidFill>
                  </a:tcPr>
                </a:tc>
                <a:tc>
                  <a:txBody>
                    <a:bodyPr/>
                    <a:lstStyle/>
                    <a:p>
                      <a:pPr algn="l"/>
                      <a:r>
                        <a:rPr sz="1200" b="0">
                          <a:solidFill>
                            <a:srgbClr val="333333"/>
                          </a:solidFill>
                        </a:rPr>
                        <a:t>Low–Med</a:t>
                      </a:r>
                    </a:p>
                  </a:txBody>
                  <a:tcPr>
                    <a:solidFill>
                      <a:srgbClr val="FFFFFF"/>
                    </a:solidFill>
                  </a:tcPr>
                </a:tc>
                <a:tc>
                  <a:txBody>
                    <a:bodyPr/>
                    <a:lstStyle/>
                    <a:p>
                      <a:pPr algn="l"/>
                      <a:r>
                        <a:rPr sz="1200" b="0">
                          <a:solidFill>
                            <a:srgbClr val="333333"/>
                          </a:solidFill>
                        </a:rPr>
                        <a:t>Low</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Low</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Conditional</a:t>
                      </a:r>
                    </a:p>
                  </a:txBody>
                  <a:tcPr>
                    <a:solidFill>
                      <a:srgbClr val="FFFFFF"/>
                    </a:solidFill>
                  </a:tcPr>
                </a:tc>
              </a:tr>
              <a:tr h="899160">
                <a:tc>
                  <a:txBody>
                    <a:bodyPr/>
                    <a:lstStyle/>
                    <a:p>
                      <a:pPr algn="l"/>
                      <a:r>
                        <a:rPr sz="1200" b="0">
                          <a:solidFill>
                            <a:srgbClr val="333333"/>
                          </a:solidFill>
                        </a:rPr>
                        <a:t>Primary copper smelting for export</a:t>
                      </a:r>
                    </a:p>
                  </a:txBody>
                  <a:tcPr>
                    <a:solidFill>
                      <a:srgbClr val="D6E8F7"/>
                    </a:solidFill>
                  </a:tcPr>
                </a:tc>
                <a:tc>
                  <a:txBody>
                    <a:bodyPr/>
                    <a:lstStyle/>
                    <a:p>
                      <a:pPr algn="l"/>
                      <a:r>
                        <a:rPr sz="1200" b="0">
                          <a:solidFill>
                            <a:srgbClr val="333333"/>
                          </a:solidFill>
                        </a:rPr>
                        <a:t>Low (scale)</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Deprioritize</a:t>
                      </a:r>
                    </a:p>
                  </a:txBody>
                  <a:tcPr>
                    <a:solidFill>
                      <a:srgbClr val="D6E8F7"/>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three priorities for Copper &amp; Allied Metals:</a:t>
            </a:r>
          </a:p>
          <a:p>
            <a:pPr/>
            <a:r>
              <a:rPr sz="1600" b="0">
                <a:solidFill>
                  <a:srgbClr val="333333"/>
                </a:solidFill>
              </a:rPr>
              <a:t>•  Explicit deprioritization. Uganda should not target greenfield primary copper smelting for global cathode export as a first move — global cathode is scale-driven and Uganda's tonnage is modest. The value is in integrating cathode→rod→cable for domestic and regional markets, and in cobalt as the premium export.</a:t>
            </a:r>
          </a:p>
          <a:p>
            <a:pPr/>
            <a:r>
              <a:rPr sz="1600" b="0">
                <a:solidFill>
                  <a:srgbClr val="333333"/>
                </a:solidFill>
              </a:rPr>
              <a:t>1. Insulated wire &amp; cable — expand the existing, competitive Cable Corporation–led industry to capture the USD 57.7m import market and grow regional exports. The fastest, lowest-risk win.</a:t>
            </a:r>
          </a:p>
          <a:p>
            <a:pPr/>
            <a:r>
              <a:rPr sz="1600" b="0">
                <a:solidFill>
                  <a:srgbClr val="333333"/>
                </a:solidFill>
              </a:rPr>
              <a:t>2. Kilembe copper cathode &amp; cobalt — execute the 2025 production-sharing redevelopment to revive midstream supply, prioritizing feedstock for the domestic cable industry and cobalt as the high-value export.</a:t>
            </a:r>
          </a:p>
          <a:p>
            <a:pPr/>
            <a:r>
              <a:rPr sz="1600" b="0">
                <a:solidFill>
                  <a:srgbClr val="333333"/>
                </a:solidFill>
              </a:rPr>
              <a:t>3. Copper wire rod / semi-fabrication — the connecting midstream step between cathode and cable, to integrate the chain domestically.</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5.F Priority Action Matrix</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674370">
                <a:tc>
                  <a:txBody>
                    <a:bodyPr/>
                    <a:lstStyle/>
                    <a:p>
                      <a:pPr algn="l"/>
                      <a:r>
                        <a:rPr sz="1300" b="1">
                          <a:solidFill>
                            <a:srgbClr val="FFFFFF"/>
                          </a:solidFill>
                        </a:rPr>
                        <a:t>Timeframe</a:t>
                      </a:r>
                    </a:p>
                  </a:txBody>
                  <a:tcPr>
                    <a:solidFill>
                      <a:srgbClr val="002B5B"/>
                    </a:solidFill>
                  </a:tcPr>
                </a:tc>
                <a:tc>
                  <a:txBody>
                    <a:bodyPr/>
                    <a:lstStyle/>
                    <a:p>
                      <a:pPr algn="l"/>
                      <a:r>
                        <a:rPr sz="1300" b="1">
                          <a:solidFill>
                            <a:srgbClr val="FFFFFF"/>
                          </a:solidFill>
                        </a:rPr>
                        <a:t>Action</a:t>
                      </a:r>
                    </a:p>
                  </a:txBody>
                  <a:tcPr>
                    <a:solidFill>
                      <a:srgbClr val="002B5B"/>
                    </a:solidFill>
                  </a:tcPr>
                </a:tc>
                <a:tc>
                  <a:txBody>
                    <a:bodyPr/>
                    <a:lstStyle/>
                    <a:p>
                      <a:pPr algn="l"/>
                      <a:r>
                        <a:rPr sz="1300" b="1">
                          <a:solidFill>
                            <a:srgbClr val="FFFFFF"/>
                          </a:solidFill>
                        </a:rPr>
                        <a:t>Lead</a:t>
                      </a:r>
                    </a:p>
                  </a:txBody>
                  <a:tcPr>
                    <a:solidFill>
                      <a:srgbClr val="002B5B"/>
                    </a:solidFill>
                  </a:tcPr>
                </a:tc>
                <a:tc>
                  <a:txBody>
                    <a:bodyPr/>
                    <a:lstStyle/>
                    <a:p>
                      <a:pPr algn="l"/>
                      <a:r>
                        <a:rPr sz="1300" b="1">
                          <a:solidFill>
                            <a:srgbClr val="FFFFFF"/>
                          </a:solidFill>
                        </a:rPr>
                        <a:t>Indicative cost</a:t>
                      </a:r>
                    </a:p>
                  </a:txBody>
                  <a:tcPr>
                    <a:solidFill>
                      <a:srgbClr val="002B5B"/>
                    </a:solidFill>
                  </a:tcPr>
                </a:tc>
              </a:tr>
              <a:tr h="674370">
                <a:tc>
                  <a:txBody>
                    <a:bodyPr/>
                    <a:lstStyle/>
                    <a:p>
                      <a:pPr algn="l"/>
                      <a:r>
                        <a:rPr sz="1200" b="0">
                          <a:solidFill>
                            <a:srgbClr val="333333"/>
                          </a:solidFill>
                        </a:rPr>
                        <a:t>**Quick win (0–12m)**</a:t>
                      </a:r>
                    </a:p>
                  </a:txBody>
                  <a:tcPr>
                    <a:solidFill>
                      <a:srgbClr val="D6E8F7"/>
                    </a:solidFill>
                  </a:tcPr>
                </a:tc>
                <a:tc>
                  <a:txBody>
                    <a:bodyPr/>
                    <a:lstStyle/>
                    <a:p>
                      <a:pPr algn="l"/>
                      <a:r>
                        <a:rPr sz="1200" b="0">
                          <a:solidFill>
                            <a:srgbClr val="333333"/>
                          </a:solidFill>
                        </a:rPr>
                        <a:t>Enforce UNBS cable standards against substandard imports (safety + market for compliant firms)</a:t>
                      </a:r>
                    </a:p>
                  </a:txBody>
                  <a:tcPr>
                    <a:solidFill>
                      <a:srgbClr val="D6E8F7"/>
                    </a:solidFill>
                  </a:tcPr>
                </a:tc>
                <a:tc>
                  <a:txBody>
                    <a:bodyPr/>
                    <a:lstStyle/>
                    <a:p>
                      <a:pPr algn="l"/>
                      <a:r>
                        <a:rPr sz="1200" b="0">
                          <a:solidFill>
                            <a:srgbClr val="333333"/>
                          </a:solidFill>
                        </a:rPr>
                        <a:t>UNBS, MTIC, URA</a:t>
                      </a:r>
                    </a:p>
                  </a:txBody>
                  <a:tcPr>
                    <a:solidFill>
                      <a:srgbClr val="D6E8F7"/>
                    </a:solidFill>
                  </a:tcPr>
                </a:tc>
                <a:tc>
                  <a:txBody>
                    <a:bodyPr/>
                    <a:lstStyle/>
                    <a:p>
                      <a:pPr algn="l"/>
                      <a:r>
                        <a:rPr sz="1200" b="0">
                          <a:solidFill>
                            <a:srgbClr val="333333"/>
                          </a:solidFill>
                        </a:rPr>
                        <a:t>Low</a:t>
                      </a:r>
                    </a:p>
                  </a:txBody>
                  <a:tcPr>
                    <a:solidFill>
                      <a:srgbClr val="D6E8F7"/>
                    </a:solidFill>
                  </a:tcPr>
                </a:tc>
              </a:tr>
              <a:tr h="674370">
                <a:tc>
                  <a:txBody>
                    <a:bodyPr/>
                    <a:lstStyle/>
                    <a:p>
                      <a:pPr algn="l"/>
                      <a:r>
                        <a:rPr sz="1200" b="0">
                          <a:solidFill>
                            <a:srgbClr val="333333"/>
                          </a:solidFill>
                        </a:rPr>
                        <a:t>Quick win (0–12m)</a:t>
                      </a:r>
                    </a:p>
                  </a:txBody>
                  <a:tcPr>
                    <a:solidFill>
                      <a:srgbClr val="FFFFFF"/>
                    </a:solidFill>
                  </a:tcPr>
                </a:tc>
                <a:tc>
                  <a:txBody>
                    <a:bodyPr/>
                    <a:lstStyle/>
                    <a:p>
                      <a:pPr algn="l"/>
                      <a:r>
                        <a:rPr sz="1200" b="0">
                          <a:solidFill>
                            <a:srgbClr val="333333"/>
                          </a:solidFill>
                        </a:rPr>
                        <a:t>Finalize Kilembe redevelopment workplan and milestones under the production-sharing agreement</a:t>
                      </a:r>
                    </a:p>
                  </a:txBody>
                  <a:tcPr>
                    <a:solidFill>
                      <a:srgbClr val="FFFFFF"/>
                    </a:solidFill>
                  </a:tcPr>
                </a:tc>
                <a:tc>
                  <a:txBody>
                    <a:bodyPr/>
                    <a:lstStyle/>
                    <a:p>
                      <a:pPr algn="l"/>
                      <a:r>
                        <a:rPr sz="1200" b="0">
                          <a:solidFill>
                            <a:srgbClr val="333333"/>
                          </a:solidFill>
                        </a:rPr>
                        <a:t>MEMD/DGSM, investor</a:t>
                      </a:r>
                    </a:p>
                  </a:txBody>
                  <a:tcPr>
                    <a:solidFill>
                      <a:srgbClr val="FFFFFF"/>
                    </a:solidFill>
                  </a:tcPr>
                </a:tc>
                <a:tc>
                  <a:txBody>
                    <a:bodyPr/>
                    <a:lstStyle/>
                    <a:p>
                      <a:pPr algn="l"/>
                      <a:r>
                        <a:rPr sz="1200" b="0">
                          <a:solidFill>
                            <a:srgbClr val="333333"/>
                          </a:solidFill>
                        </a:rPr>
                        <a:t>Low (admin)</a:t>
                      </a:r>
                    </a:p>
                  </a:txBody>
                  <a:tcPr>
                    <a:solidFill>
                      <a:srgbClr val="FFFFFF"/>
                    </a:solidFill>
                  </a:tcPr>
                </a:tc>
              </a:tr>
              <a:tr h="674370">
                <a:tc>
                  <a:txBody>
                    <a:bodyPr/>
                    <a:lstStyle/>
                    <a:p>
                      <a:pPr algn="l"/>
                      <a:r>
                        <a:rPr sz="1200" b="0">
                          <a:solidFill>
                            <a:srgbClr val="333333"/>
                          </a:solidFill>
                        </a:rPr>
                        <a:t>**Reform (1–3y)**</a:t>
                      </a:r>
                    </a:p>
                  </a:txBody>
                  <a:tcPr>
                    <a:solidFill>
                      <a:srgbClr val="D6E8F7"/>
                    </a:solidFill>
                  </a:tcPr>
                </a:tc>
                <a:tc>
                  <a:txBody>
                    <a:bodyPr/>
                    <a:lstStyle/>
                    <a:p>
                      <a:pPr algn="l"/>
                      <a:r>
                        <a:rPr sz="1200" b="0">
                          <a:solidFill>
                            <a:srgbClr val="333333"/>
                          </a:solidFill>
                        </a:rPr>
                        <a:t>Develop a cobalt strategy (battery-minerals positioning, off-take, value addition)</a:t>
                      </a:r>
                    </a:p>
                  </a:txBody>
                  <a:tcPr>
                    <a:solidFill>
                      <a:srgbClr val="D6E8F7"/>
                    </a:solidFill>
                  </a:tcPr>
                </a:tc>
                <a:tc>
                  <a:txBody>
                    <a:bodyPr/>
                    <a:lstStyle/>
                    <a:p>
                      <a:pPr algn="l"/>
                      <a:r>
                        <a:rPr sz="1200" b="0">
                          <a:solidFill>
                            <a:srgbClr val="333333"/>
                          </a:solidFill>
                        </a:rPr>
                        <a:t>MEMD, MTIC</a:t>
                      </a:r>
                    </a:p>
                  </a:txBody>
                  <a:tcPr>
                    <a:solidFill>
                      <a:srgbClr val="D6E8F7"/>
                    </a:solidFill>
                  </a:tcPr>
                </a:tc>
                <a:tc>
                  <a:txBody>
                    <a:bodyPr/>
                    <a:lstStyle/>
                    <a:p>
                      <a:pPr algn="l"/>
                      <a:r>
                        <a:rPr sz="1200" b="0">
                          <a:solidFill>
                            <a:srgbClr val="333333"/>
                          </a:solidFill>
                        </a:rPr>
                        <a:t>Medium</a:t>
                      </a:r>
                    </a:p>
                  </a:txBody>
                  <a:tcPr>
                    <a:solidFill>
                      <a:srgbClr val="D6E8F7"/>
                    </a:solidFill>
                  </a:tcPr>
                </a:tc>
              </a:tr>
              <a:tr h="674370">
                <a:tc>
                  <a:txBody>
                    <a:bodyPr/>
                    <a:lstStyle/>
                    <a:p>
                      <a:pPr algn="l"/>
                      <a:r>
                        <a:rPr sz="1200" b="0">
                          <a:solidFill>
                            <a:srgbClr val="333333"/>
                          </a:solidFill>
                        </a:rPr>
                        <a:t>Reform (1–3y)</a:t>
                      </a:r>
                    </a:p>
                  </a:txBody>
                  <a:tcPr>
                    <a:solidFill>
                      <a:srgbClr val="FFFFFF"/>
                    </a:solidFill>
                  </a:tcPr>
                </a:tc>
                <a:tc>
                  <a:txBody>
                    <a:bodyPr/>
                    <a:lstStyle/>
                    <a:p>
                      <a:pPr algn="l"/>
                      <a:r>
                        <a:rPr sz="1200" b="0">
                          <a:solidFill>
                            <a:srgbClr val="333333"/>
                          </a:solidFill>
                        </a:rPr>
                        <a:t>Tailings management and reprocessing framework at Kilembe (liability + resource)</a:t>
                      </a:r>
                    </a:p>
                  </a:txBody>
                  <a:tcPr>
                    <a:solidFill>
                      <a:srgbClr val="FFFFFF"/>
                    </a:solidFill>
                  </a:tcPr>
                </a:tc>
                <a:tc>
                  <a:txBody>
                    <a:bodyPr/>
                    <a:lstStyle/>
                    <a:p>
                      <a:pPr algn="l"/>
                      <a:r>
                        <a:rPr sz="1200" b="0">
                          <a:solidFill>
                            <a:srgbClr val="333333"/>
                          </a:solidFill>
                        </a:rPr>
                        <a:t>NEMA, MEMD</a:t>
                      </a:r>
                    </a:p>
                  </a:txBody>
                  <a:tcPr>
                    <a:solidFill>
                      <a:srgbClr val="FFFFFF"/>
                    </a:solidFill>
                  </a:tcPr>
                </a:tc>
                <a:tc>
                  <a:txBody>
                    <a:bodyPr/>
                    <a:lstStyle/>
                    <a:p>
                      <a:pPr algn="l"/>
                      <a:r>
                        <a:rPr sz="1200" b="0">
                          <a:solidFill>
                            <a:srgbClr val="333333"/>
                          </a:solidFill>
                        </a:rPr>
                        <a:t>Medium</a:t>
                      </a:r>
                    </a:p>
                  </a:txBody>
                  <a:tcPr>
                    <a:solidFill>
                      <a:srgbClr val="FFFFFF"/>
                    </a:solidFill>
                  </a:tcPr>
                </a:tc>
              </a:tr>
              <a:tr h="674370">
                <a:tc>
                  <a:txBody>
                    <a:bodyPr/>
                    <a:lstStyle/>
                    <a:p>
                      <a:pPr algn="l"/>
                      <a:r>
                        <a:rPr sz="1200" b="0">
                          <a:solidFill>
                            <a:srgbClr val="333333"/>
                          </a:solidFill>
                        </a:rPr>
                        <a:t>Reform (1–3y)</a:t>
                      </a:r>
                    </a:p>
                  </a:txBody>
                  <a:tcPr>
                    <a:solidFill>
                      <a:srgbClr val="D6E8F7"/>
                    </a:solidFill>
                  </a:tcPr>
                </a:tc>
                <a:tc>
                  <a:txBody>
                    <a:bodyPr/>
                    <a:lstStyle/>
                    <a:p>
                      <a:pPr algn="l"/>
                      <a:r>
                        <a:rPr sz="1200" b="0">
                          <a:solidFill>
                            <a:srgbClr val="333333"/>
                          </a:solidFill>
                        </a:rPr>
                        <a:t>Power and transport upgrades for Kasese/Kilembe</a:t>
                      </a:r>
                    </a:p>
                  </a:txBody>
                  <a:tcPr>
                    <a:solidFill>
                      <a:srgbClr val="D6E8F7"/>
                    </a:solidFill>
                  </a:tcPr>
                </a:tc>
                <a:tc>
                  <a:txBody>
                    <a:bodyPr/>
                    <a:lstStyle/>
                    <a:p>
                      <a:pPr algn="l"/>
                      <a:r>
                        <a:rPr sz="1200" b="0">
                          <a:solidFill>
                            <a:srgbClr val="333333"/>
                          </a:solidFill>
                        </a:rPr>
                        <a:t>ERA, UNRA, MEMD</a:t>
                      </a:r>
                    </a:p>
                  </a:txBody>
                  <a:tcPr>
                    <a:solidFill>
                      <a:srgbClr val="D6E8F7"/>
                    </a:solidFill>
                  </a:tcPr>
                </a:tc>
                <a:tc>
                  <a:txBody>
                    <a:bodyPr/>
                    <a:lstStyle/>
                    <a:p>
                      <a:pPr algn="l"/>
                      <a:r>
                        <a:rPr sz="1200" b="0">
                          <a:solidFill>
                            <a:srgbClr val="333333"/>
                          </a:solidFill>
                        </a:rPr>
                        <a:t>Medium–High</a:t>
                      </a:r>
                    </a:p>
                  </a:txBody>
                  <a:tcPr>
                    <a:solidFill>
                      <a:srgbClr val="D6E8F7"/>
                    </a:solidFill>
                  </a:tcPr>
                </a:tc>
              </a:tr>
              <a:tr h="674370">
                <a:tc>
                  <a:txBody>
                    <a:bodyPr/>
                    <a:lstStyle/>
                    <a:p>
                      <a:pPr algn="l"/>
                      <a:r>
                        <a:rPr sz="1200" b="0">
                          <a:solidFill>
                            <a:srgbClr val="333333"/>
                          </a:solidFill>
                        </a:rPr>
                        <a:t>**Investment (3–5y)**</a:t>
                      </a:r>
                    </a:p>
                  </a:txBody>
                  <a:tcPr>
                    <a:solidFill>
                      <a:srgbClr val="FFFFFF"/>
                    </a:solidFill>
                  </a:tcPr>
                </a:tc>
                <a:tc>
                  <a:txBody>
                    <a:bodyPr/>
                    <a:lstStyle/>
                    <a:p>
                      <a:pPr algn="l"/>
                      <a:r>
                        <a:rPr sz="1200" b="0">
                          <a:solidFill>
                            <a:srgbClr val="333333"/>
                          </a:solidFill>
                        </a:rPr>
                        <a:t>Kilembe mine + cathode/cobalt processing (production-sharing)</a:t>
                      </a:r>
                    </a:p>
                  </a:txBody>
                  <a:tcPr>
                    <a:solidFill>
                      <a:srgbClr val="FFFFFF"/>
                    </a:solidFill>
                  </a:tcPr>
                </a:tc>
                <a:tc>
                  <a:txBody>
                    <a:bodyPr/>
                    <a:lstStyle/>
                    <a:p>
                      <a:pPr algn="l"/>
                      <a:r>
                        <a:rPr sz="1200" b="0">
                          <a:solidFill>
                            <a:srgbClr val="333333"/>
                          </a:solidFill>
                        </a:rPr>
                        <a:t>Private-led / PPP</a:t>
                      </a:r>
                    </a:p>
                  </a:txBody>
                  <a:tcPr>
                    <a:solidFill>
                      <a:srgbClr val="FFFFFF"/>
                    </a:solidFill>
                  </a:tcPr>
                </a:tc>
                <a:tc>
                  <a:txBody>
                    <a:bodyPr/>
                    <a:lstStyle/>
                    <a:p>
                      <a:pPr algn="l"/>
                      <a:r>
                        <a:rPr sz="1200" b="0">
                          <a:solidFill>
                            <a:srgbClr val="333333"/>
                          </a:solidFill>
                        </a:rPr>
                        <a:t>Indicative (see Ch.8)</a:t>
                      </a:r>
                    </a:p>
                  </a:txBody>
                  <a:tcPr>
                    <a:solidFill>
                      <a:srgbClr val="FFFFFF"/>
                    </a:solidFill>
                  </a:tcPr>
                </a:tc>
              </a:tr>
              <a:tr h="674370">
                <a:tc>
                  <a:txBody>
                    <a:bodyPr/>
                    <a:lstStyle/>
                    <a:p>
                      <a:pPr algn="l"/>
                      <a:r>
                        <a:rPr sz="1200" b="0">
                          <a:solidFill>
                            <a:srgbClr val="333333"/>
                          </a:solidFill>
                        </a:rPr>
                        <a:t>Investment (3–5y)</a:t>
                      </a:r>
                    </a:p>
                  </a:txBody>
                  <a:tcPr>
                    <a:solidFill>
                      <a:srgbClr val="D6E8F7"/>
                    </a:solidFill>
                  </a:tcPr>
                </a:tc>
                <a:tc>
                  <a:txBody>
                    <a:bodyPr/>
                    <a:lstStyle/>
                    <a:p>
                      <a:pPr algn="l"/>
                      <a:r>
                        <a:rPr sz="1200" b="0">
                          <a:solidFill>
                            <a:srgbClr val="333333"/>
                          </a:solidFill>
                        </a:rPr>
                        <a:t>Expansion of cable &amp; conductor manufacturing capacity</a:t>
                      </a:r>
                    </a:p>
                  </a:txBody>
                  <a:tcPr>
                    <a:solidFill>
                      <a:srgbClr val="D6E8F7"/>
                    </a:solidFill>
                  </a:tcPr>
                </a:tc>
                <a:tc>
                  <a:txBody>
                    <a:bodyPr/>
                    <a:lstStyle/>
                    <a:p>
                      <a:pPr algn="l"/>
                      <a:r>
                        <a:rPr sz="1200" b="0">
                          <a:solidFill>
                            <a:srgbClr val="333333"/>
                          </a:solidFill>
                        </a:rPr>
                        <a:t>Private-led</a:t>
                      </a:r>
                    </a:p>
                  </a:txBody>
                  <a:tcPr>
                    <a:solidFill>
                      <a:srgbClr val="D6E8F7"/>
                    </a:solidFill>
                  </a:tcPr>
                </a:tc>
                <a:tc>
                  <a:txBody>
                    <a:bodyPr/>
                    <a:lstStyle/>
                    <a:p>
                      <a:pPr algn="l"/>
                      <a:r>
                        <a:rPr sz="1200" b="0">
                          <a:solidFill>
                            <a:srgbClr val="333333"/>
                          </a:solidFill>
                        </a:rPr>
                        <a:t>Indicative (see Ch.8)</a:t>
                      </a:r>
                    </a:p>
                  </a:txBody>
                  <a:tcPr>
                    <a:solidFill>
                      <a:srgbClr val="D6E8F7"/>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Directorate of Geological Survey and Mines, "Redevelopment of Kilembe Mines." https://dgsm.go.ug/redevelopment-of-kilembe-mines/</a:t>
            </a:r>
          </a:p>
          <a:p>
            <a:pPr/>
            <a:r>
              <a:rPr sz="1600" b="0">
                <a:solidFill>
                  <a:srgbClr val="333333"/>
                </a:solidFill>
              </a:rPr>
              <a:t>•  Mining Weekly, "Uganda signs maiden production-sharing deal to revive copper mine" (4 March 2025). https://www.miningweekly.com/article/uganda-signs-maiden-production-sharing-deal-to-revive-copper-mine-2025-03-04</a:t>
            </a:r>
          </a:p>
          <a:p>
            <a:pPr/>
            <a:r>
              <a:rPr sz="1600" b="0">
                <a:solidFill>
                  <a:srgbClr val="333333"/>
                </a:solidFill>
              </a:rPr>
              <a:t>•  Cable Corporation (Uganda), "About us." https://cablecorp-uganda.com/pages/about-us</a:t>
            </a:r>
          </a:p>
          <a:p>
            <a:pPr/>
            <a:r>
              <a:rPr sz="1600" b="0">
                <a:solidFill>
                  <a:srgbClr val="333333"/>
                </a:solidFill>
              </a:rPr>
              <a:t>•  Mehta Group, "Electric Cables." https://www.mehtagroup.com/electric_cables.html</a:t>
            </a:r>
          </a:p>
          <a:p>
            <a:pPr/>
            <a:r>
              <a:rPr sz="1600" b="0">
                <a:solidFill>
                  <a:srgbClr val="333333"/>
                </a:solidFill>
              </a:rPr>
              <a:t>•  International Copper Study Group, World Copper Factbook 2025. https://icsg.org/copper-factbook/</a:t>
            </a:r>
          </a:p>
          <a:p>
            <a:pPr/>
            <a:r>
              <a:rPr sz="1600" b="0">
                <a:solidFill>
                  <a:srgbClr val="333333"/>
                </a:solidFill>
              </a:rPr>
              <a:t>•  ITC TradeMap, trade statistics — HS 8544, 7403, 7408, Uganda, 2024. https://www.trademap.org</a:t>
            </a:r>
          </a:p>
          <a:p>
            <a:pPr/>
            <a:r>
              <a:rPr sz="1600" b="0">
                <a:solidFill>
                  <a:srgbClr val="333333"/>
                </a:solidFill>
              </a:rPr>
              <a:t>•  Electricity Regulatory Authority, end-user tariffs 2025. https://www.era.go.ug/</a:t>
            </a:r>
          </a:p>
          <a:p>
            <a:pPr/>
            <a:r>
              <a:rPr sz="1600" b="0">
                <a:solidFill>
                  <a:srgbClr val="333333"/>
                </a:solidFill>
              </a:rPr>
              <a:t>•  NEMA, Effluent Discharge Regulations 2020. https://www.nema.go.ug/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6</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6: Automotive Value Chain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899160">
                <a:tc>
                  <a:txBody>
                    <a:bodyPr/>
                    <a:lstStyle/>
                    <a:p>
                      <a:pPr algn="l"/>
                      <a:r>
                        <a:rPr sz="1300" b="1">
                          <a:solidFill>
                            <a:srgbClr val="FFFFFF"/>
                          </a:solidFill>
                        </a:rPr>
                        <a:t>Phase</a:t>
                      </a:r>
                    </a:p>
                  </a:txBody>
                  <a:tcPr>
                    <a:solidFill>
                      <a:srgbClr val="002B5B"/>
                    </a:solidFill>
                  </a:tcPr>
                </a:tc>
                <a:tc>
                  <a:txBody>
                    <a:bodyPr/>
                    <a:lstStyle/>
                    <a:p>
                      <a:pPr algn="l"/>
                      <a:r>
                        <a:rPr sz="1300" b="1">
                          <a:solidFill>
                            <a:srgbClr val="FFFFFF"/>
                          </a:solidFill>
                        </a:rPr>
                        <a:t>Activity</a:t>
                      </a:r>
                    </a:p>
                  </a:txBody>
                  <a:tcPr>
                    <a:solidFill>
                      <a:srgbClr val="002B5B"/>
                    </a:solidFill>
                  </a:tcPr>
                </a:tc>
                <a:tc>
                  <a:txBody>
                    <a:bodyPr/>
                    <a:lstStyle/>
                    <a:p>
                      <a:pPr algn="l"/>
                      <a:r>
                        <a:rPr sz="1300" b="1">
                          <a:solidFill>
                            <a:srgbClr val="FFFFFF"/>
                          </a:solidFill>
                        </a:rPr>
                        <a:t>Main inputs</a:t>
                      </a:r>
                    </a:p>
                  </a:txBody>
                  <a:tcPr>
                    <a:solidFill>
                      <a:srgbClr val="002B5B"/>
                    </a:solidFill>
                  </a:tcPr>
                </a:tc>
                <a:tc>
                  <a:txBody>
                    <a:bodyPr/>
                    <a:lstStyle/>
                    <a:p>
                      <a:pPr algn="l"/>
                      <a:r>
                        <a:rPr sz="1300" b="1">
                          <a:solidFill>
                            <a:srgbClr val="FFFFFF"/>
                          </a:solidFill>
                        </a:rPr>
                        <a:t>Output</a:t>
                      </a:r>
                    </a:p>
                  </a:txBody>
                  <a:tcPr>
                    <a:solidFill>
                      <a:srgbClr val="002B5B"/>
                    </a:solidFill>
                  </a:tcPr>
                </a:tc>
              </a:tr>
              <a:tr h="899160">
                <a:tc>
                  <a:txBody>
                    <a:bodyPr/>
                    <a:lstStyle/>
                    <a:p>
                      <a:pPr algn="l"/>
                      <a:r>
                        <a:rPr sz="1200" b="0">
                          <a:solidFill>
                            <a:srgbClr val="333333"/>
                          </a:solidFill>
                        </a:rPr>
                        <a:t>I</a:t>
                      </a:r>
                    </a:p>
                  </a:txBody>
                  <a:tcPr>
                    <a:solidFill>
                      <a:srgbClr val="D6E8F7"/>
                    </a:solidFill>
                  </a:tcPr>
                </a:tc>
                <a:tc>
                  <a:txBody>
                    <a:bodyPr/>
                    <a:lstStyle/>
                    <a:p>
                      <a:pPr algn="l"/>
                      <a:r>
                        <a:rPr sz="1200" b="0">
                          <a:solidFill>
                            <a:srgbClr val="333333"/>
                          </a:solidFill>
                        </a:rPr>
                        <a:t>Raw materials</a:t>
                      </a:r>
                    </a:p>
                  </a:txBody>
                  <a:tcPr>
                    <a:solidFill>
                      <a:srgbClr val="D6E8F7"/>
                    </a:solidFill>
                  </a:tcPr>
                </a:tc>
                <a:tc>
                  <a:txBody>
                    <a:bodyPr/>
                    <a:lstStyle/>
                    <a:p>
                      <a:pPr algn="l"/>
                      <a:r>
                        <a:rPr sz="1200" b="0">
                          <a:solidFill>
                            <a:srgbClr val="333333"/>
                          </a:solidFill>
                        </a:rPr>
                        <a:t>Steel, copper, aluminium, plastics, glass, rubber</a:t>
                      </a:r>
                    </a:p>
                  </a:txBody>
                  <a:tcPr>
                    <a:solidFill>
                      <a:srgbClr val="D6E8F7"/>
                    </a:solidFill>
                  </a:tcPr>
                </a:tc>
                <a:tc>
                  <a:txBody>
                    <a:bodyPr/>
                    <a:lstStyle/>
                    <a:p>
                      <a:pPr algn="l"/>
                      <a:r>
                        <a:rPr sz="1200" b="0">
                          <a:solidFill>
                            <a:srgbClr val="333333"/>
                          </a:solidFill>
                        </a:rPr>
                        <a:t>Material inputs</a:t>
                      </a:r>
                    </a:p>
                  </a:txBody>
                  <a:tcPr>
                    <a:solidFill>
                      <a:srgbClr val="D6E8F7"/>
                    </a:solidFill>
                  </a:tcPr>
                </a:tc>
              </a:tr>
              <a:tr h="899160">
                <a:tc>
                  <a:txBody>
                    <a:bodyPr/>
                    <a:lstStyle/>
                    <a:p>
                      <a:pPr algn="l"/>
                      <a:r>
                        <a:rPr sz="1200" b="0">
                          <a:solidFill>
                            <a:srgbClr val="333333"/>
                          </a:solidFill>
                        </a:rPr>
                        <a:t>II</a:t>
                      </a:r>
                    </a:p>
                  </a:txBody>
                  <a:tcPr>
                    <a:solidFill>
                      <a:srgbClr val="FFFFFF"/>
                    </a:solidFill>
                  </a:tcPr>
                </a:tc>
                <a:tc>
                  <a:txBody>
                    <a:bodyPr/>
                    <a:lstStyle/>
                    <a:p>
                      <a:pPr algn="l"/>
                      <a:r>
                        <a:rPr sz="1200" b="0">
                          <a:solidFill>
                            <a:srgbClr val="333333"/>
                          </a:solidFill>
                        </a:rPr>
                        <a:t>Components</a:t>
                      </a:r>
                    </a:p>
                  </a:txBody>
                  <a:tcPr>
                    <a:solidFill>
                      <a:srgbClr val="FFFFFF"/>
                    </a:solidFill>
                  </a:tcPr>
                </a:tc>
                <a:tc>
                  <a:txBody>
                    <a:bodyPr/>
                    <a:lstStyle/>
                    <a:p>
                      <a:pPr algn="l"/>
                      <a:r>
                        <a:rPr sz="1200" b="0">
                          <a:solidFill>
                            <a:srgbClr val="333333"/>
                          </a:solidFill>
                        </a:rPr>
                        <a:t>Materials</a:t>
                      </a:r>
                    </a:p>
                  </a:txBody>
                  <a:tcPr>
                    <a:solidFill>
                      <a:srgbClr val="FFFFFF"/>
                    </a:solidFill>
                  </a:tcPr>
                </a:tc>
                <a:tc>
                  <a:txBody>
                    <a:bodyPr/>
                    <a:lstStyle/>
                    <a:p>
                      <a:pPr algn="l"/>
                      <a:r>
                        <a:rPr sz="1200" b="0">
                          <a:solidFill>
                            <a:srgbClr val="333333"/>
                          </a:solidFill>
                        </a:rPr>
                        <a:t>Body panels, frames, seats, wiring, batteries, tyres</a:t>
                      </a:r>
                    </a:p>
                  </a:txBody>
                  <a:tcPr>
                    <a:solidFill>
                      <a:srgbClr val="FFFFFF"/>
                    </a:solidFill>
                  </a:tcPr>
                </a:tc>
              </a:tr>
              <a:tr h="899160">
                <a:tc>
                  <a:txBody>
                    <a:bodyPr/>
                    <a:lstStyle/>
                    <a:p>
                      <a:pPr algn="l"/>
                      <a:r>
                        <a:rPr sz="1200" b="0">
                          <a:solidFill>
                            <a:srgbClr val="333333"/>
                          </a:solidFill>
                        </a:rPr>
                        <a:t>III</a:t>
                      </a:r>
                    </a:p>
                  </a:txBody>
                  <a:tcPr>
                    <a:solidFill>
                      <a:srgbClr val="D6E8F7"/>
                    </a:solidFill>
                  </a:tcPr>
                </a:tc>
                <a:tc>
                  <a:txBody>
                    <a:bodyPr/>
                    <a:lstStyle/>
                    <a:p>
                      <a:pPr algn="l"/>
                      <a:r>
                        <a:rPr sz="1200" b="0">
                          <a:solidFill>
                            <a:srgbClr val="333333"/>
                          </a:solidFill>
                        </a:rPr>
                        <a:t>Assembly</a:t>
                      </a:r>
                    </a:p>
                  </a:txBody>
                  <a:tcPr>
                    <a:solidFill>
                      <a:srgbClr val="D6E8F7"/>
                    </a:solidFill>
                  </a:tcPr>
                </a:tc>
                <a:tc>
                  <a:txBody>
                    <a:bodyPr/>
                    <a:lstStyle/>
                    <a:p>
                      <a:pPr algn="l"/>
                      <a:r>
                        <a:rPr sz="1200" b="0">
                          <a:solidFill>
                            <a:srgbClr val="333333"/>
                          </a:solidFill>
                        </a:rPr>
                        <a:t>Components / CKD-SKD kits</a:t>
                      </a:r>
                    </a:p>
                  </a:txBody>
                  <a:tcPr>
                    <a:solidFill>
                      <a:srgbClr val="D6E8F7"/>
                    </a:solidFill>
                  </a:tcPr>
                </a:tc>
                <a:tc>
                  <a:txBody>
                    <a:bodyPr/>
                    <a:lstStyle/>
                    <a:p>
                      <a:pPr algn="l"/>
                      <a:r>
                        <a:rPr sz="1200" b="0">
                          <a:solidFill>
                            <a:srgbClr val="333333"/>
                          </a:solidFill>
                        </a:rPr>
                        <a:t>Vehicles, buses, motorcycles</a:t>
                      </a:r>
                    </a:p>
                  </a:txBody>
                  <a:tcPr>
                    <a:solidFill>
                      <a:srgbClr val="D6E8F7"/>
                    </a:solidFill>
                  </a:tcPr>
                </a:tc>
              </a:tr>
              <a:tr h="899160">
                <a:tc>
                  <a:txBody>
                    <a:bodyPr/>
                    <a:lstStyle/>
                    <a:p>
                      <a:pPr algn="l"/>
                      <a:r>
                        <a:rPr sz="1200" b="0">
                          <a:solidFill>
                            <a:srgbClr val="333333"/>
                          </a:solidFill>
                        </a:rPr>
                        <a:t>IV</a:t>
                      </a:r>
                    </a:p>
                  </a:txBody>
                  <a:tcPr>
                    <a:solidFill>
                      <a:srgbClr val="FFFFFF"/>
                    </a:solidFill>
                  </a:tcPr>
                </a:tc>
                <a:tc>
                  <a:txBody>
                    <a:bodyPr/>
                    <a:lstStyle/>
                    <a:p>
                      <a:pPr algn="l"/>
                      <a:r>
                        <a:rPr sz="1200" b="0">
                          <a:solidFill>
                            <a:srgbClr val="333333"/>
                          </a:solidFill>
                        </a:rPr>
                        <a:t>Distribution &amp; sales</a:t>
                      </a:r>
                    </a:p>
                  </a:txBody>
                  <a:tcPr>
                    <a:solidFill>
                      <a:srgbClr val="FFFFFF"/>
                    </a:solidFill>
                  </a:tcPr>
                </a:tc>
                <a:tc>
                  <a:txBody>
                    <a:bodyPr/>
                    <a:lstStyle/>
                    <a:p>
                      <a:pPr algn="l"/>
                      <a:r>
                        <a:rPr sz="1200" b="0">
                          <a:solidFill>
                            <a:srgbClr val="333333"/>
                          </a:solidFill>
                        </a:rPr>
                        <a:t>Vehicles</a:t>
                      </a:r>
                    </a:p>
                  </a:txBody>
                  <a:tcPr>
                    <a:solidFill>
                      <a:srgbClr val="FFFFFF"/>
                    </a:solidFill>
                  </a:tcPr>
                </a:tc>
                <a:tc>
                  <a:txBody>
                    <a:bodyPr/>
                    <a:lstStyle/>
                    <a:p>
                      <a:pPr algn="l"/>
                      <a:r>
                        <a:rPr sz="1200" b="0">
                          <a:solidFill>
                            <a:srgbClr val="333333"/>
                          </a:solidFill>
                        </a:rPr>
                        <a:t>New &amp; used vehicle sales</a:t>
                      </a:r>
                    </a:p>
                  </a:txBody>
                  <a:tcPr>
                    <a:solidFill>
                      <a:srgbClr val="FFFFFF"/>
                    </a:solidFill>
                  </a:tcPr>
                </a:tc>
              </a:tr>
              <a:tr h="899160">
                <a:tc>
                  <a:txBody>
                    <a:bodyPr/>
                    <a:lstStyle/>
                    <a:p>
                      <a:pPr algn="l"/>
                      <a:r>
                        <a:rPr sz="1200" b="0">
                          <a:solidFill>
                            <a:srgbClr val="333333"/>
                          </a:solidFill>
                        </a:rPr>
                        <a:t>V</a:t>
                      </a:r>
                    </a:p>
                  </a:txBody>
                  <a:tcPr>
                    <a:solidFill>
                      <a:srgbClr val="D6E8F7"/>
                    </a:solidFill>
                  </a:tcPr>
                </a:tc>
                <a:tc>
                  <a:txBody>
                    <a:bodyPr/>
                    <a:lstStyle/>
                    <a:p>
                      <a:pPr algn="l"/>
                      <a:r>
                        <a:rPr sz="1200" b="0">
                          <a:solidFill>
                            <a:srgbClr val="333333"/>
                          </a:solidFill>
                        </a:rPr>
                        <a:t>After-market</a:t>
                      </a:r>
                    </a:p>
                  </a:txBody>
                  <a:tcPr>
                    <a:solidFill>
                      <a:srgbClr val="D6E8F7"/>
                    </a:solidFill>
                  </a:tcPr>
                </a:tc>
                <a:tc>
                  <a:txBody>
                    <a:bodyPr/>
                    <a:lstStyle/>
                    <a:p>
                      <a:pPr algn="l"/>
                      <a:r>
                        <a:rPr sz="1200" b="0">
                          <a:solidFill>
                            <a:srgbClr val="333333"/>
                          </a:solidFill>
                        </a:rPr>
                        <a:t>Spare parts</a:t>
                      </a:r>
                    </a:p>
                  </a:txBody>
                  <a:tcPr>
                    <a:solidFill>
                      <a:srgbClr val="D6E8F7"/>
                    </a:solidFill>
                  </a:tcPr>
                </a:tc>
                <a:tc>
                  <a:txBody>
                    <a:bodyPr/>
                    <a:lstStyle/>
                    <a:p>
                      <a:pPr algn="l"/>
                      <a:r>
                        <a:rPr sz="1200" b="0">
                          <a:solidFill>
                            <a:srgbClr val="333333"/>
                          </a:solidFill>
                        </a:rPr>
                        <a:t>Parts, service, repair</a:t>
                      </a:r>
                    </a:p>
                  </a:txBody>
                  <a:tcPr>
                    <a:solidFill>
                      <a:srgbClr val="D6E8F7"/>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automotive value chain spans inputs (steel, copper, plastics, glass, rubber, electronics), component manufacture, assembly, and after-market parts and service. Uganda is at an early, deliberately state-anchored stage: it has a new flagship assembly capability (Kiira Motors) and an active motorcycle-assembly and body-fabrication base, but the market is overwhelmingly served by imported used vehicles.</a:t>
            </a:r>
          </a:p>
          <a:p>
            <a:pPr/>
            <a:r>
              <a:rPr sz="1600" b="0">
                <a:solidFill>
                  <a:srgbClr val="333333"/>
                </a:solidFill>
              </a:rPr>
              <a:t>•  Cross-chain linkage. This chapter is where Report 1's three chains connect: steel (Chapter 4) and copper/wiring (Chapter 5) are direct inputs to vehicle manufacture. A domestic automotive anchor pulls demand through the metals chains — the integrated industrial logic behind grouping these three.</a:t>
            </a:r>
          </a:p>
          <a:p>
            <a:pPr/>
            <a:r>
              <a:rPr sz="1600" b="0">
                <a:solidFill>
                  <a:srgbClr val="333333"/>
                </a:solidFill>
              </a:rPr>
              <a:t>•  Where value is captured and lost. The market is met mainly by imported used vehicles: Uganda imported USD 298.4 million of motor cars (HS 8703), USD 169.9 million of goods vehicles (HS 8704), and USD 157.1 million of motorcycles (HS 8711) in 2024, plus USD 31.7 million of parts and accessories (HS 8708) (ITC TradeMap, 2024). Total vehicle and parts imports thus exceed USD 650 million a year. By volume, Uganda imports roughly 48,700 used vehicles annually (Mobility Foresights). Almost all value is captured offshore.</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1078992">
                <a:tc>
                  <a:txBody>
                    <a:bodyPr/>
                    <a:lstStyle/>
                    <a:p>
                      <a:pPr algn="l"/>
                      <a:r>
                        <a:rPr sz="1300" b="1">
                          <a:solidFill>
                            <a:srgbClr val="FFFFFF"/>
                          </a:solidFill>
                        </a:rPr>
                        <a:t>Segment (HS)</a:t>
                      </a:r>
                    </a:p>
                  </a:txBody>
                  <a:tcPr>
                    <a:solidFill>
                      <a:srgbClr val="002B5B"/>
                    </a:solidFill>
                  </a:tcPr>
                </a:tc>
                <a:tc>
                  <a:txBody>
                    <a:bodyPr/>
                    <a:lstStyle/>
                    <a:p>
                      <a:pPr algn="l"/>
                      <a:r>
                        <a:rPr sz="1300" b="1">
                          <a:solidFill>
                            <a:srgbClr val="FFFFFF"/>
                          </a:solidFill>
                        </a:rPr>
                        <a:t>Imports 2024</a:t>
                      </a:r>
                    </a:p>
                  </a:txBody>
                  <a:tcPr>
                    <a:solidFill>
                      <a:srgbClr val="002B5B"/>
                    </a:solidFill>
                  </a:tcPr>
                </a:tc>
                <a:tc>
                  <a:txBody>
                    <a:bodyPr/>
                    <a:lstStyle/>
                    <a:p>
                      <a:pPr algn="l"/>
                      <a:r>
                        <a:rPr sz="1300" b="1">
                          <a:solidFill>
                            <a:srgbClr val="FFFFFF"/>
                          </a:solidFill>
                        </a:rPr>
                        <a:t>Trend</a:t>
                      </a:r>
                    </a:p>
                  </a:txBody>
                  <a:tcPr>
                    <a:solidFill>
                      <a:srgbClr val="002B5B"/>
                    </a:solidFill>
                  </a:tcPr>
                </a:tc>
                <a:tc>
                  <a:txBody>
                    <a:bodyPr/>
                    <a:lstStyle/>
                    <a:p>
                      <a:pPr algn="l"/>
                      <a:r>
                        <a:rPr sz="1300" b="1">
                          <a:solidFill>
                            <a:srgbClr val="FFFFFF"/>
                          </a:solidFill>
                        </a:rPr>
                        <a:t>Reading</a:t>
                      </a:r>
                    </a:p>
                  </a:txBody>
                  <a:tcPr>
                    <a:solidFill>
                      <a:srgbClr val="002B5B"/>
                    </a:solidFill>
                  </a:tcPr>
                </a:tc>
              </a:tr>
              <a:tr h="1078992">
                <a:tc>
                  <a:txBody>
                    <a:bodyPr/>
                    <a:lstStyle/>
                    <a:p>
                      <a:pPr algn="l"/>
                      <a:r>
                        <a:rPr sz="1200" b="0">
                          <a:solidFill>
                            <a:srgbClr val="333333"/>
                          </a:solidFill>
                        </a:rPr>
                        <a:t>Motor cars (8703)</a:t>
                      </a:r>
                    </a:p>
                  </a:txBody>
                  <a:tcPr>
                    <a:solidFill>
                      <a:srgbClr val="D6E8F7"/>
                    </a:solidFill>
                  </a:tcPr>
                </a:tc>
                <a:tc>
                  <a:txBody>
                    <a:bodyPr/>
                    <a:lstStyle/>
                    <a:p>
                      <a:pPr algn="l"/>
                      <a:r>
                        <a:rPr sz="1200" b="0">
                          <a:solidFill>
                            <a:srgbClr val="333333"/>
                          </a:solidFill>
                        </a:rPr>
                        <a:t>USD 298.4m</a:t>
                      </a:r>
                    </a:p>
                  </a:txBody>
                  <a:tcPr>
                    <a:solidFill>
                      <a:srgbClr val="D6E8F7"/>
                    </a:solidFill>
                  </a:tcPr>
                </a:tc>
                <a:tc>
                  <a:txBody>
                    <a:bodyPr/>
                    <a:lstStyle/>
                    <a:p>
                      <a:pPr algn="l"/>
                      <a:r>
                        <a:rPr sz="1200" b="0">
                          <a:solidFill>
                            <a:srgbClr val="333333"/>
                          </a:solidFill>
                        </a:rPr>
                        <a:t>Rising (USD 281m in 2023)</a:t>
                      </a:r>
                    </a:p>
                  </a:txBody>
                  <a:tcPr>
                    <a:solidFill>
                      <a:srgbClr val="D6E8F7"/>
                    </a:solidFill>
                  </a:tcPr>
                </a:tc>
                <a:tc>
                  <a:txBody>
                    <a:bodyPr/>
                    <a:lstStyle/>
                    <a:p>
                      <a:pPr algn="l"/>
                      <a:r>
                        <a:rPr sz="1200" b="0">
                          <a:solidFill>
                            <a:srgbClr val="333333"/>
                          </a:solidFill>
                        </a:rPr>
                        <a:t>Dominated by used imports</a:t>
                      </a:r>
                    </a:p>
                  </a:txBody>
                  <a:tcPr>
                    <a:solidFill>
                      <a:srgbClr val="D6E8F7"/>
                    </a:solidFill>
                  </a:tcPr>
                </a:tc>
              </a:tr>
              <a:tr h="1078992">
                <a:tc>
                  <a:txBody>
                    <a:bodyPr/>
                    <a:lstStyle/>
                    <a:p>
                      <a:pPr algn="l"/>
                      <a:r>
                        <a:rPr sz="1200" b="0">
                          <a:solidFill>
                            <a:srgbClr val="333333"/>
                          </a:solidFill>
                        </a:rPr>
                        <a:t>Goods vehicles (8704)</a:t>
                      </a:r>
                    </a:p>
                  </a:txBody>
                  <a:tcPr>
                    <a:solidFill>
                      <a:srgbClr val="FFFFFF"/>
                    </a:solidFill>
                  </a:tcPr>
                </a:tc>
                <a:tc>
                  <a:txBody>
                    <a:bodyPr/>
                    <a:lstStyle/>
                    <a:p>
                      <a:pPr algn="l"/>
                      <a:r>
                        <a:rPr sz="1200" b="0">
                          <a:solidFill>
                            <a:srgbClr val="333333"/>
                          </a:solidFill>
                        </a:rPr>
                        <a:t>USD 169.9m</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Trucks/pickups, largely used</a:t>
                      </a:r>
                    </a:p>
                  </a:txBody>
                  <a:tcPr>
                    <a:solidFill>
                      <a:srgbClr val="FFFFFF"/>
                    </a:solidFill>
                  </a:tcPr>
                </a:tc>
              </a:tr>
              <a:tr h="1078992">
                <a:tc>
                  <a:txBody>
                    <a:bodyPr/>
                    <a:lstStyle/>
                    <a:p>
                      <a:pPr algn="l"/>
                      <a:r>
                        <a:rPr sz="1200" b="0">
                          <a:solidFill>
                            <a:srgbClr val="333333"/>
                          </a:solidFill>
                        </a:rPr>
                        <a:t>Motorcycles (8711)</a:t>
                      </a:r>
                    </a:p>
                  </a:txBody>
                  <a:tcPr>
                    <a:solidFill>
                      <a:srgbClr val="D6E8F7"/>
                    </a:solidFill>
                  </a:tcPr>
                </a:tc>
                <a:tc>
                  <a:txBody>
                    <a:bodyPr/>
                    <a:lstStyle/>
                    <a:p>
                      <a:pPr algn="l"/>
                      <a:r>
                        <a:rPr sz="1200" b="0">
                          <a:solidFill>
                            <a:srgbClr val="333333"/>
                          </a:solidFill>
                        </a:rPr>
                        <a:t>USD 157.1m</a:t>
                      </a:r>
                    </a:p>
                  </a:txBody>
                  <a:tcPr>
                    <a:solidFill>
                      <a:srgbClr val="D6E8F7"/>
                    </a:solidFill>
                  </a:tcPr>
                </a:tc>
                <a:tc>
                  <a:txBody>
                    <a:bodyPr/>
                    <a:lstStyle/>
                    <a:p>
                      <a:pPr algn="l"/>
                      <a:r>
                        <a:rPr sz="1200" b="0">
                          <a:solidFill>
                            <a:srgbClr val="333333"/>
                          </a:solidFill>
                        </a:rPr>
                        <a:t>Rising</a:t>
                      </a:r>
                    </a:p>
                  </a:txBody>
                  <a:tcPr>
                    <a:solidFill>
                      <a:srgbClr val="D6E8F7"/>
                    </a:solidFill>
                  </a:tcPr>
                </a:tc>
                <a:tc>
                  <a:txBody>
                    <a:bodyPr/>
                    <a:lstStyle/>
                    <a:p>
                      <a:pPr algn="l"/>
                      <a:r>
                        <a:rPr sz="1200" b="0">
                          <a:solidFill>
                            <a:srgbClr val="333333"/>
                          </a:solidFill>
                        </a:rPr>
                        <a:t>Boda-boda market; CKD assembly opportunity</a:t>
                      </a:r>
                    </a:p>
                  </a:txBody>
                  <a:tcPr>
                    <a:solidFill>
                      <a:srgbClr val="D6E8F7"/>
                    </a:solidFill>
                  </a:tcPr>
                </a:tc>
              </a:tr>
              <a:tr h="1078992">
                <a:tc>
                  <a:txBody>
                    <a:bodyPr/>
                    <a:lstStyle/>
                    <a:p>
                      <a:pPr algn="l"/>
                      <a:r>
                        <a:rPr sz="1200" b="0">
                          <a:solidFill>
                            <a:srgbClr val="333333"/>
                          </a:solidFill>
                        </a:rPr>
                        <a:t>Parts &amp; accessories (8708)</a:t>
                      </a:r>
                    </a:p>
                  </a:txBody>
                  <a:tcPr>
                    <a:solidFill>
                      <a:srgbClr val="FFFFFF"/>
                    </a:solidFill>
                  </a:tcPr>
                </a:tc>
                <a:tc>
                  <a:txBody>
                    <a:bodyPr/>
                    <a:lstStyle/>
                    <a:p>
                      <a:pPr algn="l"/>
                      <a:r>
                        <a:rPr sz="1200" b="0">
                          <a:solidFill>
                            <a:srgbClr val="333333"/>
                          </a:solidFill>
                        </a:rPr>
                        <a:t>USD 31.7m</a:t>
                      </a:r>
                    </a:p>
                  </a:txBody>
                  <a:tcPr>
                    <a:solidFill>
                      <a:srgbClr val="FFFFFF"/>
                    </a:solidFill>
                  </a:tcPr>
                </a:tc>
                <a:tc>
                  <a:txBody>
                    <a:bodyPr/>
                    <a:lstStyle/>
                    <a:p>
                      <a:pPr algn="l"/>
                      <a:r>
                        <a:rPr sz="1200" b="0">
                          <a:solidFill>
                            <a:srgbClr val="333333"/>
                          </a:solidFill>
                        </a:rPr>
                        <a:t>Rising</a:t>
                      </a:r>
                    </a:p>
                  </a:txBody>
                  <a:tcPr>
                    <a:solidFill>
                      <a:srgbClr val="FFFFFF"/>
                    </a:solidFill>
                  </a:tcPr>
                </a:tc>
                <a:tc>
                  <a:txBody>
                    <a:bodyPr/>
                    <a:lstStyle/>
                    <a:p>
                      <a:pPr algn="l"/>
                      <a:r>
                        <a:rPr sz="1200" b="0">
                          <a:solidFill>
                            <a:srgbClr val="333333"/>
                          </a:solidFill>
                        </a:rPr>
                        <a:t>After-market; localisation opportunity</a:t>
                      </a:r>
                    </a:p>
                  </a:txBody>
                  <a:tcPr>
                    <a:solidFill>
                      <a:srgbClr val="FFFFFF"/>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Kiira Motors Corporation (KMC) — the anchor. Uganda's flagship automotive investment reached a milestone on 27 September 2025, when the Kiira Vehicle Plant at Jinja was commissioned — described at launch as one of Africa's most advanced vehicle plants. Key facts (Uganda Broadcasting Corporation, 2025; Kiira Motors Corporation):</a:t>
            </a:r>
          </a:p>
          <a:p>
            <a:pPr/>
            <a:r>
              <a:rPr sz="1600" b="0">
                <a:solidFill>
                  <a:srgbClr val="333333"/>
                </a:solidFill>
              </a:rPr>
              <a:t>•  Motorcycle and bus-body assembly. Beyond KMC, Uganda has an established base in:</a:t>
            </a:r>
          </a:p>
          <a:p>
            <a:pPr/>
            <a:r>
              <a:rPr sz="1600" b="0">
                <a:solidFill>
                  <a:srgbClr val="333333"/>
                </a:solidFill>
              </a:rPr>
              <a:t>•  Trade position (ITC TradeMap, 2024).</a:t>
            </a:r>
          </a:p>
          <a:p>
            <a:pPr/>
            <a:r>
              <a:rPr sz="1600" b="0">
                <a:solidFill>
                  <a:srgbClr val="333333"/>
                </a:solidFill>
              </a:rPr>
              <a:t>•  Exports are negligible — Uganda is overwhelmingly a vehicle-importing market, which is precisely the substitution and assembly opportunity KMC and motorcycle assemblers target.</a:t>
            </a:r>
          </a:p>
          <a:p>
            <a:pPr/>
            <a:r>
              <a:rPr sz="1600" b="0">
                <a:solidFill>
                  <a:srgbClr val="333333"/>
                </a:solidFill>
              </a:rPr>
              <a:t>•  Installed capacity ~2,500 vehicles/year, targeting 10,000 in the medium term.</a:t>
            </a:r>
          </a:p>
          <a:p>
            <a:pPr/>
            <a:r>
              <a:rPr sz="1600" b="0">
                <a:solidFill>
                  <a:srgbClr val="333333"/>
                </a:solidFill>
              </a:rPr>
              <a:t>•  At commissioning, KMC had built 37 electric vehicles and 27 diesel buses.</a:t>
            </a:r>
          </a:p>
          <a:p>
            <a:pPr/>
            <a:r>
              <a:rPr sz="1600" b="0">
                <a:solidFill>
                  <a:srgbClr val="333333"/>
                </a:solidFill>
              </a:rPr>
              <a:t>•  Flagship products include the Kayoola electric buses; KMC is positioning for public-transport and institutional fleets.</a:t>
            </a:r>
          </a:p>
          <a:p>
            <a:pPr/>
            <a:r>
              <a:rPr sz="1600" b="0">
                <a:solidFill>
                  <a:srgbClr val="333333"/>
                </a:solidFill>
              </a:rPr>
              <a:t>•  KMC reported a financing gap (~UGX 50bn) for FY2025/26 scale-up — capital is the binding constraint on ramp-up.</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Motorcycle assembly — firms assemble Indian-brand motorcycles (Bajaj, TVS) from kits for the dominant boda-boda market.</a:t>
            </a:r>
          </a:p>
          <a:p>
            <a:pPr/>
            <a:r>
              <a:rPr sz="1600" b="0">
                <a:solidFill>
                  <a:srgbClr val="333333"/>
                </a:solidFill>
              </a:rPr>
              <a:t>•  Bus and truck body fabrication — local fabricators build bodies on imported chassis for buses, trucks, and trailers.</a:t>
            </a:r>
          </a:p>
          <a:p>
            <a:pPr/>
            <a:r>
              <a:rPr sz="1600" b="0">
                <a:solidFill>
                  <a:srgbClr val="333333"/>
                </a:solidFill>
              </a:rPr>
              <a:t>•  Spare parts trade — a large after-market parts sector (e.g. the Ndeeba and Kisekka cluster), currently import-based.</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6.C Binding Constraints Analysis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6094476"/>
                <a:gridCol w="6094476"/>
              </a:tblGrid>
              <a:tr h="490450">
                <a:tc>
                  <a:txBody>
                    <a:bodyPr/>
                    <a:lstStyle/>
                    <a:p>
                      <a:pPr algn="l"/>
                      <a:r>
                        <a:rPr sz="1300" b="1">
                          <a:solidFill>
                            <a:srgbClr val="FFFFFF"/>
                          </a:solidFill>
                        </a:rPr>
                        <a:t>Dimension</a:t>
                      </a:r>
                    </a:p>
                  </a:txBody>
                  <a:tcPr>
                    <a:solidFill>
                      <a:srgbClr val="002B5B"/>
                    </a:solidFill>
                  </a:tcPr>
                </a:tc>
                <a:tc>
                  <a:txBody>
                    <a:bodyPr/>
                    <a:lstStyle/>
                    <a:p>
                      <a:pPr algn="l"/>
                      <a:r>
                        <a:rPr sz="1300" b="1">
                          <a:solidFill>
                            <a:srgbClr val="FFFFFF"/>
                          </a:solidFill>
                        </a:rPr>
                        <a:t>Assessment for Automotive</a:t>
                      </a:r>
                    </a:p>
                  </a:txBody>
                  <a:tcPr>
                    <a:solidFill>
                      <a:srgbClr val="002B5B"/>
                    </a:solidFill>
                  </a:tcPr>
                </a:tc>
              </a:tr>
              <a:tr h="490450">
                <a:tc>
                  <a:txBody>
                    <a:bodyPr/>
                    <a:lstStyle/>
                    <a:p>
                      <a:pPr algn="l"/>
                      <a:r>
                        <a:rPr sz="1200" b="0">
                          <a:solidFill>
                            <a:srgbClr val="333333"/>
                          </a:solidFill>
                        </a:rPr>
                        <a:t>**Inputs / raw materials**</a:t>
                      </a:r>
                    </a:p>
                  </a:txBody>
                  <a:tcPr>
                    <a:solidFill>
                      <a:srgbClr val="D6E8F7"/>
                    </a:solidFill>
                  </a:tcPr>
                </a:tc>
                <a:tc>
                  <a:txBody>
                    <a:bodyPr/>
                    <a:lstStyle/>
                    <a:p>
                      <a:pPr algn="l"/>
                      <a:r>
                        <a:rPr sz="1200" b="0">
                          <a:solidFill>
                            <a:srgbClr val="333333"/>
                          </a:solidFill>
                        </a:rPr>
                        <a:t>Depends on domestic steel/copper (Chapters 4–5, still maturing) and imported components/CKD kits. Local content is currently low.</a:t>
                      </a:r>
                    </a:p>
                  </a:txBody>
                  <a:tcPr>
                    <a:solidFill>
                      <a:srgbClr val="D6E8F7"/>
                    </a:solidFill>
                  </a:tcPr>
                </a:tc>
              </a:tr>
              <a:tr h="490450">
                <a:tc>
                  <a:txBody>
                    <a:bodyPr/>
                    <a:lstStyle/>
                    <a:p>
                      <a:pPr algn="l"/>
                      <a:r>
                        <a:rPr sz="1200" b="0">
                          <a:solidFill>
                            <a:srgbClr val="333333"/>
                          </a:solidFill>
                        </a:rPr>
                        <a:t>**Technology &amp; productivity**</a:t>
                      </a:r>
                    </a:p>
                  </a:txBody>
                  <a:tcPr>
                    <a:solidFill>
                      <a:srgbClr val="FFFFFF"/>
                    </a:solidFill>
                  </a:tcPr>
                </a:tc>
                <a:tc>
                  <a:txBody>
                    <a:bodyPr/>
                    <a:lstStyle/>
                    <a:p>
                      <a:pPr algn="l"/>
                      <a:r>
                        <a:rPr sz="1200" b="0">
                          <a:solidFill>
                            <a:srgbClr val="333333"/>
                          </a:solidFill>
                        </a:rPr>
                        <a:t>KMC brings modern assembly technology; component manufacture and tooling remain shallow. EV capability (Kayoola) is a genuine differentiator.</a:t>
                      </a:r>
                    </a:p>
                  </a:txBody>
                  <a:tcPr>
                    <a:solidFill>
                      <a:srgbClr val="FFFFFF"/>
                    </a:solidFill>
                  </a:tcPr>
                </a:tc>
              </a:tr>
              <a:tr h="490450">
                <a:tc>
                  <a:txBody>
                    <a:bodyPr/>
                    <a:lstStyle/>
                    <a:p>
                      <a:pPr algn="l"/>
                      <a:r>
                        <a:rPr sz="1200" b="0">
                          <a:solidFill>
                            <a:srgbClr val="333333"/>
                          </a:solidFill>
                        </a:rPr>
                        <a:t>**Energy**</a:t>
                      </a:r>
                    </a:p>
                  </a:txBody>
                  <a:tcPr>
                    <a:solidFill>
                      <a:srgbClr val="D6E8F7"/>
                    </a:solidFill>
                  </a:tcPr>
                </a:tc>
                <a:tc>
                  <a:txBody>
                    <a:bodyPr/>
                    <a:lstStyle/>
                    <a:p>
                      <a:pPr algn="l"/>
                      <a:r>
                        <a:rPr sz="1200" b="0">
                          <a:solidFill>
                            <a:srgbClr val="333333"/>
                          </a:solidFill>
                        </a:rPr>
                        <a:t>Assembly is less energy-intensive than metals; reliable power needed for plant operations; EV strategy aligns with Uganda's hydro-based grid.</a:t>
                      </a:r>
                    </a:p>
                  </a:txBody>
                  <a:tcPr>
                    <a:solidFill>
                      <a:srgbClr val="D6E8F7"/>
                    </a:solidFill>
                  </a:tcPr>
                </a:tc>
              </a:tr>
              <a:tr h="490450">
                <a:tc>
                  <a:txBody>
                    <a:bodyPr/>
                    <a:lstStyle/>
                    <a:p>
                      <a:pPr algn="l"/>
                      <a:r>
                        <a:rPr sz="1200" b="0">
                          <a:solidFill>
                            <a:srgbClr val="333333"/>
                          </a:solidFill>
                        </a:rPr>
                        <a:t>**Water**</a:t>
                      </a:r>
                    </a:p>
                  </a:txBody>
                  <a:tcPr>
                    <a:solidFill>
                      <a:srgbClr val="FFFFFF"/>
                    </a:solidFill>
                  </a:tcPr>
                </a:tc>
                <a:tc>
                  <a:txBody>
                    <a:bodyPr/>
                    <a:lstStyle/>
                    <a:p>
                      <a:pPr algn="l"/>
                      <a:r>
                        <a:rPr sz="1200" b="0">
                          <a:solidFill>
                            <a:srgbClr val="333333"/>
                          </a:solidFill>
                        </a:rPr>
                        <a:t>Not a binding constraint.</a:t>
                      </a:r>
                    </a:p>
                  </a:txBody>
                  <a:tcPr>
                    <a:solidFill>
                      <a:srgbClr val="FFFFFF"/>
                    </a:solidFill>
                  </a:tcPr>
                </a:tc>
              </a:tr>
              <a:tr h="490450">
                <a:tc>
                  <a:txBody>
                    <a:bodyPr/>
                    <a:lstStyle/>
                    <a:p>
                      <a:pPr algn="l"/>
                      <a:r>
                        <a:rPr sz="1200" b="0">
                          <a:solidFill>
                            <a:srgbClr val="333333"/>
                          </a:solidFill>
                        </a:rPr>
                        <a:t>**Logistics**</a:t>
                      </a:r>
                    </a:p>
                  </a:txBody>
                  <a:tcPr>
                    <a:solidFill>
                      <a:srgbClr val="D6E8F7"/>
                    </a:solidFill>
                  </a:tcPr>
                </a:tc>
                <a:tc>
                  <a:txBody>
                    <a:bodyPr/>
                    <a:lstStyle/>
                    <a:p>
                      <a:pPr algn="l"/>
                      <a:r>
                        <a:rPr sz="1200" b="0">
                          <a:solidFill>
                            <a:srgbClr val="333333"/>
                          </a:solidFill>
                        </a:rPr>
                        <a:t>Landlocked import costs raise CKD-kit and component costs; export of finished vehicles faces the same penalty (~18–20% of sale price).</a:t>
                      </a:r>
                    </a:p>
                  </a:txBody>
                  <a:tcPr>
                    <a:solidFill>
                      <a:srgbClr val="D6E8F7"/>
                    </a:solidFill>
                  </a:tcPr>
                </a:tc>
              </a:tr>
              <a:tr h="490450">
                <a:tc>
                  <a:txBody>
                    <a:bodyPr/>
                    <a:lstStyle/>
                    <a:p>
                      <a:pPr algn="l"/>
                      <a:r>
                        <a:rPr sz="1200" b="0">
                          <a:solidFill>
                            <a:srgbClr val="333333"/>
                          </a:solidFill>
                        </a:rPr>
                        <a:t>**Waste &amp; effluent**</a:t>
                      </a:r>
                    </a:p>
                  </a:txBody>
                  <a:tcPr>
                    <a:solidFill>
                      <a:srgbClr val="FFFFFF"/>
                    </a:solidFill>
                  </a:tcPr>
                </a:tc>
                <a:tc>
                  <a:txBody>
                    <a:bodyPr/>
                    <a:lstStyle/>
                    <a:p>
                      <a:pPr algn="l"/>
                      <a:r>
                        <a:rPr sz="1200" b="0">
                          <a:solidFill>
                            <a:srgbClr val="333333"/>
                          </a:solidFill>
                        </a:rPr>
                        <a:t>Paint, solvents, batteries — managed under NEMA; end-of-life vehicle and battery recycling is an emerging issue.</a:t>
                      </a:r>
                    </a:p>
                  </a:txBody>
                  <a:tcPr>
                    <a:solidFill>
                      <a:srgbClr val="FFFFFF"/>
                    </a:solidFill>
                  </a:tcPr>
                </a:tc>
              </a:tr>
              <a:tr h="490450">
                <a:tc>
                  <a:txBody>
                    <a:bodyPr/>
                    <a:lstStyle/>
                    <a:p>
                      <a:pPr algn="l"/>
                      <a:r>
                        <a:rPr sz="1200" b="0">
                          <a:solidFill>
                            <a:srgbClr val="333333"/>
                          </a:solidFill>
                        </a:rPr>
                        <a:t>**Finance &amp; investment**</a:t>
                      </a:r>
                    </a:p>
                  </a:txBody>
                  <a:tcPr>
                    <a:solidFill>
                      <a:srgbClr val="D6E8F7"/>
                    </a:solidFill>
                  </a:tcPr>
                </a:tc>
                <a:tc>
                  <a:txBody>
                    <a:bodyPr/>
                    <a:lstStyle/>
                    <a:p>
                      <a:pPr algn="l"/>
                      <a:r>
                        <a:rPr sz="1200" b="0">
                          <a:solidFill>
                            <a:srgbClr val="333333"/>
                          </a:solidFill>
                        </a:rPr>
                        <a:t>The binding constraint for scale-up: KMC's ~UGX 50bn FY25/26 gap; long-term capital for tooling and working capital is scarce.</a:t>
                      </a:r>
                    </a:p>
                  </a:txBody>
                  <a:tcPr>
                    <a:solidFill>
                      <a:srgbClr val="D6E8F7"/>
                    </a:solidFill>
                  </a:tcPr>
                </a:tc>
              </a:tr>
              <a:tr h="490450">
                <a:tc>
                  <a:txBody>
                    <a:bodyPr/>
                    <a:lstStyle/>
                    <a:p>
                      <a:pPr algn="l"/>
                      <a:r>
                        <a:rPr sz="1200" b="0">
                          <a:solidFill>
                            <a:srgbClr val="333333"/>
                          </a:solidFill>
                        </a:rPr>
                        <a:t>**Skills &amp; workforce**</a:t>
                      </a:r>
                    </a:p>
                  </a:txBody>
                  <a:tcPr>
                    <a:solidFill>
                      <a:srgbClr val="FFFFFF"/>
                    </a:solidFill>
                  </a:tcPr>
                </a:tc>
                <a:tc>
                  <a:txBody>
                    <a:bodyPr/>
                    <a:lstStyle/>
                    <a:p>
                      <a:pPr algn="l"/>
                      <a:r>
                        <a:rPr sz="1200" b="0">
                          <a:solidFill>
                            <a:srgbClr val="333333"/>
                          </a:solidFill>
                        </a:rPr>
                        <a:t>Automotive/mechatronics and EV skills are scarce; KMC and Makerere/Nakawa VTI partnerships are building them.</a:t>
                      </a:r>
                    </a:p>
                  </a:txBody>
                  <a:tcPr>
                    <a:solidFill>
                      <a:srgbClr val="FFFFFF"/>
                    </a:solidFill>
                  </a:tcPr>
                </a:tc>
              </a:tr>
              <a:tr h="490450">
                <a:tc>
                  <a:txBody>
                    <a:bodyPr/>
                    <a:lstStyle/>
                    <a:p>
                      <a:pPr algn="l"/>
                      <a:r>
                        <a:rPr sz="1200" b="0">
                          <a:solidFill>
                            <a:srgbClr val="333333"/>
                          </a:solidFill>
                        </a:rPr>
                        <a:t>**Standards &amp; quality**</a:t>
                      </a:r>
                    </a:p>
                  </a:txBody>
                  <a:tcPr>
                    <a:solidFill>
                      <a:srgbClr val="D6E8F7"/>
                    </a:solidFill>
                  </a:tcPr>
                </a:tc>
                <a:tc>
                  <a:txBody>
                    <a:bodyPr/>
                    <a:lstStyle/>
                    <a:p>
                      <a:pPr algn="l"/>
                      <a:r>
                        <a:rPr sz="1200" b="0">
                          <a:solidFill>
                            <a:srgbClr val="333333"/>
                          </a:solidFill>
                        </a:rPr>
                        <a:t>Vehicle standards, homologation, and used-import age limits shape the market; UNBS and MWT regulation matter.</a:t>
                      </a:r>
                    </a:p>
                  </a:txBody>
                  <a:tcPr>
                    <a:solidFill>
                      <a:srgbClr val="D6E8F7"/>
                    </a:solidFill>
                  </a:tcPr>
                </a:tc>
              </a:tr>
              <a:tr h="490460">
                <a:tc>
                  <a:txBody>
                    <a:bodyPr/>
                    <a:lstStyle/>
                    <a:p>
                      <a:pPr algn="l"/>
                      <a:r>
                        <a:rPr sz="1200" b="0">
                          <a:solidFill>
                            <a:srgbClr val="333333"/>
                          </a:solidFill>
                        </a:rPr>
                        <a:t>**Policy &amp; regulatory**</a:t>
                      </a:r>
                    </a:p>
                  </a:txBody>
                  <a:tcPr>
                    <a:solidFill>
                      <a:srgbClr val="FFFFFF"/>
                    </a:solidFill>
                  </a:tcPr>
                </a:tc>
                <a:tc>
                  <a:txBody>
                    <a:bodyPr/>
                    <a:lstStyle/>
                    <a:p>
                      <a:pPr algn="l"/>
                      <a:r>
                        <a:rPr sz="1200" b="0">
                          <a:solidFill>
                            <a:srgbClr val="333333"/>
                          </a:solidFill>
                        </a:rPr>
                        <a:t>Decisive lever: used-vehicle age limits and taxation, public-fleet procurement, and local-content/assembly incentives can pivot demand toward domestic assembly. The 2025 plant gives policy something real to support.</a:t>
                      </a:r>
                    </a:p>
                  </a:txBody>
                  <a:tcPr>
                    <a:solidFill>
                      <a:srgbClr val="FFFFFF"/>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6.D Market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Domestic. Large and growing — over USD 650m/year in vehicle and parts imports, plus ~48,700 used vehicles imported annually. Public-transport electrification (buses) and institutional fleets are an addressable anchor market KMC can serve directly, supported by government procurement.</a:t>
            </a:r>
          </a:p>
          <a:p>
            <a:pPr/>
            <a:r>
              <a:rPr sz="1600" b="0">
                <a:solidFill>
                  <a:srgbClr val="333333"/>
                </a:solidFill>
              </a:rPr>
              <a:t>•  Regional (EAC/COMESA). KMC has signalled regional ambition, including reported interest in electric-bus exports to West Africa; the EAC market for buses and commercial vehicles is real, and a "made-in-Uganda" EV bus is a differentiated regional product. Motorcycle assembly can also serve regional demand.</a:t>
            </a:r>
          </a:p>
          <a:p>
            <a:pPr/>
            <a:r>
              <a:rPr sz="1600" b="0">
                <a:solidFill>
                  <a:srgbClr val="333333"/>
                </a:solidFill>
              </a:rPr>
              <a:t>•  Global. Not accessible for finished vehicles in the medium term. The realistic horizon is domestic substitution (assembly, buses, motorcycles, parts) plus regional bus/EV export.</a:t>
            </a:r>
          </a:p>
          <a:p>
            <a:pPr/>
            <a:r>
              <a:rPr sz="1600" b="0">
                <a:solidFill>
                  <a:srgbClr val="333333"/>
                </a:solidFill>
              </a:rPr>
              <a:t>•  Accessible market conclusion. Prioritize (1) public-transport and institutional EV/bus assembly (KMC anchor), (2) motorcycle CKD assembly for the mass boda market, and (3) selective spare-parts localisation.</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46" cy="539496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899160">
                <a:tc>
                  <a:txBody>
                    <a:bodyPr/>
                    <a:lstStyle/>
                    <a:p>
                      <a:pPr algn="l"/>
                      <a:r>
                        <a:rPr sz="1300" b="1">
                          <a:solidFill>
                            <a:srgbClr val="FFFFFF"/>
                          </a:solidFill>
                        </a:rPr>
                        <a:t>Product / sub-sector</a:t>
                      </a:r>
                    </a:p>
                  </a:txBody>
                  <a:tcPr>
                    <a:solidFill>
                      <a:srgbClr val="002B5B"/>
                    </a:solidFill>
                  </a:tcPr>
                </a:tc>
                <a:tc>
                  <a:txBody>
                    <a:bodyPr/>
                    <a:lstStyle/>
                    <a:p>
                      <a:pPr algn="l"/>
                      <a:r>
                        <a:rPr sz="1300" b="1">
                          <a:solidFill>
                            <a:srgbClr val="FFFFFF"/>
                          </a:solidFill>
                        </a:rPr>
                        <a:t>Market</a:t>
                      </a:r>
                    </a:p>
                  </a:txBody>
                  <a:tcPr>
                    <a:solidFill>
                      <a:srgbClr val="002B5B"/>
                    </a:solidFill>
                  </a:tcPr>
                </a:tc>
                <a:tc>
                  <a:txBody>
                    <a:bodyPr/>
                    <a:lstStyle/>
                    <a:p>
                      <a:pPr algn="l"/>
                      <a:r>
                        <a:rPr sz="1300" b="1">
                          <a:solidFill>
                            <a:srgbClr val="FFFFFF"/>
                          </a:solidFill>
                        </a:rPr>
                        <a:t>Comp. adv.</a:t>
                      </a:r>
                    </a:p>
                  </a:txBody>
                  <a:tcPr>
                    <a:solidFill>
                      <a:srgbClr val="002B5B"/>
                    </a:solidFill>
                  </a:tcPr>
                </a:tc>
                <a:tc>
                  <a:txBody>
                    <a:bodyPr/>
                    <a:lstStyle/>
                    <a:p>
                      <a:pPr algn="l"/>
                      <a:r>
                        <a:rPr sz="1300" b="1">
                          <a:solidFill>
                            <a:srgbClr val="FFFFFF"/>
                          </a:solidFill>
                        </a:rPr>
                        <a:t>Feasibility</a:t>
                      </a:r>
                    </a:p>
                  </a:txBody>
                  <a:tcPr>
                    <a:solidFill>
                      <a:srgbClr val="002B5B"/>
                    </a:solidFill>
                  </a:tcPr>
                </a:tc>
                <a:tc>
                  <a:txBody>
                    <a:bodyPr/>
                    <a:lstStyle/>
                    <a:p>
                      <a:pPr algn="l"/>
                      <a:r>
                        <a:rPr sz="1300" b="1">
                          <a:solidFill>
                            <a:srgbClr val="FFFFFF"/>
                          </a:solidFill>
                        </a:rPr>
                        <a:t>Jobs</a:t>
                      </a:r>
                    </a:p>
                  </a:txBody>
                  <a:tcPr>
                    <a:solidFill>
                      <a:srgbClr val="002B5B"/>
                    </a:solidFill>
                  </a:tcPr>
                </a:tc>
                <a:tc>
                  <a:txBody>
                    <a:bodyPr/>
                    <a:lstStyle/>
                    <a:p>
                      <a:pPr algn="l"/>
                      <a:r>
                        <a:rPr sz="1300" b="1">
                          <a:solidFill>
                            <a:srgbClr val="FFFFFF"/>
                          </a:solidFill>
                        </a:rPr>
                        <a:t>Import subst.</a:t>
                      </a:r>
                    </a:p>
                  </a:txBody>
                  <a:tcPr>
                    <a:solidFill>
                      <a:srgbClr val="002B5B"/>
                    </a:solidFill>
                  </a:tcPr>
                </a:tc>
                <a:tc>
                  <a:txBody>
                    <a:bodyPr/>
                    <a:lstStyle/>
                    <a:p>
                      <a:pPr algn="l"/>
                      <a:r>
                        <a:rPr sz="1300" b="1">
                          <a:solidFill>
                            <a:srgbClr val="FFFFFF"/>
                          </a:solidFill>
                        </a:rPr>
                        <a:t>Priority</a:t>
                      </a:r>
                    </a:p>
                  </a:txBody>
                  <a:tcPr>
                    <a:solidFill>
                      <a:srgbClr val="002B5B"/>
                    </a:solidFill>
                  </a:tcPr>
                </a:tc>
              </a:tr>
              <a:tr h="899160">
                <a:tc>
                  <a:txBody>
                    <a:bodyPr/>
                    <a:lstStyle/>
                    <a:p>
                      <a:pPr algn="l"/>
                      <a:r>
                        <a:rPr sz="1200" b="0">
                          <a:solidFill>
                            <a:srgbClr val="333333"/>
                          </a:solidFill>
                        </a:rPr>
                        <a:t>**Buses / EV buses (KMC anchor)**</a:t>
                      </a:r>
                    </a:p>
                  </a:txBody>
                  <a:tcPr>
                    <a:solidFill>
                      <a:srgbClr val="D6E8F7"/>
                    </a:solidFill>
                  </a:tcPr>
                </a:tc>
                <a:tc>
                  <a:txBody>
                    <a:bodyPr/>
                    <a:lstStyle/>
                    <a:p>
                      <a:pPr algn="l"/>
                      <a:r>
                        <a:rPr sz="1200" b="0">
                          <a:solidFill>
                            <a:srgbClr val="333333"/>
                          </a:solidFill>
                        </a:rPr>
                        <a:t>High (public fleets)</a:t>
                      </a:r>
                    </a:p>
                  </a:txBody>
                  <a:tcPr>
                    <a:solidFill>
                      <a:srgbClr val="D6E8F7"/>
                    </a:solidFill>
                  </a:tcPr>
                </a:tc>
                <a:tc>
                  <a:txBody>
                    <a:bodyPr/>
                    <a:lstStyle/>
                    <a:p>
                      <a:pPr algn="l"/>
                      <a:r>
                        <a:rPr sz="1200" b="0">
                          <a:solidFill>
                            <a:srgbClr val="333333"/>
                          </a:solidFill>
                        </a:rPr>
                        <a:t>High (KMC, hydro grid)</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**Priority**</a:t>
                      </a:r>
                    </a:p>
                  </a:txBody>
                  <a:tcPr>
                    <a:solidFill>
                      <a:srgbClr val="D6E8F7"/>
                    </a:solidFill>
                  </a:tcPr>
                </a:tc>
              </a:tr>
              <a:tr h="899160">
                <a:tc>
                  <a:txBody>
                    <a:bodyPr/>
                    <a:lstStyle/>
                    <a:p>
                      <a:pPr algn="l"/>
                      <a:r>
                        <a:rPr sz="1200" b="0">
                          <a:solidFill>
                            <a:srgbClr val="333333"/>
                          </a:solidFill>
                        </a:rPr>
                        <a:t>**Motorcycle assembly (CKD)**</a:t>
                      </a:r>
                    </a:p>
                  </a:txBody>
                  <a:tcPr>
                    <a:solidFill>
                      <a:srgbClr val="FFFFFF"/>
                    </a:solidFill>
                  </a:tcPr>
                </a:tc>
                <a:tc>
                  <a:txBody>
                    <a:bodyPr/>
                    <a:lstStyle/>
                    <a:p>
                      <a:pPr algn="l"/>
                      <a:r>
                        <a:rPr sz="1200" b="0">
                          <a:solidFill>
                            <a:srgbClr val="333333"/>
                          </a:solidFill>
                        </a:rPr>
                        <a:t>Very high (USD 157m)</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Very high</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**Priority**</a:t>
                      </a:r>
                    </a:p>
                  </a:txBody>
                  <a:tcPr>
                    <a:solidFill>
                      <a:srgbClr val="FFFFFF"/>
                    </a:solidFill>
                  </a:tcPr>
                </a:tc>
              </a:tr>
              <a:tr h="899160">
                <a:tc>
                  <a:txBody>
                    <a:bodyPr/>
                    <a:lstStyle/>
                    <a:p>
                      <a:pPr algn="l"/>
                      <a:r>
                        <a:rPr sz="1200" b="0">
                          <a:solidFill>
                            <a:srgbClr val="333333"/>
                          </a:solidFill>
                        </a:rPr>
                        <a:t>**Spare parts &amp; components localisation**</a:t>
                      </a:r>
                    </a:p>
                  </a:txBody>
                  <a:tcPr>
                    <a:solidFill>
                      <a:srgbClr val="D6E8F7"/>
                    </a:solidFill>
                  </a:tcPr>
                </a:tc>
                <a:tc>
                  <a:txBody>
                    <a:bodyPr/>
                    <a:lstStyle/>
                    <a:p>
                      <a:pPr algn="l"/>
                      <a:r>
                        <a:rPr sz="1200" b="0">
                          <a:solidFill>
                            <a:srgbClr val="333333"/>
                          </a:solidFill>
                        </a:rPr>
                        <a:t>High (USD 32m+)</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**Priority**</a:t>
                      </a:r>
                    </a:p>
                  </a:txBody>
                  <a:tcPr>
                    <a:solidFill>
                      <a:srgbClr val="D6E8F7"/>
                    </a:solidFill>
                  </a:tcPr>
                </a:tc>
              </a:tr>
              <a:tr h="899160">
                <a:tc>
                  <a:txBody>
                    <a:bodyPr/>
                    <a:lstStyle/>
                    <a:p>
                      <a:pPr algn="l"/>
                      <a:r>
                        <a:rPr sz="1200" b="0">
                          <a:solidFill>
                            <a:srgbClr val="333333"/>
                          </a:solidFill>
                        </a:rPr>
                        <a:t>Passenger-car assembly (CKD)</a:t>
                      </a:r>
                    </a:p>
                  </a:txBody>
                  <a:tcPr>
                    <a:solidFill>
                      <a:srgbClr val="FFFFFF"/>
                    </a:solidFill>
                  </a:tcPr>
                </a:tc>
                <a:tc>
                  <a:txBody>
                    <a:bodyPr/>
                    <a:lstStyle/>
                    <a:p>
                      <a:pPr algn="l"/>
                      <a:r>
                        <a:rPr sz="1200" b="0">
                          <a:solidFill>
                            <a:srgbClr val="333333"/>
                          </a:solidFill>
                        </a:rPr>
                        <a:t>High (USD 298m)</a:t>
                      </a:r>
                    </a:p>
                  </a:txBody>
                  <a:tcPr>
                    <a:solidFill>
                      <a:srgbClr val="FFFFFF"/>
                    </a:solidFill>
                  </a:tcPr>
                </a:tc>
                <a:tc>
                  <a:txBody>
                    <a:bodyPr/>
                    <a:lstStyle/>
                    <a:p>
                      <a:pPr algn="l"/>
                      <a:r>
                        <a:rPr sz="1200" b="0">
                          <a:solidFill>
                            <a:srgbClr val="333333"/>
                          </a:solidFill>
                        </a:rPr>
                        <a:t>Low–Med</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Conditional</a:t>
                      </a:r>
                    </a:p>
                  </a:txBody>
                  <a:tcPr>
                    <a:solidFill>
                      <a:srgbClr val="FFFFFF"/>
                    </a:solidFill>
                  </a:tcPr>
                </a:tc>
              </a:tr>
              <a:tr h="899160">
                <a:tc>
                  <a:txBody>
                    <a:bodyPr/>
                    <a:lstStyle/>
                    <a:p>
                      <a:pPr algn="l"/>
                      <a:r>
                        <a:rPr sz="1200" b="0">
                          <a:solidFill>
                            <a:srgbClr val="333333"/>
                          </a:solidFill>
                        </a:rPr>
                        <a:t>Full domestic car manufacture</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Deprioritize</a:t>
                      </a:r>
                    </a:p>
                  </a:txBody>
                  <a:tcPr>
                    <a:solidFill>
                      <a:srgbClr val="D6E8F7"/>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three priorities for Automotive:</a:t>
            </a:r>
          </a:p>
          <a:p>
            <a:pPr/>
            <a:r>
              <a:rPr sz="1600" b="0">
                <a:solidFill>
                  <a:srgbClr val="333333"/>
                </a:solidFill>
              </a:rPr>
              <a:t>•  Explicit deprioritization. Uganda should not pursue full domestic manufacture of passenger cars from the ground up at this stage — global car manufacture is scale- and capital-intensive beyond Uganda's near-term reach. Passenger-car CKD assembly is conditional (it can follow once component and supplier ecosystems mature). Focus belongs on buses/EVs, motorcycles, and parts, which match Uganda's anchor assets and market.</a:t>
            </a:r>
          </a:p>
          <a:p>
            <a:pPr/>
            <a:r>
              <a:rPr sz="1600" b="0">
                <a:solidFill>
                  <a:srgbClr val="333333"/>
                </a:solidFill>
              </a:rPr>
              <a:t>1. Buses and electric buses (KMC anchor) — leverage the new plant, the EV differentiator, and government fleet procurement; the clearest state-backed industrial anchor in Report 1.</a:t>
            </a:r>
          </a:p>
          <a:p>
            <a:pPr/>
            <a:r>
              <a:rPr sz="1600" b="0">
                <a:solidFill>
                  <a:srgbClr val="333333"/>
                </a:solidFill>
              </a:rPr>
              <a:t>2. Motorcycle assembly (CKD) — the largest-volume mobility market (USD 157m imports); assembly is feasible and job-rich for the boda economy.</a:t>
            </a:r>
          </a:p>
          <a:p>
            <a:pPr/>
            <a:r>
              <a:rPr sz="1600" b="0">
                <a:solidFill>
                  <a:srgbClr val="333333"/>
                </a:solidFill>
              </a:rPr>
              <a:t>3. Spare-parts and component localisation — convert part of the USD 32m+ parts import bill and the after-market into domestic manufacture, building forward linkages to steel/copper.</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6.F Priority Action Matrix</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674370">
                <a:tc>
                  <a:txBody>
                    <a:bodyPr/>
                    <a:lstStyle/>
                    <a:p>
                      <a:pPr algn="l"/>
                      <a:r>
                        <a:rPr sz="1300" b="1">
                          <a:solidFill>
                            <a:srgbClr val="FFFFFF"/>
                          </a:solidFill>
                        </a:rPr>
                        <a:t>Timeframe</a:t>
                      </a:r>
                    </a:p>
                  </a:txBody>
                  <a:tcPr>
                    <a:solidFill>
                      <a:srgbClr val="002B5B"/>
                    </a:solidFill>
                  </a:tcPr>
                </a:tc>
                <a:tc>
                  <a:txBody>
                    <a:bodyPr/>
                    <a:lstStyle/>
                    <a:p>
                      <a:pPr algn="l"/>
                      <a:r>
                        <a:rPr sz="1300" b="1">
                          <a:solidFill>
                            <a:srgbClr val="FFFFFF"/>
                          </a:solidFill>
                        </a:rPr>
                        <a:t>Action</a:t>
                      </a:r>
                    </a:p>
                  </a:txBody>
                  <a:tcPr>
                    <a:solidFill>
                      <a:srgbClr val="002B5B"/>
                    </a:solidFill>
                  </a:tcPr>
                </a:tc>
                <a:tc>
                  <a:txBody>
                    <a:bodyPr/>
                    <a:lstStyle/>
                    <a:p>
                      <a:pPr algn="l"/>
                      <a:r>
                        <a:rPr sz="1300" b="1">
                          <a:solidFill>
                            <a:srgbClr val="FFFFFF"/>
                          </a:solidFill>
                        </a:rPr>
                        <a:t>Lead</a:t>
                      </a:r>
                    </a:p>
                  </a:txBody>
                  <a:tcPr>
                    <a:solidFill>
                      <a:srgbClr val="002B5B"/>
                    </a:solidFill>
                  </a:tcPr>
                </a:tc>
                <a:tc>
                  <a:txBody>
                    <a:bodyPr/>
                    <a:lstStyle/>
                    <a:p>
                      <a:pPr algn="l"/>
                      <a:r>
                        <a:rPr sz="1300" b="1">
                          <a:solidFill>
                            <a:srgbClr val="FFFFFF"/>
                          </a:solidFill>
                        </a:rPr>
                        <a:t>Indicative cost</a:t>
                      </a:r>
                    </a:p>
                  </a:txBody>
                  <a:tcPr>
                    <a:solidFill>
                      <a:srgbClr val="002B5B"/>
                    </a:solidFill>
                  </a:tcPr>
                </a:tc>
              </a:tr>
              <a:tr h="674370">
                <a:tc>
                  <a:txBody>
                    <a:bodyPr/>
                    <a:lstStyle/>
                    <a:p>
                      <a:pPr algn="l"/>
                      <a:r>
                        <a:rPr sz="1200" b="0">
                          <a:solidFill>
                            <a:srgbClr val="333333"/>
                          </a:solidFill>
                        </a:rPr>
                        <a:t>**Quick win (0–12m)**</a:t>
                      </a:r>
                    </a:p>
                  </a:txBody>
                  <a:tcPr>
                    <a:solidFill>
                      <a:srgbClr val="D6E8F7"/>
                    </a:solidFill>
                  </a:tcPr>
                </a:tc>
                <a:tc>
                  <a:txBody>
                    <a:bodyPr/>
                    <a:lstStyle/>
                    <a:p>
                      <a:pPr algn="l"/>
                      <a:r>
                        <a:rPr sz="1200" b="0">
                          <a:solidFill>
                            <a:srgbClr val="333333"/>
                          </a:solidFill>
                        </a:rPr>
                        <a:t>Public-fleet procurement of KMC buses (schools, hospitals, BRT, MDAs)</a:t>
                      </a:r>
                    </a:p>
                  </a:txBody>
                  <a:tcPr>
                    <a:solidFill>
                      <a:srgbClr val="D6E8F7"/>
                    </a:solidFill>
                  </a:tcPr>
                </a:tc>
                <a:tc>
                  <a:txBody>
                    <a:bodyPr/>
                    <a:lstStyle/>
                    <a:p>
                      <a:pPr algn="l"/>
                      <a:r>
                        <a:rPr sz="1200" b="0">
                          <a:solidFill>
                            <a:srgbClr val="333333"/>
                          </a:solidFill>
                        </a:rPr>
                        <a:t>MoFPED, MoWT, MDAs</a:t>
                      </a:r>
                    </a:p>
                  </a:txBody>
                  <a:tcPr>
                    <a:solidFill>
                      <a:srgbClr val="D6E8F7"/>
                    </a:solidFill>
                  </a:tcPr>
                </a:tc>
                <a:tc>
                  <a:txBody>
                    <a:bodyPr/>
                    <a:lstStyle/>
                    <a:p>
                      <a:pPr algn="l"/>
                      <a:r>
                        <a:rPr sz="1200" b="0">
                          <a:solidFill>
                            <a:srgbClr val="333333"/>
                          </a:solidFill>
                        </a:rPr>
                        <a:t>Procurement budget</a:t>
                      </a:r>
                    </a:p>
                  </a:txBody>
                  <a:tcPr>
                    <a:solidFill>
                      <a:srgbClr val="D6E8F7"/>
                    </a:solidFill>
                  </a:tcPr>
                </a:tc>
              </a:tr>
              <a:tr h="674370">
                <a:tc>
                  <a:txBody>
                    <a:bodyPr/>
                    <a:lstStyle/>
                    <a:p>
                      <a:pPr algn="l"/>
                      <a:r>
                        <a:rPr sz="1200" b="0">
                          <a:solidFill>
                            <a:srgbClr val="333333"/>
                          </a:solidFill>
                        </a:rPr>
                        <a:t>Quick win (0–12m)</a:t>
                      </a:r>
                    </a:p>
                  </a:txBody>
                  <a:tcPr>
                    <a:solidFill>
                      <a:srgbClr val="FFFFFF"/>
                    </a:solidFill>
                  </a:tcPr>
                </a:tc>
                <a:tc>
                  <a:txBody>
                    <a:bodyPr/>
                    <a:lstStyle/>
                    <a:p>
                      <a:pPr algn="l"/>
                      <a:r>
                        <a:rPr sz="1200" b="0">
                          <a:solidFill>
                            <a:srgbClr val="333333"/>
                          </a:solidFill>
                        </a:rPr>
                        <a:t>Close KMC's FY25/26 financing gap to enable production ramp-up</a:t>
                      </a:r>
                    </a:p>
                  </a:txBody>
                  <a:tcPr>
                    <a:solidFill>
                      <a:srgbClr val="FFFFFF"/>
                    </a:solidFill>
                  </a:tcPr>
                </a:tc>
                <a:tc>
                  <a:txBody>
                    <a:bodyPr/>
                    <a:lstStyle/>
                    <a:p>
                      <a:pPr algn="l"/>
                      <a:r>
                        <a:rPr sz="1200" b="0">
                          <a:solidFill>
                            <a:srgbClr val="333333"/>
                          </a:solidFill>
                        </a:rPr>
                        <a:t>MoFPED, UDB</a:t>
                      </a:r>
                    </a:p>
                  </a:txBody>
                  <a:tcPr>
                    <a:solidFill>
                      <a:srgbClr val="FFFFFF"/>
                    </a:solidFill>
                  </a:tcPr>
                </a:tc>
                <a:tc>
                  <a:txBody>
                    <a:bodyPr/>
                    <a:lstStyle/>
                    <a:p>
                      <a:pPr algn="l"/>
                      <a:r>
                        <a:rPr sz="1200" b="0">
                          <a:solidFill>
                            <a:srgbClr val="333333"/>
                          </a:solidFill>
                        </a:rPr>
                        <a:t>~UGX 50bn</a:t>
                      </a:r>
                    </a:p>
                  </a:txBody>
                  <a:tcPr>
                    <a:solidFill>
                      <a:srgbClr val="FFFFFF"/>
                    </a:solidFill>
                  </a:tcPr>
                </a:tc>
              </a:tr>
              <a:tr h="674370">
                <a:tc>
                  <a:txBody>
                    <a:bodyPr/>
                    <a:lstStyle/>
                    <a:p>
                      <a:pPr algn="l"/>
                      <a:r>
                        <a:rPr sz="1200" b="0">
                          <a:solidFill>
                            <a:srgbClr val="333333"/>
                          </a:solidFill>
                        </a:rPr>
                        <a:t>**Reform (1–3y)**</a:t>
                      </a:r>
                    </a:p>
                  </a:txBody>
                  <a:tcPr>
                    <a:solidFill>
                      <a:srgbClr val="D6E8F7"/>
                    </a:solidFill>
                  </a:tcPr>
                </a:tc>
                <a:tc>
                  <a:txBody>
                    <a:bodyPr/>
                    <a:lstStyle/>
                    <a:p>
                      <a:pPr algn="l"/>
                      <a:r>
                        <a:rPr sz="1200" b="0">
                          <a:solidFill>
                            <a:srgbClr val="333333"/>
                          </a:solidFill>
                        </a:rPr>
                        <a:t>Local-content and CKD-assembly incentive framework; review used-vehicle age/tax policy to favour assembly</a:t>
                      </a:r>
                    </a:p>
                  </a:txBody>
                  <a:tcPr>
                    <a:solidFill>
                      <a:srgbClr val="D6E8F7"/>
                    </a:solidFill>
                  </a:tcPr>
                </a:tc>
                <a:tc>
                  <a:txBody>
                    <a:bodyPr/>
                    <a:lstStyle/>
                    <a:p>
                      <a:pPr algn="l"/>
                      <a:r>
                        <a:rPr sz="1200" b="0">
                          <a:solidFill>
                            <a:srgbClr val="333333"/>
                          </a:solidFill>
                        </a:rPr>
                        <a:t>MTIC, MoFPED, URA</a:t>
                      </a:r>
                    </a:p>
                  </a:txBody>
                  <a:tcPr>
                    <a:solidFill>
                      <a:srgbClr val="D6E8F7"/>
                    </a:solidFill>
                  </a:tcPr>
                </a:tc>
                <a:tc>
                  <a:txBody>
                    <a:bodyPr/>
                    <a:lstStyle/>
                    <a:p>
                      <a:pPr algn="l"/>
                      <a:r>
                        <a:rPr sz="1200" b="0">
                          <a:solidFill>
                            <a:srgbClr val="333333"/>
                          </a:solidFill>
                        </a:rPr>
                        <a:t>Low (policy)</a:t>
                      </a:r>
                    </a:p>
                  </a:txBody>
                  <a:tcPr>
                    <a:solidFill>
                      <a:srgbClr val="D6E8F7"/>
                    </a:solidFill>
                  </a:tcPr>
                </a:tc>
              </a:tr>
              <a:tr h="674370">
                <a:tc>
                  <a:txBody>
                    <a:bodyPr/>
                    <a:lstStyle/>
                    <a:p>
                      <a:pPr algn="l"/>
                      <a:r>
                        <a:rPr sz="1200" b="0">
                          <a:solidFill>
                            <a:srgbClr val="333333"/>
                          </a:solidFill>
                        </a:rPr>
                        <a:t>Reform (1–3y)</a:t>
                      </a:r>
                    </a:p>
                  </a:txBody>
                  <a:tcPr>
                    <a:solidFill>
                      <a:srgbClr val="FFFFFF"/>
                    </a:solidFill>
                  </a:tcPr>
                </a:tc>
                <a:tc>
                  <a:txBody>
                    <a:bodyPr/>
                    <a:lstStyle/>
                    <a:p>
                      <a:pPr algn="l"/>
                      <a:r>
                        <a:rPr sz="1200" b="0">
                          <a:solidFill>
                            <a:srgbClr val="333333"/>
                          </a:solidFill>
                        </a:rPr>
                        <a:t>Automotive/mechatronics &amp; EV skills programme (KMC, Makerere, Nakawa VTI)</a:t>
                      </a:r>
                    </a:p>
                  </a:txBody>
                  <a:tcPr>
                    <a:solidFill>
                      <a:srgbClr val="FFFFFF"/>
                    </a:solidFill>
                  </a:tcPr>
                </a:tc>
                <a:tc>
                  <a:txBody>
                    <a:bodyPr/>
                    <a:lstStyle/>
                    <a:p>
                      <a:pPr algn="l"/>
                      <a:r>
                        <a:rPr sz="1200" b="0">
                          <a:solidFill>
                            <a:srgbClr val="333333"/>
                          </a:solidFill>
                        </a:rPr>
                        <a:t>MoES, KMC</a:t>
                      </a:r>
                    </a:p>
                  </a:txBody>
                  <a:tcPr>
                    <a:solidFill>
                      <a:srgbClr val="FFFFFF"/>
                    </a:solidFill>
                  </a:tcPr>
                </a:tc>
                <a:tc>
                  <a:txBody>
                    <a:bodyPr/>
                    <a:lstStyle/>
                    <a:p>
                      <a:pPr algn="l"/>
                      <a:r>
                        <a:rPr sz="1200" b="0">
                          <a:solidFill>
                            <a:srgbClr val="333333"/>
                          </a:solidFill>
                        </a:rPr>
                        <a:t>Medium</a:t>
                      </a:r>
                    </a:p>
                  </a:txBody>
                  <a:tcPr>
                    <a:solidFill>
                      <a:srgbClr val="FFFFFF"/>
                    </a:solidFill>
                  </a:tcPr>
                </a:tc>
              </a:tr>
              <a:tr h="674370">
                <a:tc>
                  <a:txBody>
                    <a:bodyPr/>
                    <a:lstStyle/>
                    <a:p>
                      <a:pPr algn="l"/>
                      <a:r>
                        <a:rPr sz="1200" b="0">
                          <a:solidFill>
                            <a:srgbClr val="333333"/>
                          </a:solidFill>
                        </a:rPr>
                        <a:t>Reform (1–3y)</a:t>
                      </a:r>
                    </a:p>
                  </a:txBody>
                  <a:tcPr>
                    <a:solidFill>
                      <a:srgbClr val="D6E8F7"/>
                    </a:solidFill>
                  </a:tcPr>
                </a:tc>
                <a:tc>
                  <a:txBody>
                    <a:bodyPr/>
                    <a:lstStyle/>
                    <a:p>
                      <a:pPr algn="l"/>
                      <a:r>
                        <a:rPr sz="1200" b="0">
                          <a:solidFill>
                            <a:srgbClr val="333333"/>
                          </a:solidFill>
                        </a:rPr>
                        <a:t>Supplier-development programme to localise parts (batteries, wiring, seats, panels)</a:t>
                      </a:r>
                    </a:p>
                  </a:txBody>
                  <a:tcPr>
                    <a:solidFill>
                      <a:srgbClr val="D6E8F7"/>
                    </a:solidFill>
                  </a:tcPr>
                </a:tc>
                <a:tc>
                  <a:txBody>
                    <a:bodyPr/>
                    <a:lstStyle/>
                    <a:p>
                      <a:pPr algn="l"/>
                      <a:r>
                        <a:rPr sz="1200" b="0">
                          <a:solidFill>
                            <a:srgbClr val="333333"/>
                          </a:solidFill>
                        </a:rPr>
                        <a:t>MTIC, UIA</a:t>
                      </a:r>
                    </a:p>
                  </a:txBody>
                  <a:tcPr>
                    <a:solidFill>
                      <a:srgbClr val="D6E8F7"/>
                    </a:solidFill>
                  </a:tcPr>
                </a:tc>
                <a:tc>
                  <a:txBody>
                    <a:bodyPr/>
                    <a:lstStyle/>
                    <a:p>
                      <a:pPr algn="l"/>
                      <a:r>
                        <a:rPr sz="1200" b="0">
                          <a:solidFill>
                            <a:srgbClr val="333333"/>
                          </a:solidFill>
                        </a:rPr>
                        <a:t>Medium</a:t>
                      </a:r>
                    </a:p>
                  </a:txBody>
                  <a:tcPr>
                    <a:solidFill>
                      <a:srgbClr val="D6E8F7"/>
                    </a:solidFill>
                  </a:tcPr>
                </a:tc>
              </a:tr>
              <a:tr h="674370">
                <a:tc>
                  <a:txBody>
                    <a:bodyPr/>
                    <a:lstStyle/>
                    <a:p>
                      <a:pPr algn="l"/>
                      <a:r>
                        <a:rPr sz="1200" b="0">
                          <a:solidFill>
                            <a:srgbClr val="333333"/>
                          </a:solidFill>
                        </a:rPr>
                        <a:t>**Investment (3–5y)**</a:t>
                      </a:r>
                    </a:p>
                  </a:txBody>
                  <a:tcPr>
                    <a:solidFill>
                      <a:srgbClr val="FFFFFF"/>
                    </a:solidFill>
                  </a:tcPr>
                </a:tc>
                <a:tc>
                  <a:txBody>
                    <a:bodyPr/>
                    <a:lstStyle/>
                    <a:p>
                      <a:pPr algn="l"/>
                      <a:r>
                        <a:rPr sz="1200" b="0">
                          <a:solidFill>
                            <a:srgbClr val="333333"/>
                          </a:solidFill>
                        </a:rPr>
                        <a:t>KMC capacity expansion toward 10,000 vehicles/yr; EV-bus line</a:t>
                      </a:r>
                    </a:p>
                  </a:txBody>
                  <a:tcPr>
                    <a:solidFill>
                      <a:srgbClr val="FFFFFF"/>
                    </a:solidFill>
                  </a:tcPr>
                </a:tc>
                <a:tc>
                  <a:txBody>
                    <a:bodyPr/>
                    <a:lstStyle/>
                    <a:p>
                      <a:pPr algn="l"/>
                      <a:r>
                        <a:rPr sz="1200" b="0">
                          <a:solidFill>
                            <a:srgbClr val="333333"/>
                          </a:solidFill>
                        </a:rPr>
                        <a:t>Public + PPP</a:t>
                      </a:r>
                    </a:p>
                  </a:txBody>
                  <a:tcPr>
                    <a:solidFill>
                      <a:srgbClr val="FFFFFF"/>
                    </a:solidFill>
                  </a:tcPr>
                </a:tc>
                <a:tc>
                  <a:txBody>
                    <a:bodyPr/>
                    <a:lstStyle/>
                    <a:p>
                      <a:pPr algn="l"/>
                      <a:r>
                        <a:rPr sz="1200" b="0">
                          <a:solidFill>
                            <a:srgbClr val="333333"/>
                          </a:solidFill>
                        </a:rPr>
                        <a:t>Indicative (see Ch.8)</a:t>
                      </a:r>
                    </a:p>
                  </a:txBody>
                  <a:tcPr>
                    <a:solidFill>
                      <a:srgbClr val="FFFFFF"/>
                    </a:solidFill>
                  </a:tcPr>
                </a:tc>
              </a:tr>
              <a:tr h="674370">
                <a:tc>
                  <a:txBody>
                    <a:bodyPr/>
                    <a:lstStyle/>
                    <a:p>
                      <a:pPr algn="l"/>
                      <a:r>
                        <a:rPr sz="1200" b="0">
                          <a:solidFill>
                            <a:srgbClr val="333333"/>
                          </a:solidFill>
                        </a:rPr>
                        <a:t>Investment (3–5y)</a:t>
                      </a:r>
                    </a:p>
                  </a:txBody>
                  <a:tcPr>
                    <a:solidFill>
                      <a:srgbClr val="D6E8F7"/>
                    </a:solidFill>
                  </a:tcPr>
                </a:tc>
                <a:tc>
                  <a:txBody>
                    <a:bodyPr/>
                    <a:lstStyle/>
                    <a:p>
                      <a:pPr algn="l"/>
                      <a:r>
                        <a:rPr sz="1200" b="0">
                          <a:solidFill>
                            <a:srgbClr val="333333"/>
                          </a:solidFill>
                        </a:rPr>
                        <a:t>Motorcycle CKD assembly plant(s)</a:t>
                      </a:r>
                    </a:p>
                  </a:txBody>
                  <a:tcPr>
                    <a:solidFill>
                      <a:srgbClr val="D6E8F7"/>
                    </a:solidFill>
                  </a:tcPr>
                </a:tc>
                <a:tc>
                  <a:txBody>
                    <a:bodyPr/>
                    <a:lstStyle/>
                    <a:p>
                      <a:pPr algn="l"/>
                      <a:r>
                        <a:rPr sz="1200" b="0">
                          <a:solidFill>
                            <a:srgbClr val="333333"/>
                          </a:solidFill>
                        </a:rPr>
                        <a:t>Private-led</a:t>
                      </a:r>
                    </a:p>
                  </a:txBody>
                  <a:tcPr>
                    <a:solidFill>
                      <a:srgbClr val="D6E8F7"/>
                    </a:solidFill>
                  </a:tcPr>
                </a:tc>
                <a:tc>
                  <a:txBody>
                    <a:bodyPr/>
                    <a:lstStyle/>
                    <a:p>
                      <a:pPr algn="l"/>
                      <a:r>
                        <a:rPr sz="1200" b="0">
                          <a:solidFill>
                            <a:srgbClr val="333333"/>
                          </a:solidFill>
                        </a:rPr>
                        <a:t>Indicative (see Ch.8)</a:t>
                      </a:r>
                    </a:p>
                  </a:txBody>
                  <a:tcPr>
                    <a:solidFill>
                      <a:srgbClr val="D6E8F7"/>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Uganda Broadcasting Corporation, "Uganda Commissions Africa's Most Advanced Vehicle Plant" (27 September 2025). https://ubc.go.ug/2025/09/27/uganda-commissions-africas-most-advanced-vehicle-plant-a-historic-milestone-for-industrialization-and-innovation/</a:t>
            </a:r>
          </a:p>
          <a:p>
            <a:pPr/>
            <a:r>
              <a:rPr sz="1600" b="0">
                <a:solidFill>
                  <a:srgbClr val="333333"/>
                </a:solidFill>
              </a:rPr>
              <a:t>•  Kiira Motors Corporation. https://kiiramotors.com/ ; Wikipedia summary: https://en.wikipedia.org/wiki/Kiira_Motors_Corporation</a:t>
            </a:r>
          </a:p>
          <a:p>
            <a:pPr/>
            <a:r>
              <a:rPr sz="1600" b="0">
                <a:solidFill>
                  <a:srgbClr val="333333"/>
                </a:solidFill>
              </a:rPr>
              <a:t>•  AutoMag.ug, "Kiira Motors unveils Kayoola electric buses for public transport" (2025). https://automag.ug/2025/08/25/kiira-motors-unveils-kayoola-electric-buses-for-public-transport/</a:t>
            </a:r>
          </a:p>
          <a:p>
            <a:pPr/>
            <a:r>
              <a:rPr sz="1600" b="0">
                <a:solidFill>
                  <a:srgbClr val="333333"/>
                </a:solidFill>
              </a:rPr>
              <a:t>•  Mobility Foresights, Uganda Used Car Market 2024–2030. https://mobilityforesights.com/product/uganda-used-car-market</a:t>
            </a:r>
          </a:p>
          <a:p>
            <a:pPr/>
            <a:r>
              <a:rPr sz="1600" b="0">
                <a:solidFill>
                  <a:srgbClr val="333333"/>
                </a:solidFill>
              </a:rPr>
              <a:t>•  ITC TradeMap, trade statistics — HS 8703, 8704, 8711, 8708, Uganda, 2024. https://www.trademap.org</a:t>
            </a:r>
          </a:p>
          <a:p>
            <a:pPr/>
            <a:r>
              <a:rPr sz="1600" b="0">
                <a:solidFill>
                  <a:srgbClr val="333333"/>
                </a:solidFill>
              </a:rPr>
              <a:t>•  Electricity Regulatory Authority, end-user tariffs 2025. https://www.era.go.ug/</a:t>
            </a:r>
          </a:p>
          <a:p>
            <a:pPr/>
            <a:r>
              <a:rPr sz="1600" b="0">
                <a:solidFill>
                  <a:srgbClr val="333333"/>
                </a:solidFill>
              </a:rPr>
              <a:t>•  NEMA. https://www.nema.go.ug/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7</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7: Cross-Cutting Priority Actions and Policy Recommendations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7.1 Introduction</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three Report 1 value chains share a common set of binding constraints and a common industrial logic. This chapter consolidates the cross-cutting actions that would lift all three chains simultaneously, and maps them to the six priority areas of the Uganda–UNIDO Programme for Country Partnership (PCP). These recommendations complement — and should be read alongside — the chain-specific action matrices in Chapters 4–6.</a:t>
            </a:r>
          </a:p>
          <a:p>
            <a:pPr/>
            <a:r>
              <a:rPr sz="1600" b="0">
                <a:solidFill>
                  <a:srgbClr val="333333"/>
                </a:solidFill>
              </a:rPr>
              <a:t>•  The integrating insight of Report 1 is that Iron &amp; Steel, Copper, and Automotive form a single industrial system: mined and processed metal feeds fabricated products that feed vehicle manufacture. Constraints that raise the cost of metal — energy, logistics, finance, feedstock policy — cascade through all three. Addressing them once benefits the whole system.</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7.2 The Shared Binding Constraints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Across the three chains, five constraints recur as decisive (drawing on the chain analyses and on cross-cutting evidence):</a:t>
            </a:r>
          </a:p>
          <a:p>
            <a:pPr/>
            <a:r>
              <a:rPr sz="1600" b="0">
                <a:solidFill>
                  <a:srgbClr val="333333"/>
                </a:solidFill>
              </a:rPr>
              <a:t>•  1. Energy cost and reliability. Metals processing (DRI, electro-refining, rolling) is electricity-intensive. Uganda's extra-large industrial tariff is around 5.5 US¢/kWh (5¢ off-peak) in 2025 (Electricity Regulatory Authority) — regionally competitive — but reliability and the cost of self-generation backup erode this advantage. The 2025 transition from UMEME to UEDCL as distributor is an opportunity to lock in industrial reliability commitments.</a:t>
            </a:r>
          </a:p>
          <a:p>
            <a:pPr/>
            <a:r>
              <a:rPr sz="1600" b="0">
                <a:solidFill>
                  <a:srgbClr val="333333"/>
                </a:solidFill>
              </a:rPr>
              <a:t>•  2. Logistics and the landlocked penalty. Logistics inefficiencies cost the economy an estimated USD 827 million a year, and logistics account for 18–20% of the sale price of goods (sector estimates). For bulk, low-value-density products like steel and ore, this is a first-order competitiveness drag and a reason to favour domestic processing over raw-material export.</a:t>
            </a:r>
          </a:p>
          <a:p>
            <a:pPr/>
            <a:r>
              <a:rPr sz="1600" b="0">
                <a:solidFill>
                  <a:srgbClr val="333333"/>
                </a:solidFill>
              </a:rPr>
              <a:t>•  3. Access to long-term finance. Integrated metals and automotive plants are highly capital-intensive with long pay-back. Long-term finance is scarce and costly, and 2025 liquidity tightening — driven by government borrowing — has crowded out private credit (KPMG, Uganda Budget Brief 2025/26). KMC's own FY25/26 financing gap illustrates the problem at the firm level.</a:t>
            </a:r>
          </a:p>
          <a:p>
            <a:pPr/>
            <a:r>
              <a:rPr sz="1600" b="0">
                <a:solidFill>
                  <a:srgbClr val="333333"/>
                </a:solidFill>
              </a:rPr>
              <a:t>•  4. Skills. Around 68% of manufacturers report difficulty finding workers with the technical skills they need (Uganda Manufacturers Association). Metallurgy, process engineering, mechatronics, and EV skills are particularly scarce.</a:t>
            </a:r>
          </a:p>
          <a:p>
            <a:pPr/>
            <a:r>
              <a:rPr sz="1600" b="0">
                <a:solidFill>
                  <a:srgbClr val="333333"/>
                </a:solidFill>
              </a:rPr>
              <a:t>•  5. Standards and quality. Sub-standard imported steel and electrical cable distort the market and endanger users, while uneven UNBS enforcement penalises compliant domestic firms. Quality infrastructure is both a safety issue and a competitiveness lever.</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7.3 Cross-Cutting Priority Actions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Uganda exports raw iron ore (USD 35.8m in 2024) and leaves copper ore unmined, then imports the processed metal back. Restrict or tax raw mineral-ore exports and prioritise domestic beneficiation, coordinated with the upstream investments in Chapters 4–5. This single policy shift underpins the import-substitution case across both metals chains.</a:t>
            </a:r>
          </a:p>
          <a:p>
            <a:pPr/>
            <a:r>
              <a:rPr sz="1600" b="0">
                <a:solidFill>
                  <a:srgbClr val="333333"/>
                </a:solidFill>
              </a:rPr>
              <a:t>•  Cluster metals and automotive activity in serviced industrial parks (Namanve, Jinja, and a mineral-processing zone near the resource base) with reliable dedicated power, water, effluent treatment, and logistics. Shared infrastructure reduces per-firm costs — directly addressing PCP Priority Area 3.</a:t>
            </a:r>
          </a:p>
          <a:p>
            <a:pPr/>
            <a:r>
              <a:rPr sz="1600" b="0">
                <a:solidFill>
                  <a:srgbClr val="333333"/>
                </a:solidFill>
              </a:rPr>
              <a:t>•  Establish or scale a long-term industrial-finance facility (through Uganda Development Bank and development partners) for capital-intensive metals and automotive investment, with blended/concessional terms to offset the crowding-out of private credit. Tie disbursement to the prioritized products in Chapters 4–6.</a:t>
            </a:r>
          </a:p>
          <a:p>
            <a:pPr/>
            <a:r>
              <a:rPr sz="1600" b="0">
                <a:solidFill>
                  <a:srgbClr val="333333"/>
                </a:solidFill>
              </a:rPr>
              <a:t>•  Resource UNBS to enforce standards on imported steel and electrical cable, levelling the field for compliant domestic producers and protecting consumers. A quick win requiring administrative rather than capital resources.</a:t>
            </a:r>
          </a:p>
          <a:p>
            <a:pPr/>
            <a:r>
              <a:rPr sz="1600" b="0">
                <a:solidFill>
                  <a:srgbClr val="333333"/>
                </a:solidFill>
              </a:rPr>
              <a:t>•  A targeted skills programme in metallurgy, process engineering, mechatronics, and EV technology, delivered through UIRI, Makerere, and TVET institutions in partnership with anchor firms (Tembo, Roofings, Cable Corporation, KMC).</a:t>
            </a:r>
          </a:p>
          <a:p>
            <a:pPr/>
            <a:r>
              <a:rPr sz="1600" b="0">
                <a:solidFill>
                  <a:srgbClr val="333333"/>
                </a:solidFill>
              </a:rPr>
              <a:t>•  Use government procurement — infrastructure steel, electrical cable for grid expansion, and KMC buses for public fleets — as a guaranteed demand anchor that de-risks domestic investment.</a:t>
            </a:r>
          </a:p>
          <a:p>
            <a:pPr/>
            <a:r>
              <a:rPr sz="1600" b="0">
                <a:solidFill>
                  <a:srgbClr val="333333"/>
                </a:solidFill>
              </a:rPr>
              <a:t>▸ A. Secure feedstock and stop raw-material leakage</a:t>
            </a:r>
          </a:p>
          <a:p>
            <a:pPr/>
            <a:r>
              <a:rPr sz="1600" b="0">
                <a:solidFill>
                  <a:srgbClr val="333333"/>
                </a:solidFill>
              </a:rPr>
              <a:t>▸ B. Industrial parks, power, and shared infrastructure</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7.3 Cross-Cutting Priority Actions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C. An industrial-finance instrument</a:t>
            </a:r>
          </a:p>
          <a:p>
            <a:pPr/>
            <a:r>
              <a:rPr sz="1600" b="0">
                <a:solidFill>
                  <a:srgbClr val="333333"/>
                </a:solidFill>
              </a:rPr>
              <a:t>▸ D. Standards enforcement</a:t>
            </a:r>
          </a:p>
          <a:p>
            <a:pPr/>
            <a:r>
              <a:rPr sz="1600" b="0">
                <a:solidFill>
                  <a:srgbClr val="333333"/>
                </a:solidFill>
              </a:rPr>
              <a:t>▸ E. Skills compact</a:t>
            </a:r>
          </a:p>
          <a:p>
            <a:pPr/>
            <a:r>
              <a:rPr sz="1600" b="0">
                <a:solidFill>
                  <a:srgbClr val="333333"/>
                </a:solidFill>
              </a:rPr>
              <a:t>▸ F. Demand-side anchors through public procurement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7.4 Alignment to PCP Priority Areas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6094476"/>
                <a:gridCol w="6094476"/>
              </a:tblGrid>
              <a:tr h="770708">
                <a:tc>
                  <a:txBody>
                    <a:bodyPr/>
                    <a:lstStyle/>
                    <a:p>
                      <a:pPr algn="l"/>
                      <a:r>
                        <a:rPr sz="1300" b="1">
                          <a:solidFill>
                            <a:srgbClr val="FFFFFF"/>
                          </a:solidFill>
                        </a:rPr>
                        <a:t>PCP Priority Area</a:t>
                      </a:r>
                    </a:p>
                  </a:txBody>
                  <a:tcPr>
                    <a:solidFill>
                      <a:srgbClr val="002B5B"/>
                    </a:solidFill>
                  </a:tcPr>
                </a:tc>
                <a:tc>
                  <a:txBody>
                    <a:bodyPr/>
                    <a:lstStyle/>
                    <a:p>
                      <a:pPr algn="l"/>
                      <a:r>
                        <a:rPr sz="1300" b="1">
                          <a:solidFill>
                            <a:srgbClr val="FFFFFF"/>
                          </a:solidFill>
                        </a:rPr>
                        <a:t>Report 1 cross-cutting actions</a:t>
                      </a:r>
                    </a:p>
                  </a:txBody>
                  <a:tcPr>
                    <a:solidFill>
                      <a:srgbClr val="002B5B"/>
                    </a:solidFill>
                  </a:tcPr>
                </a:tc>
              </a:tr>
              <a:tr h="770708">
                <a:tc>
                  <a:txBody>
                    <a:bodyPr/>
                    <a:lstStyle/>
                    <a:p>
                      <a:pPr algn="l"/>
                      <a:r>
                        <a:rPr sz="1200" b="0">
                          <a:solidFill>
                            <a:srgbClr val="333333"/>
                          </a:solidFill>
                        </a:rPr>
                        <a:t>1. Industrial policy implementation &amp; institutional coordination</a:t>
                      </a:r>
                    </a:p>
                  </a:txBody>
                  <a:tcPr>
                    <a:solidFill>
                      <a:srgbClr val="D6E8F7"/>
                    </a:solidFill>
                  </a:tcPr>
                </a:tc>
                <a:tc>
                  <a:txBody>
                    <a:bodyPr/>
                    <a:lstStyle/>
                    <a:p>
                      <a:pPr algn="l"/>
                      <a:r>
                        <a:rPr sz="1200" b="0">
                          <a:solidFill>
                            <a:srgbClr val="333333"/>
                          </a:solidFill>
                        </a:rPr>
                        <a:t>Feedstock/ore-export policy (A); standards enforcement (D); coordinated MTIC–MEMD–MoFPED action</a:t>
                      </a:r>
                    </a:p>
                  </a:txBody>
                  <a:tcPr>
                    <a:solidFill>
                      <a:srgbClr val="D6E8F7"/>
                    </a:solidFill>
                  </a:tcPr>
                </a:tc>
              </a:tr>
              <a:tr h="770708">
                <a:tc>
                  <a:txBody>
                    <a:bodyPr/>
                    <a:lstStyle/>
                    <a:p>
                      <a:pPr algn="l"/>
                      <a:r>
                        <a:rPr sz="1200" b="0">
                          <a:solidFill>
                            <a:srgbClr val="333333"/>
                          </a:solidFill>
                        </a:rPr>
                        <a:t>2. Mobilizing large-scale public &amp; private investment</a:t>
                      </a:r>
                    </a:p>
                  </a:txBody>
                  <a:tcPr>
                    <a:solidFill>
                      <a:srgbClr val="FFFFFF"/>
                    </a:solidFill>
                  </a:tcPr>
                </a:tc>
                <a:tc>
                  <a:txBody>
                    <a:bodyPr/>
                    <a:lstStyle/>
                    <a:p>
                      <a:pPr algn="l"/>
                      <a:r>
                        <a:rPr sz="1200" b="0">
                          <a:solidFill>
                            <a:srgbClr val="333333"/>
                          </a:solidFill>
                        </a:rPr>
                        <a:t>Industrial-finance instrument (C); investment portfolio (Ch.8); production-sharing model (Kilembe)</a:t>
                      </a:r>
                    </a:p>
                  </a:txBody>
                  <a:tcPr>
                    <a:solidFill>
                      <a:srgbClr val="FFFFFF"/>
                    </a:solidFill>
                  </a:tcPr>
                </a:tc>
              </a:tr>
              <a:tr h="770708">
                <a:tc>
                  <a:txBody>
                    <a:bodyPr/>
                    <a:lstStyle/>
                    <a:p>
                      <a:pPr algn="l"/>
                      <a:r>
                        <a:rPr sz="1200" b="0">
                          <a:solidFill>
                            <a:srgbClr val="333333"/>
                          </a:solidFill>
                        </a:rPr>
                        <a:t>3. Sustainable industrial parks &amp; free zones</a:t>
                      </a:r>
                    </a:p>
                  </a:txBody>
                  <a:tcPr>
                    <a:solidFill>
                      <a:srgbClr val="D6E8F7"/>
                    </a:solidFill>
                  </a:tcPr>
                </a:tc>
                <a:tc>
                  <a:txBody>
                    <a:bodyPr/>
                    <a:lstStyle/>
                    <a:p>
                      <a:pPr algn="l"/>
                      <a:r>
                        <a:rPr sz="1200" b="0">
                          <a:solidFill>
                            <a:srgbClr val="333333"/>
                          </a:solidFill>
                        </a:rPr>
                        <a:t>Parks, power, shared infrastructure (B)</a:t>
                      </a:r>
                    </a:p>
                  </a:txBody>
                  <a:tcPr>
                    <a:solidFill>
                      <a:srgbClr val="D6E8F7"/>
                    </a:solidFill>
                  </a:tcPr>
                </a:tc>
              </a:tr>
              <a:tr h="770708">
                <a:tc>
                  <a:txBody>
                    <a:bodyPr/>
                    <a:lstStyle/>
                    <a:p>
                      <a:pPr algn="l"/>
                      <a:r>
                        <a:rPr sz="1200" b="0">
                          <a:solidFill>
                            <a:srgbClr val="333333"/>
                          </a:solidFill>
                        </a:rPr>
                        <a:t>4. National standards, quality &amp; accreditation</a:t>
                      </a:r>
                    </a:p>
                  </a:txBody>
                  <a:tcPr>
                    <a:solidFill>
                      <a:srgbClr val="FFFFFF"/>
                    </a:solidFill>
                  </a:tcPr>
                </a:tc>
                <a:tc>
                  <a:txBody>
                    <a:bodyPr/>
                    <a:lstStyle/>
                    <a:p>
                      <a:pPr algn="l"/>
                      <a:r>
                        <a:rPr sz="1200" b="0">
                          <a:solidFill>
                            <a:srgbClr val="333333"/>
                          </a:solidFill>
                        </a:rPr>
                        <a:t>UNBS enforcement and capacity (D)</a:t>
                      </a:r>
                    </a:p>
                  </a:txBody>
                  <a:tcPr>
                    <a:solidFill>
                      <a:srgbClr val="FFFFFF"/>
                    </a:solidFill>
                  </a:tcPr>
                </a:tc>
              </a:tr>
              <a:tr h="770708">
                <a:tc>
                  <a:txBody>
                    <a:bodyPr/>
                    <a:lstStyle/>
                    <a:p>
                      <a:pPr algn="l"/>
                      <a:r>
                        <a:rPr sz="1200" b="0">
                          <a:solidFill>
                            <a:srgbClr val="333333"/>
                          </a:solidFill>
                        </a:rPr>
                        <a:t>5. Green industry, circular economy &amp; Industry 4.0</a:t>
                      </a:r>
                    </a:p>
                  </a:txBody>
                  <a:tcPr>
                    <a:solidFill>
                      <a:srgbClr val="D6E8F7"/>
                    </a:solidFill>
                  </a:tcPr>
                </a:tc>
                <a:tc>
                  <a:txBody>
                    <a:bodyPr/>
                    <a:lstStyle/>
                    <a:p>
                      <a:pPr algn="l"/>
                      <a:r>
                        <a:rPr sz="1200" b="0">
                          <a:solidFill>
                            <a:srgbClr val="333333"/>
                          </a:solidFill>
                        </a:rPr>
                        <a:t>Slag/tailings reuse; EV manufacturing (KMC); scrap-based EAF steel</a:t>
                      </a:r>
                    </a:p>
                  </a:txBody>
                  <a:tcPr>
                    <a:solidFill>
                      <a:srgbClr val="D6E8F7"/>
                    </a:solidFill>
                  </a:tcPr>
                </a:tc>
              </a:tr>
              <a:tr h="770712">
                <a:tc>
                  <a:txBody>
                    <a:bodyPr/>
                    <a:lstStyle/>
                    <a:p>
                      <a:pPr algn="l"/>
                      <a:r>
                        <a:rPr sz="1200" b="0">
                          <a:solidFill>
                            <a:srgbClr val="333333"/>
                          </a:solidFill>
                        </a:rPr>
                        <a:t>6. Productive use of renewable energy &amp; efficiency</a:t>
                      </a:r>
                    </a:p>
                  </a:txBody>
                  <a:tcPr>
                    <a:solidFill>
                      <a:srgbClr val="FFFFFF"/>
                    </a:solidFill>
                  </a:tcPr>
                </a:tc>
                <a:tc>
                  <a:txBody>
                    <a:bodyPr/>
                    <a:lstStyle/>
                    <a:p>
                      <a:pPr algn="l"/>
                      <a:r>
                        <a:rPr sz="1200" b="0">
                          <a:solidFill>
                            <a:srgbClr val="333333"/>
                          </a:solidFill>
                        </a:rPr>
                        <a:t>Industrial power reliability (A/B); hydro-grid-aligned EV strategy</a:t>
                      </a:r>
                    </a:p>
                  </a:txBody>
                  <a:tcPr>
                    <a:solidFill>
                      <a:srgbClr val="FFFFFF"/>
                    </a:solidFill>
                  </a:tcPr>
                </a:tc>
              </a:tr>
            </a:tbl>
          </a:graphicData>
        </a:graphic>
      </p:graphicFrame>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7.5 Summary of Cross-Cutting Recommendations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These six actions, taken together, address the shared constraints that hold back all three chains and convert Uganda's resource endowment and its new industrial anchors (Tembo, Devki, Kilembe redevelopment, KMC) into a competitive metals-to-mobility industrial system.</a:t>
            </a:r>
          </a:p>
          <a:p>
            <a:pPr/>
            <a:r>
              <a:rPr sz="1600" b="0">
                <a:solidFill>
                  <a:srgbClr val="333333"/>
                </a:solidFill>
              </a:rPr>
              <a:t>1. Retain and process minerals domestically — tax/restrict raw ore exports; prioritise beneficiation (highest-leverage single action).</a:t>
            </a:r>
          </a:p>
          <a:p>
            <a:pPr/>
            <a:r>
              <a:rPr sz="1600" b="0">
                <a:solidFill>
                  <a:srgbClr val="333333"/>
                </a:solidFill>
              </a:rPr>
              <a:t>2. Build serviced industrial parks with reliable power for metals and automotive clusters.</a:t>
            </a:r>
          </a:p>
          <a:p>
            <a:pPr/>
            <a:r>
              <a:rPr sz="1600" b="0">
                <a:solidFill>
                  <a:srgbClr val="333333"/>
                </a:solidFill>
              </a:rPr>
              <a:t>3. Create a long-term industrial-finance facility to overcome the capital constraint.</a:t>
            </a:r>
          </a:p>
          <a:p>
            <a:pPr/>
            <a:r>
              <a:rPr sz="1600" b="0">
                <a:solidFill>
                  <a:srgbClr val="333333"/>
                </a:solidFill>
              </a:rPr>
              <a:t>4. Enforce UNBS standards on steel and cable imports (quick win).</a:t>
            </a:r>
          </a:p>
          <a:p>
            <a:pPr/>
            <a:r>
              <a:rPr sz="1600" b="0">
                <a:solidFill>
                  <a:srgbClr val="333333"/>
                </a:solidFill>
              </a:rPr>
              <a:t>5. Launch a metals/automotive/EV skills compact.</a:t>
            </a:r>
          </a:p>
          <a:p>
            <a:pPr/>
            <a:r>
              <a:rPr sz="1600" b="0">
                <a:solidFill>
                  <a:srgbClr val="333333"/>
                </a:solidFill>
              </a:rPr>
              <a:t>6. Anchor demand through public procurement (infrastructure steel, grid cable, KMC buses).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Electricity Regulatory Authority, end-user tariffs 2025. https://www.era.go.ug/</a:t>
            </a:r>
          </a:p>
          <a:p>
            <a:pPr/>
            <a:r>
              <a:rPr sz="1600" b="0">
                <a:solidFill>
                  <a:srgbClr val="333333"/>
                </a:solidFill>
              </a:rPr>
              <a:t>•  KPMG, Uganda Budget Brief 2025/26. https://assets.kpmg.com/</a:t>
            </a:r>
          </a:p>
          <a:p>
            <a:pPr/>
            <a:r>
              <a:rPr sz="1600" b="0">
                <a:solidFill>
                  <a:srgbClr val="333333"/>
                </a:solidFill>
              </a:rPr>
              <a:t>•  Uganda Manufacturers Association; UNIDO — manufacturing skills evidence. https://uma.or.ug/ ; https://www.unido.org/</a:t>
            </a:r>
          </a:p>
          <a:p>
            <a:pPr/>
            <a:r>
              <a:rPr sz="1600" b="0">
                <a:solidFill>
                  <a:srgbClr val="333333"/>
                </a:solidFill>
              </a:rPr>
              <a:t>•  NEMA, Effluent Discharge Regulations 2020. https://www.nema.go.ug/</a:t>
            </a:r>
          </a:p>
          <a:p>
            <a:pPr/>
            <a:r>
              <a:rPr sz="1600" b="0">
                <a:solidFill>
                  <a:srgbClr val="333333"/>
                </a:solidFill>
              </a:rPr>
              <a:t>•  ITC TradeMap, trade statistics (2024). https://www.trademap.org</a:t>
            </a:r>
          </a:p>
          <a:p>
            <a:pPr/>
            <a:r>
              <a:rPr sz="1600" b="0">
                <a:solidFill>
                  <a:srgbClr val="333333"/>
                </a:solidFill>
              </a:rPr>
              <a:t>•  UNIDO, Programme for Country Partnership. https://www.unido.org/programme-country-partnership</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8</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8: Investment Portfolio and Implementation Roadmap</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8.1 Purpose</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This chapter consolidates the prioritized products from Chapters 4–6 into an investment portfolio and a phased implementation roadmap. It is organised to enable a decision: what to invest in, in what order, by whom, and at what indicative scale. Each priority product carries a short project profile (Section 8.3).</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8.2 Investment Portfolio Overview</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2031492"/>
                <a:gridCol w="2031492"/>
                <a:gridCol w="2031492"/>
                <a:gridCol w="2031492"/>
                <a:gridCol w="2031492"/>
                <a:gridCol w="2031492"/>
              </a:tblGrid>
              <a:tr h="674370">
                <a:tc>
                  <a:txBody>
                    <a:bodyPr/>
                    <a:lstStyle/>
                    <a:p>
                      <a:pPr algn="l"/>
                      <a:r>
                        <a:rPr sz="1300" b="1">
                          <a:solidFill>
                            <a:srgbClr val="FFFFFF"/>
                          </a:solidFill>
                        </a:rPr>
                        <a:t>#</a:t>
                      </a:r>
                    </a:p>
                  </a:txBody>
                  <a:tcPr>
                    <a:solidFill>
                      <a:srgbClr val="002B5B"/>
                    </a:solidFill>
                  </a:tcPr>
                </a:tc>
                <a:tc>
                  <a:txBody>
                    <a:bodyPr/>
                    <a:lstStyle/>
                    <a:p>
                      <a:pPr algn="l"/>
                      <a:r>
                        <a:rPr sz="1300" b="1">
                          <a:solidFill>
                            <a:srgbClr val="FFFFFF"/>
                          </a:solidFill>
                        </a:rPr>
                        <a:t>Investment</a:t>
                      </a:r>
                    </a:p>
                  </a:txBody>
                  <a:tcPr>
                    <a:solidFill>
                      <a:srgbClr val="002B5B"/>
                    </a:solidFill>
                  </a:tcPr>
                </a:tc>
                <a:tc>
                  <a:txBody>
                    <a:bodyPr/>
                    <a:lstStyle/>
                    <a:p>
                      <a:pPr algn="l"/>
                      <a:r>
                        <a:rPr sz="1300" b="1">
                          <a:solidFill>
                            <a:srgbClr val="FFFFFF"/>
                          </a:solidFill>
                        </a:rPr>
                        <a:t>Chain</a:t>
                      </a:r>
                    </a:p>
                  </a:txBody>
                  <a:tcPr>
                    <a:solidFill>
                      <a:srgbClr val="002B5B"/>
                    </a:solidFill>
                  </a:tcPr>
                </a:tc>
                <a:tc>
                  <a:txBody>
                    <a:bodyPr/>
                    <a:lstStyle/>
                    <a:p>
                      <a:pPr algn="l"/>
                      <a:r>
                        <a:rPr sz="1300" b="1">
                          <a:solidFill>
                            <a:srgbClr val="FFFFFF"/>
                          </a:solidFill>
                        </a:rPr>
                        <a:t>Modality</a:t>
                      </a:r>
                    </a:p>
                  </a:txBody>
                  <a:tcPr>
                    <a:solidFill>
                      <a:srgbClr val="002B5B"/>
                    </a:solidFill>
                  </a:tcPr>
                </a:tc>
                <a:tc>
                  <a:txBody>
                    <a:bodyPr/>
                    <a:lstStyle/>
                    <a:p>
                      <a:pPr algn="l"/>
                      <a:r>
                        <a:rPr sz="1300" b="1">
                          <a:solidFill>
                            <a:srgbClr val="FFFFFF"/>
                          </a:solidFill>
                        </a:rPr>
                        <a:t>Indicative CAPEX</a:t>
                      </a:r>
                    </a:p>
                  </a:txBody>
                  <a:tcPr>
                    <a:solidFill>
                      <a:srgbClr val="002B5B"/>
                    </a:solidFill>
                  </a:tcPr>
                </a:tc>
                <a:tc>
                  <a:txBody>
                    <a:bodyPr/>
                    <a:lstStyle/>
                    <a:p>
                      <a:pPr algn="l"/>
                      <a:r>
                        <a:rPr sz="1300" b="1">
                          <a:solidFill>
                            <a:srgbClr val="FFFFFF"/>
                          </a:solidFill>
                        </a:rPr>
                        <a:t>Status / anchor</a:t>
                      </a:r>
                    </a:p>
                  </a:txBody>
                  <a:tcPr>
                    <a:solidFill>
                      <a:srgbClr val="002B5B"/>
                    </a:solidFill>
                  </a:tcPr>
                </a:tc>
              </a:tr>
              <a:tr h="674370">
                <a:tc>
                  <a:txBody>
                    <a:bodyPr/>
                    <a:lstStyle/>
                    <a:p>
                      <a:pPr algn="l"/>
                      <a:r>
                        <a:rPr sz="1200" b="0">
                          <a:solidFill>
                            <a:srgbClr val="333333"/>
                          </a:solidFill>
                        </a:rPr>
                        <a:t>1</a:t>
                      </a:r>
                    </a:p>
                  </a:txBody>
                  <a:tcPr>
                    <a:solidFill>
                      <a:srgbClr val="D6E8F7"/>
                    </a:solidFill>
                  </a:tcPr>
                </a:tc>
                <a:tc>
                  <a:txBody>
                    <a:bodyPr/>
                    <a:lstStyle/>
                    <a:p>
                      <a:pPr algn="l"/>
                      <a:r>
                        <a:rPr sz="1200" b="0">
                          <a:solidFill>
                            <a:srgbClr val="333333"/>
                          </a:solidFill>
                        </a:rPr>
                        <a:t>Integrated ore→DRI→steel complex</a:t>
                      </a:r>
                    </a:p>
                  </a:txBody>
                  <a:tcPr>
                    <a:solidFill>
                      <a:srgbClr val="D6E8F7"/>
                    </a:solidFill>
                  </a:tcPr>
                </a:tc>
                <a:tc>
                  <a:txBody>
                    <a:bodyPr/>
                    <a:lstStyle/>
                    <a:p>
                      <a:pPr algn="l"/>
                      <a:r>
                        <a:rPr sz="1200" b="0">
                          <a:solidFill>
                            <a:srgbClr val="333333"/>
                          </a:solidFill>
                        </a:rPr>
                        <a:t>Iron &amp; Steel</a:t>
                      </a:r>
                    </a:p>
                  </a:txBody>
                  <a:tcPr>
                    <a:solidFill>
                      <a:srgbClr val="D6E8F7"/>
                    </a:solidFill>
                  </a:tcPr>
                </a:tc>
                <a:tc>
                  <a:txBody>
                    <a:bodyPr/>
                    <a:lstStyle/>
                    <a:p>
                      <a:pPr algn="l"/>
                      <a:r>
                        <a:rPr sz="1200" b="0">
                          <a:solidFill>
                            <a:srgbClr val="333333"/>
                          </a:solidFill>
                        </a:rPr>
                        <a:t>Private-led + PPP</a:t>
                      </a:r>
                    </a:p>
                  </a:txBody>
                  <a:tcPr>
                    <a:solidFill>
                      <a:srgbClr val="D6E8F7"/>
                    </a:solidFill>
                  </a:tcPr>
                </a:tc>
                <a:tc>
                  <a:txBody>
                    <a:bodyPr/>
                    <a:lstStyle/>
                    <a:p>
                      <a:pPr algn="l"/>
                      <a:r>
                        <a:rPr sz="1200" b="0">
                          <a:solidFill>
                            <a:srgbClr val="333333"/>
                          </a:solidFill>
                        </a:rPr>
                        <a:t>~USD 500m–1.0bn</a:t>
                      </a:r>
                    </a:p>
                  </a:txBody>
                  <a:tcPr>
                    <a:solidFill>
                      <a:srgbClr val="D6E8F7"/>
                    </a:solidFill>
                  </a:tcPr>
                </a:tc>
                <a:tc>
                  <a:txBody>
                    <a:bodyPr/>
                    <a:lstStyle/>
                    <a:p>
                      <a:pPr algn="l"/>
                      <a:r>
                        <a:rPr sz="1200" b="0">
                          <a:solidFill>
                            <a:srgbClr val="333333"/>
                          </a:solidFill>
                        </a:rPr>
                        <a:t>Devki broke ground Nov 2025 (~USD 500m announced)</a:t>
                      </a:r>
                    </a:p>
                  </a:txBody>
                  <a:tcPr>
                    <a:solidFill>
                      <a:srgbClr val="D6E8F7"/>
                    </a:solidFill>
                  </a:tcPr>
                </a:tc>
              </a:tr>
              <a:tr h="674370">
                <a:tc>
                  <a:txBody>
                    <a:bodyPr/>
                    <a:lstStyle/>
                    <a:p>
                      <a:pPr algn="l"/>
                      <a:r>
                        <a:rPr sz="1200" b="0">
                          <a:solidFill>
                            <a:srgbClr val="333333"/>
                          </a:solidFill>
                        </a:rPr>
                        <a:t>2</a:t>
                      </a:r>
                    </a:p>
                  </a:txBody>
                  <a:tcPr>
                    <a:solidFill>
                      <a:srgbClr val="FFFFFF"/>
                    </a:solidFill>
                  </a:tcPr>
                </a:tc>
                <a:tc>
                  <a:txBody>
                    <a:bodyPr/>
                    <a:lstStyle/>
                    <a:p>
                      <a:pPr algn="l"/>
                      <a:r>
                        <a:rPr sz="1200" b="0">
                          <a:solidFill>
                            <a:srgbClr val="333333"/>
                          </a:solidFill>
                        </a:rPr>
                        <a:t>Flat-steel rolling mill</a:t>
                      </a:r>
                    </a:p>
                  </a:txBody>
                  <a:tcPr>
                    <a:solidFill>
                      <a:srgbClr val="FFFFFF"/>
                    </a:solidFill>
                  </a:tcPr>
                </a:tc>
                <a:tc>
                  <a:txBody>
                    <a:bodyPr/>
                    <a:lstStyle/>
                    <a:p>
                      <a:pPr algn="l"/>
                      <a:r>
                        <a:rPr sz="1200" b="0">
                          <a:solidFill>
                            <a:srgbClr val="333333"/>
                          </a:solidFill>
                        </a:rPr>
                        <a:t>Iron &amp; Steel</a:t>
                      </a:r>
                    </a:p>
                  </a:txBody>
                  <a:tcPr>
                    <a:solidFill>
                      <a:srgbClr val="FFFFFF"/>
                    </a:solidFill>
                  </a:tcPr>
                </a:tc>
                <a:tc>
                  <a:txBody>
                    <a:bodyPr/>
                    <a:lstStyle/>
                    <a:p>
                      <a:pPr algn="l"/>
                      <a:r>
                        <a:rPr sz="1200" b="0">
                          <a:solidFill>
                            <a:srgbClr val="333333"/>
                          </a:solidFill>
                        </a:rPr>
                        <a:t>Private-led</a:t>
                      </a:r>
                    </a:p>
                  </a:txBody>
                  <a:tcPr>
                    <a:solidFill>
                      <a:srgbClr val="FFFFFF"/>
                    </a:solidFill>
                  </a:tcPr>
                </a:tc>
                <a:tc>
                  <a:txBody>
                    <a:bodyPr/>
                    <a:lstStyle/>
                    <a:p>
                      <a:pPr algn="l"/>
                      <a:r>
                        <a:rPr sz="1200" b="0">
                          <a:solidFill>
                            <a:srgbClr val="333333"/>
                          </a:solidFill>
                        </a:rPr>
                        <a:t>~USD 150–300m (indicative)</a:t>
                      </a:r>
                    </a:p>
                  </a:txBody>
                  <a:tcPr>
                    <a:solidFill>
                      <a:srgbClr val="FFFFFF"/>
                    </a:solidFill>
                  </a:tcPr>
                </a:tc>
                <a:tc>
                  <a:txBody>
                    <a:bodyPr/>
                    <a:lstStyle/>
                    <a:p>
                      <a:pPr algn="l"/>
                      <a:r>
                        <a:rPr sz="1200" b="0">
                          <a:solidFill>
                            <a:srgbClr val="333333"/>
                          </a:solidFill>
                        </a:rPr>
                        <a:t>Substitutes USD 219.5m flat-steel imports</a:t>
                      </a:r>
                    </a:p>
                  </a:txBody>
                  <a:tcPr>
                    <a:solidFill>
                      <a:srgbClr val="FFFFFF"/>
                    </a:solidFill>
                  </a:tcPr>
                </a:tc>
              </a:tr>
              <a:tr h="674370">
                <a:tc>
                  <a:txBody>
                    <a:bodyPr/>
                    <a:lstStyle/>
                    <a:p>
                      <a:pPr algn="l"/>
                      <a:r>
                        <a:rPr sz="1200" b="0">
                          <a:solidFill>
                            <a:srgbClr val="333333"/>
                          </a:solidFill>
                        </a:rPr>
                        <a:t>3</a:t>
                      </a:r>
                    </a:p>
                  </a:txBody>
                  <a:tcPr>
                    <a:solidFill>
                      <a:srgbClr val="D6E8F7"/>
                    </a:solidFill>
                  </a:tcPr>
                </a:tc>
                <a:tc>
                  <a:txBody>
                    <a:bodyPr/>
                    <a:lstStyle/>
                    <a:p>
                      <a:pPr algn="l"/>
                      <a:r>
                        <a:rPr sz="1200" b="0">
                          <a:solidFill>
                            <a:srgbClr val="333333"/>
                          </a:solidFill>
                        </a:rPr>
                        <a:t>Iron-ore mining &amp; beneficiation</a:t>
                      </a:r>
                    </a:p>
                  </a:txBody>
                  <a:tcPr>
                    <a:solidFill>
                      <a:srgbClr val="D6E8F7"/>
                    </a:solidFill>
                  </a:tcPr>
                </a:tc>
                <a:tc>
                  <a:txBody>
                    <a:bodyPr/>
                    <a:lstStyle/>
                    <a:p>
                      <a:pPr algn="l"/>
                      <a:r>
                        <a:rPr sz="1200" b="0">
                          <a:solidFill>
                            <a:srgbClr val="333333"/>
                          </a:solidFill>
                        </a:rPr>
                        <a:t>Iron &amp; Steel</a:t>
                      </a:r>
                    </a:p>
                  </a:txBody>
                  <a:tcPr>
                    <a:solidFill>
                      <a:srgbClr val="D6E8F7"/>
                    </a:solidFill>
                  </a:tcPr>
                </a:tc>
                <a:tc>
                  <a:txBody>
                    <a:bodyPr/>
                    <a:lstStyle/>
                    <a:p>
                      <a:pPr algn="l"/>
                      <a:r>
                        <a:rPr sz="1200" b="0">
                          <a:solidFill>
                            <a:srgbClr val="333333"/>
                          </a:solidFill>
                        </a:rPr>
                        <a:t>Private-led / PPP</a:t>
                      </a:r>
                    </a:p>
                  </a:txBody>
                  <a:tcPr>
                    <a:solidFill>
                      <a:srgbClr val="D6E8F7"/>
                    </a:solidFill>
                  </a:tcPr>
                </a:tc>
                <a:tc>
                  <a:txBody>
                    <a:bodyPr/>
                    <a:lstStyle/>
                    <a:p>
                      <a:pPr algn="l"/>
                      <a:r>
                        <a:rPr sz="1200" b="0">
                          <a:solidFill>
                            <a:srgbClr val="333333"/>
                          </a:solidFill>
                        </a:rPr>
                        <a:t>~USD 100–250m (indicative)</a:t>
                      </a:r>
                    </a:p>
                  </a:txBody>
                  <a:tcPr>
                    <a:solidFill>
                      <a:srgbClr val="D6E8F7"/>
                    </a:solidFill>
                  </a:tcPr>
                </a:tc>
                <a:tc>
                  <a:txBody>
                    <a:bodyPr/>
                    <a:lstStyle/>
                    <a:p>
                      <a:pPr algn="l"/>
                      <a:r>
                        <a:rPr sz="1200" b="0">
                          <a:solidFill>
                            <a:srgbClr val="333333"/>
                          </a:solidFill>
                        </a:rPr>
                        <a:t>Enables 1 &amp; feeds domestic mills</a:t>
                      </a:r>
                    </a:p>
                  </a:txBody>
                  <a:tcPr>
                    <a:solidFill>
                      <a:srgbClr val="D6E8F7"/>
                    </a:solidFill>
                  </a:tcPr>
                </a:tc>
              </a:tr>
              <a:tr h="674370">
                <a:tc>
                  <a:txBody>
                    <a:bodyPr/>
                    <a:lstStyle/>
                    <a:p>
                      <a:pPr algn="l"/>
                      <a:r>
                        <a:rPr sz="1200" b="0">
                          <a:solidFill>
                            <a:srgbClr val="333333"/>
                          </a:solidFill>
                        </a:rPr>
                        <a:t>4</a:t>
                      </a:r>
                    </a:p>
                  </a:txBody>
                  <a:tcPr>
                    <a:solidFill>
                      <a:srgbClr val="FFFFFF"/>
                    </a:solidFill>
                  </a:tcPr>
                </a:tc>
                <a:tc>
                  <a:txBody>
                    <a:bodyPr/>
                    <a:lstStyle/>
                    <a:p>
                      <a:pPr algn="l"/>
                      <a:r>
                        <a:rPr sz="1200" b="0">
                          <a:solidFill>
                            <a:srgbClr val="333333"/>
                          </a:solidFill>
                        </a:rPr>
                        <a:t>Kilembe copper–cobalt redevelopment</a:t>
                      </a:r>
                    </a:p>
                  </a:txBody>
                  <a:tcPr>
                    <a:solidFill>
                      <a:srgbClr val="FFFFFF"/>
                    </a:solidFill>
                  </a:tcPr>
                </a:tc>
                <a:tc>
                  <a:txBody>
                    <a:bodyPr/>
                    <a:lstStyle/>
                    <a:p>
                      <a:pPr algn="l"/>
                      <a:r>
                        <a:rPr sz="1200" b="0">
                          <a:solidFill>
                            <a:srgbClr val="333333"/>
                          </a:solidFill>
                        </a:rPr>
                        <a:t>Copper</a:t>
                      </a:r>
                    </a:p>
                  </a:txBody>
                  <a:tcPr>
                    <a:solidFill>
                      <a:srgbClr val="FFFFFF"/>
                    </a:solidFill>
                  </a:tcPr>
                </a:tc>
                <a:tc>
                  <a:txBody>
                    <a:bodyPr/>
                    <a:lstStyle/>
                    <a:p>
                      <a:pPr algn="l"/>
                      <a:r>
                        <a:rPr sz="1200" b="0">
                          <a:solidFill>
                            <a:srgbClr val="333333"/>
                          </a:solidFill>
                        </a:rPr>
                        <a:t>Production-sharing (PPP)</a:t>
                      </a:r>
                    </a:p>
                  </a:txBody>
                  <a:tcPr>
                    <a:solidFill>
                      <a:srgbClr val="FFFFFF"/>
                    </a:solidFill>
                  </a:tcPr>
                </a:tc>
                <a:tc>
                  <a:txBody>
                    <a:bodyPr/>
                    <a:lstStyle/>
                    <a:p>
                      <a:pPr algn="l"/>
                      <a:r>
                        <a:rPr sz="1200" b="0">
                          <a:solidFill>
                            <a:srgbClr val="333333"/>
                          </a:solidFill>
                        </a:rPr>
                        <a:t>Large; investor-financed</a:t>
                      </a:r>
                    </a:p>
                  </a:txBody>
                  <a:tcPr>
                    <a:solidFill>
                      <a:srgbClr val="FFFFFF"/>
                    </a:solidFill>
                  </a:tcPr>
                </a:tc>
                <a:tc>
                  <a:txBody>
                    <a:bodyPr/>
                    <a:lstStyle/>
                    <a:p>
                      <a:pPr algn="l"/>
                      <a:r>
                        <a:rPr sz="1200" b="0">
                          <a:solidFill>
                            <a:srgbClr val="333333"/>
                          </a:solidFill>
                        </a:rPr>
                        <a:t>Sarrai/Nile Fibreboard deal, Mar 2025</a:t>
                      </a:r>
                    </a:p>
                  </a:txBody>
                  <a:tcPr>
                    <a:solidFill>
                      <a:srgbClr val="FFFFFF"/>
                    </a:solidFill>
                  </a:tcPr>
                </a:tc>
              </a:tr>
              <a:tr h="674370">
                <a:tc>
                  <a:txBody>
                    <a:bodyPr/>
                    <a:lstStyle/>
                    <a:p>
                      <a:pPr algn="l"/>
                      <a:r>
                        <a:rPr sz="1200" b="0">
                          <a:solidFill>
                            <a:srgbClr val="333333"/>
                          </a:solidFill>
                        </a:rPr>
                        <a:t>5</a:t>
                      </a:r>
                    </a:p>
                  </a:txBody>
                  <a:tcPr>
                    <a:solidFill>
                      <a:srgbClr val="D6E8F7"/>
                    </a:solidFill>
                  </a:tcPr>
                </a:tc>
                <a:tc>
                  <a:txBody>
                    <a:bodyPr/>
                    <a:lstStyle/>
                    <a:p>
                      <a:pPr algn="l"/>
                      <a:r>
                        <a:rPr sz="1200" b="0">
                          <a:solidFill>
                            <a:srgbClr val="333333"/>
                          </a:solidFill>
                        </a:rPr>
                        <a:t>Cable &amp; conductor capacity expansion</a:t>
                      </a:r>
                    </a:p>
                  </a:txBody>
                  <a:tcPr>
                    <a:solidFill>
                      <a:srgbClr val="D6E8F7"/>
                    </a:solidFill>
                  </a:tcPr>
                </a:tc>
                <a:tc>
                  <a:txBody>
                    <a:bodyPr/>
                    <a:lstStyle/>
                    <a:p>
                      <a:pPr algn="l"/>
                      <a:r>
                        <a:rPr sz="1200" b="0">
                          <a:solidFill>
                            <a:srgbClr val="333333"/>
                          </a:solidFill>
                        </a:rPr>
                        <a:t>Copper</a:t>
                      </a:r>
                    </a:p>
                  </a:txBody>
                  <a:tcPr>
                    <a:solidFill>
                      <a:srgbClr val="D6E8F7"/>
                    </a:solidFill>
                  </a:tcPr>
                </a:tc>
                <a:tc>
                  <a:txBody>
                    <a:bodyPr/>
                    <a:lstStyle/>
                    <a:p>
                      <a:pPr algn="l"/>
                      <a:r>
                        <a:rPr sz="1200" b="0">
                          <a:solidFill>
                            <a:srgbClr val="333333"/>
                          </a:solidFill>
                        </a:rPr>
                        <a:t>Private-led</a:t>
                      </a:r>
                    </a:p>
                  </a:txBody>
                  <a:tcPr>
                    <a:solidFill>
                      <a:srgbClr val="D6E8F7"/>
                    </a:solidFill>
                  </a:tcPr>
                </a:tc>
                <a:tc>
                  <a:txBody>
                    <a:bodyPr/>
                    <a:lstStyle/>
                    <a:p>
                      <a:pPr algn="l"/>
                      <a:r>
                        <a:rPr sz="1200" b="0">
                          <a:solidFill>
                            <a:srgbClr val="333333"/>
                          </a:solidFill>
                        </a:rPr>
                        <a:t>~USD 30–80m (indicative)</a:t>
                      </a:r>
                    </a:p>
                  </a:txBody>
                  <a:tcPr>
                    <a:solidFill>
                      <a:srgbClr val="D6E8F7"/>
                    </a:solidFill>
                  </a:tcPr>
                </a:tc>
                <a:tc>
                  <a:txBody>
                    <a:bodyPr/>
                    <a:lstStyle/>
                    <a:p>
                      <a:pPr algn="l"/>
                      <a:r>
                        <a:rPr sz="1200" b="0">
                          <a:solidFill>
                            <a:srgbClr val="333333"/>
                          </a:solidFill>
                        </a:rPr>
                        <a:t>Builds on Cable Corp (~65% market)</a:t>
                      </a:r>
                    </a:p>
                  </a:txBody>
                  <a:tcPr>
                    <a:solidFill>
                      <a:srgbClr val="D6E8F7"/>
                    </a:solidFill>
                  </a:tcPr>
                </a:tc>
              </a:tr>
              <a:tr h="674370">
                <a:tc>
                  <a:txBody>
                    <a:bodyPr/>
                    <a:lstStyle/>
                    <a:p>
                      <a:pPr algn="l"/>
                      <a:r>
                        <a:rPr sz="1200" b="0">
                          <a:solidFill>
                            <a:srgbClr val="333333"/>
                          </a:solidFill>
                        </a:rPr>
                        <a:t>6</a:t>
                      </a:r>
                    </a:p>
                  </a:txBody>
                  <a:tcPr>
                    <a:solidFill>
                      <a:srgbClr val="FFFFFF"/>
                    </a:solidFill>
                  </a:tcPr>
                </a:tc>
                <a:tc>
                  <a:txBody>
                    <a:bodyPr/>
                    <a:lstStyle/>
                    <a:p>
                      <a:pPr algn="l"/>
                      <a:r>
                        <a:rPr sz="1200" b="0">
                          <a:solidFill>
                            <a:srgbClr val="333333"/>
                          </a:solidFill>
                        </a:rPr>
                        <a:t>KMC capacity expansion (buses/EVs)</a:t>
                      </a:r>
                    </a:p>
                  </a:txBody>
                  <a:tcPr>
                    <a:solidFill>
                      <a:srgbClr val="FFFFFF"/>
                    </a:solidFill>
                  </a:tcPr>
                </a:tc>
                <a:tc>
                  <a:txBody>
                    <a:bodyPr/>
                    <a:lstStyle/>
                    <a:p>
                      <a:pPr algn="l"/>
                      <a:r>
                        <a:rPr sz="1200" b="0">
                          <a:solidFill>
                            <a:srgbClr val="333333"/>
                          </a:solidFill>
                        </a:rPr>
                        <a:t>Automotive</a:t>
                      </a:r>
                    </a:p>
                  </a:txBody>
                  <a:tcPr>
                    <a:solidFill>
                      <a:srgbClr val="FFFFFF"/>
                    </a:solidFill>
                  </a:tcPr>
                </a:tc>
                <a:tc>
                  <a:txBody>
                    <a:bodyPr/>
                    <a:lstStyle/>
                    <a:p>
                      <a:pPr algn="l"/>
                      <a:r>
                        <a:rPr sz="1200" b="0">
                          <a:solidFill>
                            <a:srgbClr val="333333"/>
                          </a:solidFill>
                        </a:rPr>
                        <a:t>Public + PPP</a:t>
                      </a:r>
                    </a:p>
                  </a:txBody>
                  <a:tcPr>
                    <a:solidFill>
                      <a:srgbClr val="FFFFFF"/>
                    </a:solidFill>
                  </a:tcPr>
                </a:tc>
                <a:tc>
                  <a:txBody>
                    <a:bodyPr/>
                    <a:lstStyle/>
                    <a:p>
                      <a:pPr algn="l"/>
                      <a:r>
                        <a:rPr sz="1200" b="0">
                          <a:solidFill>
                            <a:srgbClr val="333333"/>
                          </a:solidFill>
                        </a:rPr>
                        <a:t>~USD 100–200m (indicative)</a:t>
                      </a:r>
                    </a:p>
                  </a:txBody>
                  <a:tcPr>
                    <a:solidFill>
                      <a:srgbClr val="FFFFFF"/>
                    </a:solidFill>
                  </a:tcPr>
                </a:tc>
                <a:tc>
                  <a:txBody>
                    <a:bodyPr/>
                    <a:lstStyle/>
                    <a:p>
                      <a:pPr algn="l"/>
                      <a:r>
                        <a:rPr sz="1200" b="0">
                          <a:solidFill>
                            <a:srgbClr val="333333"/>
                          </a:solidFill>
                        </a:rPr>
                        <a:t>Plant commissioned Sept 2025</a:t>
                      </a:r>
                    </a:p>
                  </a:txBody>
                  <a:tcPr>
                    <a:solidFill>
                      <a:srgbClr val="FFFFFF"/>
                    </a:solidFill>
                  </a:tcPr>
                </a:tc>
              </a:tr>
              <a:tr h="674370">
                <a:tc>
                  <a:txBody>
                    <a:bodyPr/>
                    <a:lstStyle/>
                    <a:p>
                      <a:pPr algn="l"/>
                      <a:r>
                        <a:rPr sz="1200" b="0">
                          <a:solidFill>
                            <a:srgbClr val="333333"/>
                          </a:solidFill>
                        </a:rPr>
                        <a:t>7</a:t>
                      </a:r>
                    </a:p>
                  </a:txBody>
                  <a:tcPr>
                    <a:solidFill>
                      <a:srgbClr val="D6E8F7"/>
                    </a:solidFill>
                  </a:tcPr>
                </a:tc>
                <a:tc>
                  <a:txBody>
                    <a:bodyPr/>
                    <a:lstStyle/>
                    <a:p>
                      <a:pPr algn="l"/>
                      <a:r>
                        <a:rPr sz="1200" b="0">
                          <a:solidFill>
                            <a:srgbClr val="333333"/>
                          </a:solidFill>
                        </a:rPr>
                        <a:t>Motorcycle CKD assembly plant(s)</a:t>
                      </a:r>
                    </a:p>
                  </a:txBody>
                  <a:tcPr>
                    <a:solidFill>
                      <a:srgbClr val="D6E8F7"/>
                    </a:solidFill>
                  </a:tcPr>
                </a:tc>
                <a:tc>
                  <a:txBody>
                    <a:bodyPr/>
                    <a:lstStyle/>
                    <a:p>
                      <a:pPr algn="l"/>
                      <a:r>
                        <a:rPr sz="1200" b="0">
                          <a:solidFill>
                            <a:srgbClr val="333333"/>
                          </a:solidFill>
                        </a:rPr>
                        <a:t>Automotive</a:t>
                      </a:r>
                    </a:p>
                  </a:txBody>
                  <a:tcPr>
                    <a:solidFill>
                      <a:srgbClr val="D6E8F7"/>
                    </a:solidFill>
                  </a:tcPr>
                </a:tc>
                <a:tc>
                  <a:txBody>
                    <a:bodyPr/>
                    <a:lstStyle/>
                    <a:p>
                      <a:pPr algn="l"/>
                      <a:r>
                        <a:rPr sz="1200" b="0">
                          <a:solidFill>
                            <a:srgbClr val="333333"/>
                          </a:solidFill>
                        </a:rPr>
                        <a:t>Private-led</a:t>
                      </a:r>
                    </a:p>
                  </a:txBody>
                  <a:tcPr>
                    <a:solidFill>
                      <a:srgbClr val="D6E8F7"/>
                    </a:solidFill>
                  </a:tcPr>
                </a:tc>
                <a:tc>
                  <a:txBody>
                    <a:bodyPr/>
                    <a:lstStyle/>
                    <a:p>
                      <a:pPr algn="l"/>
                      <a:r>
                        <a:rPr sz="1200" b="0">
                          <a:solidFill>
                            <a:srgbClr val="333333"/>
                          </a:solidFill>
                        </a:rPr>
                        <a:t>~USD 20–50m (indicative)</a:t>
                      </a:r>
                    </a:p>
                  </a:txBody>
                  <a:tcPr>
                    <a:solidFill>
                      <a:srgbClr val="D6E8F7"/>
                    </a:solidFill>
                  </a:tcPr>
                </a:tc>
                <a:tc>
                  <a:txBody>
                    <a:bodyPr/>
                    <a:lstStyle/>
                    <a:p>
                      <a:pPr algn="l"/>
                      <a:r>
                        <a:rPr sz="1200" b="0">
                          <a:solidFill>
                            <a:srgbClr val="333333"/>
                          </a:solidFill>
                        </a:rPr>
                        <a:t>Substitutes part of USD 157m imports</a:t>
                      </a:r>
                    </a:p>
                  </a:txBody>
                  <a:tcPr>
                    <a:solidFill>
                      <a:srgbClr val="D6E8F7"/>
                    </a:solidFill>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8.2 Investment Portfolio Overview</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Portfolio logic. Items 1, 3, and 4 are the upstream enablers (close the mining/processing gap). Items 2 and 5 are the largest import-substitution prizes (flat steel; cable). Items 6 and 7 are the demand anchors and job multipliers (buses/EVs; motorcycles). Sequenced correctly, the upstream investments feed the downstream ones.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8.3 Project Profiles (Priority Products Only)</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Per the agreed scope, standalone profiles are produced for the priority products identified in Chapters 4–6. Each is a one-to-two-page investor-facing summary; figures are indicative pending feasibility.</a:t>
            </a:r>
          </a:p>
          <a:p>
            <a:pPr/>
            <a:r>
              <a:rPr sz="1600" b="0">
                <a:solidFill>
                  <a:srgbClr val="333333"/>
                </a:solidFill>
              </a:rPr>
              <a:t>▸ Profile 1 — Integrated Iron &amp; Steel Complex (ore→DRI→steel→rolling)</a:t>
            </a:r>
          </a:p>
          <a:p>
            <a:pPr/>
            <a:r>
              <a:rPr sz="1600" b="0">
                <a:solidFill>
                  <a:srgbClr val="333333"/>
                </a:solidFill>
              </a:rPr>
              <a:t>•  Business case: Uganda imports USD 78.5m of semi-finished steel and USD 219.5m of flat steel annually (ITC TradeMap, 2024) while exporting iron ore raw. An integrated complex captures the full value chain domestically.</a:t>
            </a:r>
          </a:p>
          <a:p>
            <a:pPr/>
            <a:r>
              <a:rPr sz="1600" b="0">
                <a:solidFill>
                  <a:srgbClr val="333333"/>
                </a:solidFill>
              </a:rPr>
              <a:t>•  Anchor: Devki Group's announced ~USD 500m integrated complex (Tororo/Mbarara), ground broken Nov 2025, ~15,000 jobs projected (GMK Center; The Independent, 2025).</a:t>
            </a:r>
          </a:p>
          <a:p>
            <a:pPr/>
            <a:r>
              <a:rPr sz="1600" b="0">
                <a:solidFill>
                  <a:srgbClr val="333333"/>
                </a:solidFill>
              </a:rPr>
              <a:t>•  Modality: Private-led with PPP support (power, land, infrastructure).</a:t>
            </a:r>
          </a:p>
          <a:p>
            <a:pPr/>
            <a:r>
              <a:rPr sz="1600" b="0">
                <a:solidFill>
                  <a:srgbClr val="333333"/>
                </a:solidFill>
              </a:rPr>
              <a:t>•  Indicative CAPEX: USD 500m–1.0bn. Key risks: power reliability, ore supply, capital. Mitigations: power agreement, ore-export restriction, blended finance.</a:t>
            </a:r>
          </a:p>
          <a:p>
            <a:pPr/>
            <a:r>
              <a:rPr sz="1600" b="0">
                <a:solidFill>
                  <a:srgbClr val="333333"/>
                </a:solidFill>
              </a:rPr>
              <a:t>▸ Profile 2 — Flat-Steel Rolling Mill</a:t>
            </a:r>
          </a:p>
          <a:p>
            <a:pPr/>
            <a:r>
              <a:rPr sz="1600" b="0">
                <a:solidFill>
                  <a:srgbClr val="333333"/>
                </a:solidFill>
              </a:rPr>
              <a:t>•  Business case: Flat steel (HS 7208) is the single largest steel import line — USD 219.5m in 2024 — with no domestic production. A hot/cold-rolling mill substitutes imports for construction and manufacturing.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8.3 Project Profiles (Priority Products Only)</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Modality: Private-led. Indicative CAPEX: USD 150–300m. Key risk: feedstock (slab) supply — best paired with Profile 1.</a:t>
            </a:r>
          </a:p>
          <a:p>
            <a:pPr/>
            <a:r>
              <a:rPr sz="1600" b="0">
                <a:solidFill>
                  <a:srgbClr val="333333"/>
                </a:solidFill>
              </a:rPr>
              <a:t>▸ Profile 3 — Iron-Ore Mining &amp; Beneficiation</a:t>
            </a:r>
          </a:p>
          <a:p>
            <a:pPr/>
            <a:r>
              <a:rPr sz="1600" b="0">
                <a:solidFill>
                  <a:srgbClr val="333333"/>
                </a:solidFill>
              </a:rPr>
              <a:t>•  Business case: Domestic high-grade ore (Muko/Mutaka) is under-exploited; mining and beneficiation feed domestic DRI and stop raw-ore leakage.</a:t>
            </a:r>
          </a:p>
          <a:p>
            <a:pPr/>
            <a:r>
              <a:rPr sz="1600" b="0">
                <a:solidFill>
                  <a:srgbClr val="333333"/>
                </a:solidFill>
              </a:rPr>
              <a:t>•  Modality: Private-led / PPP. Indicative CAPEX: USD 100–250m. Enabler for Profiles 1–2.</a:t>
            </a:r>
          </a:p>
          <a:p>
            <a:pPr/>
            <a:r>
              <a:rPr sz="1600" b="0">
                <a:solidFill>
                  <a:srgbClr val="333333"/>
                </a:solidFill>
              </a:rPr>
              <a:t>▸ Profile 4 — Kilembe Copper–Cobalt Redevelopment</a:t>
            </a:r>
          </a:p>
          <a:p>
            <a:pPr/>
            <a:r>
              <a:rPr sz="1600" b="0">
                <a:solidFill>
                  <a:srgbClr val="333333"/>
                </a:solidFill>
              </a:rPr>
              <a:t>•  Business case: 6.5m t ore @1.77% Cu + 5.5m t @0.17% cobalt (DGSM); revives midstream copper and adds high-value cobalt.</a:t>
            </a:r>
          </a:p>
          <a:p>
            <a:pPr/>
            <a:r>
              <a:rPr sz="1600" b="0">
                <a:solidFill>
                  <a:srgbClr val="333333"/>
                </a:solidFill>
              </a:rPr>
              <a:t>•  Anchor: Sarrai Group/Nile Fibreboard production-sharing agreement, March 2025 (DGSM; Mining Weekly).</a:t>
            </a:r>
          </a:p>
          <a:p>
            <a:pPr/>
            <a:r>
              <a:rPr sz="1600" b="0">
                <a:solidFill>
                  <a:srgbClr val="333333"/>
                </a:solidFill>
              </a:rPr>
              <a:t>•  Modality: Production-sharing (PPP), investor-financed. Priority output: cathode feedstock for domestic cable + cobalt for export. Key risks: capital, tailings/environment, power/transport.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8.3 Project Profiles (Priority Products Only)</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Profile 5 — Cable &amp; Conductor Capacity Expansion</a:t>
            </a:r>
          </a:p>
          <a:p>
            <a:pPr/>
            <a:r>
              <a:rPr sz="1600" b="0">
                <a:solidFill>
                  <a:srgbClr val="333333"/>
                </a:solidFill>
              </a:rPr>
              <a:t>•  Business case: Insulated cable imports were USD 57.7m in 2024 (ITC TradeMap); Cable Corporation already holds ~65% of the domestic market. Expansion captures imports and grows regional exports.</a:t>
            </a:r>
          </a:p>
          <a:p>
            <a:pPr/>
            <a:r>
              <a:rPr sz="1600" b="0">
                <a:solidFill>
                  <a:srgbClr val="333333"/>
                </a:solidFill>
              </a:rPr>
              <a:t>•  Modality: Private-led. Indicative CAPEX: USD 30–80m. Lowest-risk, fastest win in the copper chain.</a:t>
            </a:r>
          </a:p>
          <a:p>
            <a:pPr/>
            <a:r>
              <a:rPr sz="1600" b="0">
                <a:solidFill>
                  <a:srgbClr val="333333"/>
                </a:solidFill>
              </a:rPr>
              <a:t>▸ Profile 6 — KMC Capacity Expansion (Buses / EVs)</a:t>
            </a:r>
          </a:p>
          <a:p>
            <a:pPr/>
            <a:r>
              <a:rPr sz="1600" b="0">
                <a:solidFill>
                  <a:srgbClr val="333333"/>
                </a:solidFill>
              </a:rPr>
              <a:t>•  Business case: Plant commissioned Sept 2025 (2,500→10,000 veh/yr target); EV buses for public fleets; regional export interest (UBC, 2025).</a:t>
            </a:r>
          </a:p>
          <a:p>
            <a:pPr/>
            <a:r>
              <a:rPr sz="1600" b="0">
                <a:solidFill>
                  <a:srgbClr val="333333"/>
                </a:solidFill>
              </a:rPr>
              <a:t>•  Modality: Public + PPP. Indicative CAPEX: USD 100–200m. Immediate need: close the ~UGX 50bn FY25/26 financing gap to enable ramp-up.</a:t>
            </a:r>
          </a:p>
          <a:p>
            <a:pPr/>
            <a:r>
              <a:rPr sz="1600" b="0">
                <a:solidFill>
                  <a:srgbClr val="333333"/>
                </a:solidFill>
              </a:rPr>
              <a:t>▸ Profile 7 — Motorcycle CKD Assembly</a:t>
            </a:r>
          </a:p>
          <a:p>
            <a:pPr/>
            <a:r>
              <a:rPr sz="1600" b="0">
                <a:solidFill>
                  <a:srgbClr val="333333"/>
                </a:solidFill>
              </a:rPr>
              <a:t>•  Business case: USD 157.1m of motorcycles imported in 2024 (ITC TradeMap) for the boda-boda market; CKD assembly is feasible and job-rich.</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8.3 Project Profiles (Priority Products Only)</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Modality: Private-led. Indicative CAPEX: USD 20–50m.</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8.4 Implementation Roadmap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1348740">
                <a:tc>
                  <a:txBody>
                    <a:bodyPr/>
                    <a:lstStyle/>
                    <a:p>
                      <a:pPr algn="l"/>
                      <a:r>
                        <a:rPr sz="1300" b="1">
                          <a:solidFill>
                            <a:srgbClr val="FFFFFF"/>
                          </a:solidFill>
                        </a:rPr>
                        <a:t>Horizon</a:t>
                      </a:r>
                    </a:p>
                  </a:txBody>
                  <a:tcPr>
                    <a:solidFill>
                      <a:srgbClr val="002B5B"/>
                    </a:solidFill>
                  </a:tcPr>
                </a:tc>
                <a:tc>
                  <a:txBody>
                    <a:bodyPr/>
                    <a:lstStyle/>
                    <a:p>
                      <a:pPr algn="l"/>
                      <a:r>
                        <a:rPr sz="1300" b="1">
                          <a:solidFill>
                            <a:srgbClr val="FFFFFF"/>
                          </a:solidFill>
                        </a:rPr>
                        <a:t>Iron &amp; Steel</a:t>
                      </a:r>
                    </a:p>
                  </a:txBody>
                  <a:tcPr>
                    <a:solidFill>
                      <a:srgbClr val="002B5B"/>
                    </a:solidFill>
                  </a:tcPr>
                </a:tc>
                <a:tc>
                  <a:txBody>
                    <a:bodyPr/>
                    <a:lstStyle/>
                    <a:p>
                      <a:pPr algn="l"/>
                      <a:r>
                        <a:rPr sz="1300" b="1">
                          <a:solidFill>
                            <a:srgbClr val="FFFFFF"/>
                          </a:solidFill>
                        </a:rPr>
                        <a:t>Copper</a:t>
                      </a:r>
                    </a:p>
                  </a:txBody>
                  <a:tcPr>
                    <a:solidFill>
                      <a:srgbClr val="002B5B"/>
                    </a:solidFill>
                  </a:tcPr>
                </a:tc>
                <a:tc>
                  <a:txBody>
                    <a:bodyPr/>
                    <a:lstStyle/>
                    <a:p>
                      <a:pPr algn="l"/>
                      <a:r>
                        <a:rPr sz="1300" b="1">
                          <a:solidFill>
                            <a:srgbClr val="FFFFFF"/>
                          </a:solidFill>
                        </a:rPr>
                        <a:t>Automotive</a:t>
                      </a:r>
                    </a:p>
                  </a:txBody>
                  <a:tcPr>
                    <a:solidFill>
                      <a:srgbClr val="002B5B"/>
                    </a:solidFill>
                  </a:tcPr>
                </a:tc>
              </a:tr>
              <a:tr h="1348740">
                <a:tc>
                  <a:txBody>
                    <a:bodyPr/>
                    <a:lstStyle/>
                    <a:p>
                      <a:pPr algn="l"/>
                      <a:r>
                        <a:rPr sz="1200" b="0">
                          <a:solidFill>
                            <a:srgbClr val="333333"/>
                          </a:solidFill>
                        </a:rPr>
                        <a:t>**Year 1 (quick wins)**</a:t>
                      </a:r>
                    </a:p>
                  </a:txBody>
                  <a:tcPr>
                    <a:solidFill>
                      <a:srgbClr val="D6E8F7"/>
                    </a:solidFill>
                  </a:tcPr>
                </a:tc>
                <a:tc>
                  <a:txBody>
                    <a:bodyPr/>
                    <a:lstStyle/>
                    <a:p>
                      <a:pPr algn="l"/>
                      <a:r>
                        <a:rPr sz="1200" b="0">
                          <a:solidFill>
                            <a:srgbClr val="333333"/>
                          </a:solidFill>
                        </a:rPr>
                        <a:t>Ore-export restriction; UNBS enforcement; secure ore licences</a:t>
                      </a:r>
                    </a:p>
                  </a:txBody>
                  <a:tcPr>
                    <a:solidFill>
                      <a:srgbClr val="D6E8F7"/>
                    </a:solidFill>
                  </a:tcPr>
                </a:tc>
                <a:tc>
                  <a:txBody>
                    <a:bodyPr/>
                    <a:lstStyle/>
                    <a:p>
                      <a:pPr algn="l"/>
                      <a:r>
                        <a:rPr sz="1200" b="0">
                          <a:solidFill>
                            <a:srgbClr val="333333"/>
                          </a:solidFill>
                        </a:rPr>
                        <a:t>Finalise Kilembe workplan; UNBS cable enforcement</a:t>
                      </a:r>
                    </a:p>
                  </a:txBody>
                  <a:tcPr>
                    <a:solidFill>
                      <a:srgbClr val="D6E8F7"/>
                    </a:solidFill>
                  </a:tcPr>
                </a:tc>
                <a:tc>
                  <a:txBody>
                    <a:bodyPr/>
                    <a:lstStyle/>
                    <a:p>
                      <a:pPr algn="l"/>
                      <a:r>
                        <a:rPr sz="1200" b="0">
                          <a:solidFill>
                            <a:srgbClr val="333333"/>
                          </a:solidFill>
                        </a:rPr>
                        <a:t>Close KMC financing gap; public-fleet bus procurement</a:t>
                      </a:r>
                    </a:p>
                  </a:txBody>
                  <a:tcPr>
                    <a:solidFill>
                      <a:srgbClr val="D6E8F7"/>
                    </a:solidFill>
                  </a:tcPr>
                </a:tc>
              </a:tr>
              <a:tr h="1348740">
                <a:tc>
                  <a:txBody>
                    <a:bodyPr/>
                    <a:lstStyle/>
                    <a:p>
                      <a:pPr algn="l"/>
                      <a:r>
                        <a:rPr sz="1200" b="0">
                          <a:solidFill>
                            <a:srgbClr val="333333"/>
                          </a:solidFill>
                        </a:rPr>
                        <a:t>**Years 2–3 (reforms + first capital)**</a:t>
                      </a:r>
                    </a:p>
                  </a:txBody>
                  <a:tcPr>
                    <a:solidFill>
                      <a:srgbClr val="FFFFFF"/>
                    </a:solidFill>
                  </a:tcPr>
                </a:tc>
                <a:tc>
                  <a:txBody>
                    <a:bodyPr/>
                    <a:lstStyle/>
                    <a:p>
                      <a:pPr algn="l"/>
                      <a:r>
                        <a:rPr sz="1200" b="0">
                          <a:solidFill>
                            <a:srgbClr val="333333"/>
                          </a:solidFill>
                        </a:rPr>
                        <a:t>Power agreement; beneficiation start; flat-mill FEED</a:t>
                      </a:r>
                    </a:p>
                  </a:txBody>
                  <a:tcPr>
                    <a:solidFill>
                      <a:srgbClr val="FFFFFF"/>
                    </a:solidFill>
                  </a:tcPr>
                </a:tc>
                <a:tc>
                  <a:txBody>
                    <a:bodyPr/>
                    <a:lstStyle/>
                    <a:p>
                      <a:pPr algn="l"/>
                      <a:r>
                        <a:rPr sz="1200" b="0">
                          <a:solidFill>
                            <a:srgbClr val="333333"/>
                          </a:solidFill>
                        </a:rPr>
                        <a:t>Cobalt strategy; tailings framework; cable expansion</a:t>
                      </a:r>
                    </a:p>
                  </a:txBody>
                  <a:tcPr>
                    <a:solidFill>
                      <a:srgbClr val="FFFFFF"/>
                    </a:solidFill>
                  </a:tcPr>
                </a:tc>
                <a:tc>
                  <a:txBody>
                    <a:bodyPr/>
                    <a:lstStyle/>
                    <a:p>
                      <a:pPr algn="l"/>
                      <a:r>
                        <a:rPr sz="1200" b="0">
                          <a:solidFill>
                            <a:srgbClr val="333333"/>
                          </a:solidFill>
                        </a:rPr>
                        <a:t>Local-content/CKD incentives; skills compact; supplier development</a:t>
                      </a:r>
                    </a:p>
                  </a:txBody>
                  <a:tcPr>
                    <a:solidFill>
                      <a:srgbClr val="FFFFFF"/>
                    </a:solidFill>
                  </a:tcPr>
                </a:tc>
              </a:tr>
              <a:tr h="1348740">
                <a:tc>
                  <a:txBody>
                    <a:bodyPr/>
                    <a:lstStyle/>
                    <a:p>
                      <a:pPr algn="l"/>
                      <a:r>
                        <a:rPr sz="1200" b="0">
                          <a:solidFill>
                            <a:srgbClr val="333333"/>
                          </a:solidFill>
                        </a:rPr>
                        <a:t>**Years 4–5 (major investment)**</a:t>
                      </a:r>
                    </a:p>
                  </a:txBody>
                  <a:tcPr>
                    <a:solidFill>
                      <a:srgbClr val="D6E8F7"/>
                    </a:solidFill>
                  </a:tcPr>
                </a:tc>
                <a:tc>
                  <a:txBody>
                    <a:bodyPr/>
                    <a:lstStyle/>
                    <a:p>
                      <a:pPr algn="l"/>
                      <a:r>
                        <a:rPr sz="1200" b="0">
                          <a:solidFill>
                            <a:srgbClr val="333333"/>
                          </a:solidFill>
                        </a:rPr>
                        <a:t>Integrated complex + flat mill commissioning</a:t>
                      </a:r>
                    </a:p>
                  </a:txBody>
                  <a:tcPr>
                    <a:solidFill>
                      <a:srgbClr val="D6E8F7"/>
                    </a:solidFill>
                  </a:tcPr>
                </a:tc>
                <a:tc>
                  <a:txBody>
                    <a:bodyPr/>
                    <a:lstStyle/>
                    <a:p>
                      <a:pPr algn="l"/>
                      <a:r>
                        <a:rPr sz="1200" b="0">
                          <a:solidFill>
                            <a:srgbClr val="333333"/>
                          </a:solidFill>
                        </a:rPr>
                        <a:t>Kilembe cathode/cobalt production</a:t>
                      </a:r>
                    </a:p>
                  </a:txBody>
                  <a:tcPr>
                    <a:solidFill>
                      <a:srgbClr val="D6E8F7"/>
                    </a:solidFill>
                  </a:tcPr>
                </a:tc>
                <a:tc>
                  <a:txBody>
                    <a:bodyPr/>
                    <a:lstStyle/>
                    <a:p>
                      <a:pPr algn="l"/>
                      <a:r>
                        <a:rPr sz="1200" b="0">
                          <a:solidFill>
                            <a:srgbClr val="333333"/>
                          </a:solidFill>
                        </a:rPr>
                        <a:t>KMC expansion to 10,000/yr; motorcycle CKD plant(s)</a:t>
                      </a:r>
                    </a:p>
                  </a:txBody>
                  <a:tcPr>
                    <a:solidFill>
                      <a:srgbClr val="D6E8F7"/>
                    </a:solidFill>
                  </a:tcPr>
                </a:tc>
              </a:tr>
            </a:tbl>
          </a:graphicData>
        </a:graphic>
      </p:graphicFrame>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8.4 Implementation Roadmap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Sequencing principle. Year 1 is policy and demand-anchoring (low cost, high signal). Years 2–3 secure feedstock, power, skills, and finance. Years 4–5 are the major capital builds, by which time the enabling conditions are in place. This ordering reduces the risk that large plants are built without feedstock, power, or demand.</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8.5 Indicative Portfolio Total</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seven priority investments represent an indicative total in the order of USD 1.0–2.0 billion over five years, dominated by the integrated steel complex and Kilembe redevelopment. The majority is intended to be private- or investor-financed (Devki; Sarrai/Nile Fibreboard production-sharing; Cable Corp; motorcycle assemblers), with public and PPP support concentrated in enabling infrastructure, the KMC anchor, and blended finance. These figures are indicative and require feasibility confirmation.</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ITC TradeMap, trade statistics (2024). https://www.trademap.org</a:t>
            </a:r>
          </a:p>
          <a:p>
            <a:pPr/>
            <a:r>
              <a:rPr sz="1600" b="0">
                <a:solidFill>
                  <a:srgbClr val="333333"/>
                </a:solidFill>
              </a:rPr>
              <a:t>•  Directorate of Geological Survey and Mines, "Redevelopment of Kilembe Mines." https://dgsm.go.ug/redevelopment-of-kilembe-mines/</a:t>
            </a:r>
          </a:p>
          <a:p>
            <a:pPr/>
            <a:r>
              <a:rPr sz="1600" b="0">
                <a:solidFill>
                  <a:srgbClr val="333333"/>
                </a:solidFill>
              </a:rPr>
              <a:t>•  Mining Weekly, "Uganda signs maiden production-sharing deal to revive copper mine" (4 March 2025). https://www.miningweekly.com/article/uganda-signs-maiden-production-sharing-deal-to-revive-copper-mine-2025-03-04</a:t>
            </a:r>
          </a:p>
          <a:p>
            <a:pPr/>
            <a:r>
              <a:rPr sz="1600" b="0">
                <a:solidFill>
                  <a:srgbClr val="333333"/>
                </a:solidFill>
              </a:rPr>
              <a:t>•  GMK Center, "A steel plant will be built in Uganda with investments of $500 million" (2025). https://gmk.center/en/news/a-steel-plant-will-be-built-in-uganda-with-investments-of-500-million/</a:t>
            </a:r>
          </a:p>
          <a:p>
            <a:pPr/>
            <a:r>
              <a:rPr sz="1600" b="0">
                <a:solidFill>
                  <a:srgbClr val="333333"/>
                </a:solidFill>
              </a:rPr>
              <a:t>•  The Independent, "Devki Group bets $500m on Uganda steel production" (2025). https://www.independent.co.ug/devki-group-bets-500m-on-uganda-steel-production/</a:t>
            </a:r>
          </a:p>
          <a:p>
            <a:pPr/>
            <a:r>
              <a:rPr sz="1600" b="0">
                <a:solidFill>
                  <a:srgbClr val="333333"/>
                </a:solidFill>
              </a:rPr>
              <a:t>•  Uganda Broadcasting Corporation, "Uganda Commissions Africa's Most Advanced Vehicle Plant" (2025). https://ubc.go.ug/2025/09/27/uganda-commissions-africas-most-advanced-vehicle-plant-a-historic-milestone-for-industrialization-and-innovation/</a:t>
            </a:r>
          </a:p>
          <a:p>
            <a:pPr/>
            <a:r>
              <a:rPr sz="1600" b="0">
                <a:solidFill>
                  <a:srgbClr val="333333"/>
                </a:solidFill>
              </a:rPr>
              <a:t>•  Uganda Investment Authority. https://ugandainvest.go.ug/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